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A1C12C4-A1A8-4A4A-8DC1-9A2683A6B42E}">
  <a:tblStyle styleId="{4A1C12C4-A1A8-4A4A-8DC1-9A2683A6B42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01" autoAdjust="0"/>
  </p:normalViewPr>
  <p:slideViewPr>
    <p:cSldViewPr snapToGrid="0">
      <p:cViewPr varScale="1">
        <p:scale>
          <a:sx n="88" d="100"/>
          <a:sy n="88" d="100"/>
        </p:scale>
        <p:origin x="123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44d658b016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44d658b01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9986dc0089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9986dc0089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9986dc0089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9986dc0089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Human brain has the capability to learn, solve problems, recognize patterns, create, think deeply about something, meditate and many many more. We humans learn by observation. This is called as learning through association, in literature.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9986dc0089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9986dc0089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inside the brain? Neurons or neural units. Each unit is excited or fired or triggered based on the input it receives. When see an elephant or when we hear a sound, or smell maggi noodles, some of the neurons are excited and they get fired. Note that only those neurons that respond to smell of maggi noodles get fired. Others are inactive. These neurons that respond to smell, will get fired, and each neuron will produce or generate an apt response that can trigger some actions for the other parts of body like responding with words yummy!!!!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9986dc0089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9986dc0089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neurons in brain are interconnected to a lot of other neurons. The interconnections between the biological neurons are many and varied. Each neuron may receive stimulus from many other neurons. Each neurons will send responses to many other neurons. Even loops between neurons and self loops can be seen among these neurons.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9986dc0089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9986dc0089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Artificial neural networks (ANNs) are computer systems inspired by biological neural networks in the human brain, using layers of interconnected artificial neurons to process information. They are motivated by the brain's ability to process information through highly parallel computations across many neurons and to learn from experience to recognize patterns and make predictions, though they use mathematical and data-driven processes instead of biological ones. </a:t>
            </a:r>
          </a:p>
          <a:p>
            <a:r>
              <a:rPr lang="en-US" sz="1100" b="1" i="0" u="none" strike="noStrike" cap="none" dirty="0">
                <a:solidFill>
                  <a:srgbClr val="000000"/>
                </a:solidFill>
                <a:effectLst/>
                <a:latin typeface="Arial"/>
                <a:ea typeface="Arial"/>
                <a:cs typeface="Arial"/>
                <a:sym typeface="Arial"/>
              </a:rPr>
              <a:t>Biological motivation for ANNs</a:t>
            </a:r>
          </a:p>
          <a:p>
            <a:r>
              <a:rPr lang="en-US" sz="1100" b="1" i="0" u="none" strike="noStrike" cap="none" dirty="0">
                <a:solidFill>
                  <a:srgbClr val="000000"/>
                </a:solidFill>
                <a:effectLst/>
                <a:latin typeface="Arial"/>
                <a:ea typeface="Arial"/>
                <a:cs typeface="Arial"/>
                <a:sym typeface="Arial"/>
              </a:rPr>
              <a:t>Parallel processing:</a:t>
            </a:r>
            <a:r>
              <a:rPr lang="en-US" sz="1100" b="0" i="0" u="none" strike="noStrike" cap="none" dirty="0">
                <a:solidFill>
                  <a:srgbClr val="000000"/>
                </a:solidFill>
                <a:effectLst/>
                <a:latin typeface="Arial"/>
                <a:ea typeface="Arial"/>
                <a:cs typeface="Arial"/>
                <a:sym typeface="Arial"/>
              </a:rPr>
              <a:t> The human brain's massive network of neurons allows for complex decisions to be made quickly through a highly parallel process. ANNs are designed to mimic this by using a large number of interconnected units (artificial neurons) that operate simultaneously.</a:t>
            </a:r>
          </a:p>
          <a:p>
            <a:r>
              <a:rPr lang="en-US" sz="1100" b="1" i="0" u="none" strike="noStrike" cap="none" dirty="0">
                <a:solidFill>
                  <a:srgbClr val="000000"/>
                </a:solidFill>
                <a:effectLst/>
                <a:latin typeface="Arial"/>
                <a:ea typeface="Arial"/>
                <a:cs typeface="Arial"/>
                <a:sym typeface="Arial"/>
              </a:rPr>
              <a:t>Learning from data:</a:t>
            </a:r>
            <a:r>
              <a:rPr lang="en-US" sz="1100" b="0" i="0" u="none" strike="noStrike" cap="none" dirty="0">
                <a:solidFill>
                  <a:srgbClr val="000000"/>
                </a:solidFill>
                <a:effectLst/>
                <a:latin typeface="Arial"/>
                <a:ea typeface="Arial"/>
                <a:cs typeface="Arial"/>
                <a:sym typeface="Arial"/>
              </a:rPr>
              <a:t> The brain learns and adapts through experience, and ANNs are designed to do the same by processing large amounts of data to identify patterns and make predictions. The network adjusts the "weights" of its connections to improve its performance over time.</a:t>
            </a:r>
          </a:p>
          <a:p>
            <a:r>
              <a:rPr lang="en-US" sz="1100" b="1" i="0" u="none" strike="noStrike" cap="none" dirty="0">
                <a:solidFill>
                  <a:srgbClr val="000000"/>
                </a:solidFill>
                <a:effectLst/>
                <a:latin typeface="Arial"/>
                <a:ea typeface="Arial"/>
                <a:cs typeface="Arial"/>
                <a:sym typeface="Arial"/>
              </a:rPr>
              <a:t>Distributed representations:</a:t>
            </a:r>
            <a:r>
              <a:rPr lang="en-US" sz="1100" b="0" i="0" u="none" strike="noStrike" cap="none" dirty="0">
                <a:solidFill>
                  <a:srgbClr val="000000"/>
                </a:solidFill>
                <a:effectLst/>
                <a:latin typeface="Arial"/>
                <a:ea typeface="Arial"/>
                <a:cs typeface="Arial"/>
                <a:sym typeface="Arial"/>
              </a:rPr>
              <a:t> The brain doesn't store information in a single location. Instead, representations are distributed across many neurons. ANNs also use this principle, where a concept or pattern is represented by the pattern of activations across many artificial </a:t>
            </a:r>
            <a:r>
              <a:rPr lang="en-US" sz="1100" b="0" i="0" u="none" strike="noStrike" cap="none" dirty="0" err="1">
                <a:solidFill>
                  <a:srgbClr val="000000"/>
                </a:solidFill>
                <a:effectLst/>
                <a:latin typeface="Arial"/>
                <a:ea typeface="Arial"/>
                <a:cs typeface="Arial"/>
                <a:sym typeface="Arial"/>
              </a:rPr>
              <a:t>neurons.</a:t>
            </a:r>
            <a:r>
              <a:rPr lang="en-US" sz="1100" b="1" i="0" u="none" strike="noStrike" cap="none" dirty="0" err="1">
                <a:solidFill>
                  <a:srgbClr val="000000"/>
                </a:solidFill>
                <a:effectLst/>
                <a:latin typeface="Arial"/>
                <a:ea typeface="Arial"/>
                <a:cs typeface="Arial"/>
                <a:sym typeface="Arial"/>
              </a:rPr>
              <a:t>Robustness</a:t>
            </a:r>
            <a:r>
              <a:rPr lang="en-US" sz="1100" b="1" i="0" u="none" strike="noStrike" cap="none"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The brain can often tolerate damage to some neurons without a complete loss of function. Similarly, ANNs can be robust to the failure of some of their processing elements because the information is processed in a distributed manner. </a:t>
            </a:r>
          </a:p>
          <a:p>
            <a:r>
              <a:rPr lang="en-US" sz="1100" b="1" i="0" u="none" strike="noStrike" cap="none" dirty="0">
                <a:solidFill>
                  <a:srgbClr val="000000"/>
                </a:solidFill>
                <a:effectLst/>
                <a:latin typeface="Arial"/>
                <a:ea typeface="Arial"/>
                <a:cs typeface="Arial"/>
                <a:sym typeface="Arial"/>
              </a:rPr>
              <a:t>How ANNs mimic the brain</a:t>
            </a:r>
          </a:p>
          <a:p>
            <a:r>
              <a:rPr lang="en-US" sz="1100" b="1" i="0" u="none" strike="noStrike" cap="none" dirty="0">
                <a:solidFill>
                  <a:srgbClr val="000000"/>
                </a:solidFill>
                <a:effectLst/>
                <a:latin typeface="Arial"/>
                <a:ea typeface="Arial"/>
                <a:cs typeface="Arial"/>
                <a:sym typeface="Arial"/>
              </a:rPr>
              <a:t>Biological neurons:</a:t>
            </a:r>
            <a:r>
              <a:rPr lang="en-US" sz="1100" b="0" i="0" u="none" strike="noStrike" cap="none" dirty="0">
                <a:solidFill>
                  <a:srgbClr val="000000"/>
                </a:solidFill>
                <a:effectLst/>
                <a:latin typeface="Arial"/>
                <a:ea typeface="Arial"/>
                <a:cs typeface="Arial"/>
                <a:sym typeface="Arial"/>
              </a:rPr>
              <a:t> Biological neurons receive signals through dendrites, process them in the cell body, and transmit them down the axon to other neurons.</a:t>
            </a:r>
          </a:p>
          <a:p>
            <a:r>
              <a:rPr lang="en-US" sz="1100" b="1" i="0" u="none" strike="noStrike" cap="none" dirty="0">
                <a:solidFill>
                  <a:srgbClr val="000000"/>
                </a:solidFill>
                <a:effectLst/>
                <a:latin typeface="Arial"/>
                <a:ea typeface="Arial"/>
                <a:cs typeface="Arial"/>
                <a:sym typeface="Arial"/>
              </a:rPr>
              <a:t>Artificial neurons (nodes):</a:t>
            </a:r>
            <a:r>
              <a:rPr lang="en-US" sz="1100" b="0" i="0" u="none" strike="noStrike" cap="none" dirty="0">
                <a:solidFill>
                  <a:srgbClr val="000000"/>
                </a:solidFill>
                <a:effectLst/>
                <a:latin typeface="Arial"/>
                <a:ea typeface="Arial"/>
                <a:cs typeface="Arial"/>
                <a:sym typeface="Arial"/>
              </a:rPr>
              <a:t> ANNs have input nodes that receive data, hidden layers of processing nodes, and output nodes that produce the final result.</a:t>
            </a:r>
          </a:p>
          <a:p>
            <a:r>
              <a:rPr lang="en-US" sz="1100" b="1" i="0" u="none" strike="noStrike" cap="none" dirty="0">
                <a:solidFill>
                  <a:srgbClr val="000000"/>
                </a:solidFill>
                <a:effectLst/>
                <a:latin typeface="Arial"/>
                <a:ea typeface="Arial"/>
                <a:cs typeface="Arial"/>
                <a:sym typeface="Arial"/>
              </a:rPr>
              <a:t>Synapses:</a:t>
            </a:r>
            <a:r>
              <a:rPr lang="en-US" sz="1100" b="0" i="0" u="none" strike="noStrike" cap="none" dirty="0">
                <a:solidFill>
                  <a:srgbClr val="000000"/>
                </a:solidFill>
                <a:effectLst/>
                <a:latin typeface="Arial"/>
                <a:ea typeface="Arial"/>
                <a:cs typeface="Arial"/>
                <a:sym typeface="Arial"/>
              </a:rPr>
              <a:t> The connections between biological neurons are called synapses, which can be strengthened or weakened.</a:t>
            </a:r>
          </a:p>
          <a:p>
            <a:r>
              <a:rPr lang="en-US" sz="1100" b="1" i="0" u="none" strike="noStrike" cap="none" dirty="0">
                <a:solidFill>
                  <a:srgbClr val="000000"/>
                </a:solidFill>
                <a:effectLst/>
                <a:latin typeface="Arial"/>
                <a:ea typeface="Arial"/>
                <a:cs typeface="Arial"/>
                <a:sym typeface="Arial"/>
              </a:rPr>
              <a:t>Weights:</a:t>
            </a:r>
            <a:r>
              <a:rPr lang="en-US" sz="1100" b="0" i="0" u="none" strike="noStrike" cap="none" dirty="0">
                <a:solidFill>
                  <a:srgbClr val="000000"/>
                </a:solidFill>
                <a:effectLst/>
                <a:latin typeface="Arial"/>
                <a:ea typeface="Arial"/>
                <a:cs typeface="Arial"/>
                <a:sym typeface="Arial"/>
              </a:rPr>
              <a:t> In an ANN, the connections between artificial neurons have weights that can be adjusted during the learning process. A neuron in one layer receives inputs from the previous layer, multiplies each input by its corresponding weight, and then passes the result to the next layer.</a:t>
            </a:r>
          </a:p>
          <a:p>
            <a:r>
              <a:rPr lang="en-US" sz="1100" b="1" i="0" u="none" strike="noStrike" cap="none" dirty="0">
                <a:solidFill>
                  <a:srgbClr val="000000"/>
                </a:solidFill>
                <a:effectLst/>
                <a:latin typeface="Arial"/>
                <a:ea typeface="Arial"/>
                <a:cs typeface="Arial"/>
                <a:sym typeface="Arial"/>
              </a:rPr>
              <a:t>Activation function:</a:t>
            </a:r>
            <a:r>
              <a:rPr lang="en-US" sz="1100" b="0" i="0" u="none" strike="noStrike" cap="none" dirty="0">
                <a:solidFill>
                  <a:srgbClr val="000000"/>
                </a:solidFill>
                <a:effectLst/>
                <a:latin typeface="Arial"/>
                <a:ea typeface="Arial"/>
                <a:cs typeface="Arial"/>
                <a:sym typeface="Arial"/>
              </a:rPr>
              <a:t> A mathematical function is used in each artificial neuron to determine its output based on the sum of its weighted inputs. This is similar to how a biological neuron "fires" when its input reaches a certain threshold</a:t>
            </a: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8ca2b74484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8ca2b74484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9986dc0089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9986dc0089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p>
          <a:p>
            <a:r>
              <a:rPr lang="en-US" sz="1100" b="1" i="0" u="none" strike="noStrike" cap="none" dirty="0">
                <a:solidFill>
                  <a:srgbClr val="000000"/>
                </a:solidFill>
                <a:effectLst/>
                <a:latin typeface="Arial"/>
                <a:ea typeface="Arial"/>
                <a:cs typeface="Arial"/>
                <a:sym typeface="Arial"/>
              </a:rPr>
              <a:t>How ANNs mimic the brain</a:t>
            </a:r>
          </a:p>
          <a:p>
            <a:r>
              <a:rPr lang="en-US" sz="1100" b="1" i="0" u="none" strike="noStrike" cap="none" dirty="0">
                <a:solidFill>
                  <a:srgbClr val="000000"/>
                </a:solidFill>
                <a:effectLst/>
                <a:latin typeface="Arial"/>
                <a:ea typeface="Arial"/>
                <a:cs typeface="Arial"/>
                <a:sym typeface="Arial"/>
              </a:rPr>
              <a:t>Biological neurons:</a:t>
            </a:r>
            <a:r>
              <a:rPr lang="en-US" sz="1100" b="0" i="0" u="none" strike="noStrike" cap="none" dirty="0">
                <a:solidFill>
                  <a:srgbClr val="000000"/>
                </a:solidFill>
                <a:effectLst/>
                <a:latin typeface="Arial"/>
                <a:ea typeface="Arial"/>
                <a:cs typeface="Arial"/>
                <a:sym typeface="Arial"/>
              </a:rPr>
              <a:t> Biological neurons receive signals through dendrites, process them in the cell body, and transmit them down the axon to other neurons.</a:t>
            </a:r>
          </a:p>
          <a:p>
            <a:r>
              <a:rPr lang="en-US" sz="1100" b="1" i="0" u="none" strike="noStrike" cap="none" dirty="0">
                <a:solidFill>
                  <a:srgbClr val="000000"/>
                </a:solidFill>
                <a:effectLst/>
                <a:latin typeface="Arial"/>
                <a:ea typeface="Arial"/>
                <a:cs typeface="Arial"/>
                <a:sym typeface="Arial"/>
              </a:rPr>
              <a:t>Artificial neurons (nodes):</a:t>
            </a:r>
            <a:r>
              <a:rPr lang="en-US" sz="1100" b="0" i="0" u="none" strike="noStrike" cap="none" dirty="0">
                <a:solidFill>
                  <a:srgbClr val="000000"/>
                </a:solidFill>
                <a:effectLst/>
                <a:latin typeface="Arial"/>
                <a:ea typeface="Arial"/>
                <a:cs typeface="Arial"/>
                <a:sym typeface="Arial"/>
              </a:rPr>
              <a:t> ANNs have input nodes that receive data, hidden layers of processing nodes, and output nodes that produce the final result.</a:t>
            </a:r>
          </a:p>
          <a:p>
            <a:r>
              <a:rPr lang="en-US" sz="1100" b="1" i="0" u="none" strike="noStrike" cap="none" dirty="0">
                <a:solidFill>
                  <a:srgbClr val="000000"/>
                </a:solidFill>
                <a:effectLst/>
                <a:latin typeface="Arial"/>
                <a:ea typeface="Arial"/>
                <a:cs typeface="Arial"/>
                <a:sym typeface="Arial"/>
              </a:rPr>
              <a:t>Synapses:</a:t>
            </a:r>
            <a:r>
              <a:rPr lang="en-US" sz="1100" b="0" i="0" u="none" strike="noStrike" cap="none" dirty="0">
                <a:solidFill>
                  <a:srgbClr val="000000"/>
                </a:solidFill>
                <a:effectLst/>
                <a:latin typeface="Arial"/>
                <a:ea typeface="Arial"/>
                <a:cs typeface="Arial"/>
                <a:sym typeface="Arial"/>
              </a:rPr>
              <a:t> The connections between biological neurons are called synapses, which can be strengthened or weakened.</a:t>
            </a:r>
          </a:p>
          <a:p>
            <a:r>
              <a:rPr lang="en-US" sz="1100" b="1" i="0" u="none" strike="noStrike" cap="none" dirty="0">
                <a:solidFill>
                  <a:srgbClr val="000000"/>
                </a:solidFill>
                <a:effectLst/>
                <a:latin typeface="Arial"/>
                <a:ea typeface="Arial"/>
                <a:cs typeface="Arial"/>
                <a:sym typeface="Arial"/>
              </a:rPr>
              <a:t>Weights:</a:t>
            </a:r>
            <a:r>
              <a:rPr lang="en-US" sz="1100" b="0" i="0" u="none" strike="noStrike" cap="none" dirty="0">
                <a:solidFill>
                  <a:srgbClr val="000000"/>
                </a:solidFill>
                <a:effectLst/>
                <a:latin typeface="Arial"/>
                <a:ea typeface="Arial"/>
                <a:cs typeface="Arial"/>
                <a:sym typeface="Arial"/>
              </a:rPr>
              <a:t> In an ANN, the connections between artificial neurons have weights that can be adjusted during the learning process. A neuron in one layer receives inputs from the previous layer, multiplies each input by its corresponding weight, and then passes the result to the next layer.</a:t>
            </a:r>
          </a:p>
          <a:p>
            <a:r>
              <a:rPr lang="en-US" sz="1100" b="1" i="0" u="none" strike="noStrike" cap="none" dirty="0">
                <a:solidFill>
                  <a:srgbClr val="000000"/>
                </a:solidFill>
                <a:effectLst/>
                <a:latin typeface="Arial"/>
                <a:ea typeface="Arial"/>
                <a:cs typeface="Arial"/>
                <a:sym typeface="Arial"/>
              </a:rPr>
              <a:t>Activation function:</a:t>
            </a:r>
            <a:r>
              <a:rPr lang="en-US" sz="1100" b="0" i="0" u="none" strike="noStrike" cap="none" dirty="0">
                <a:solidFill>
                  <a:srgbClr val="000000"/>
                </a:solidFill>
                <a:effectLst/>
                <a:latin typeface="Arial"/>
                <a:ea typeface="Arial"/>
                <a:cs typeface="Arial"/>
                <a:sym typeface="Arial"/>
              </a:rPr>
              <a:t> A mathematical function is used in each artificial neuron to determine its output based on the sum of its weighted inputs. This is similar to how a biological neuron "fires" when its input reaches a certain threshold</a:t>
            </a: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8ca2b74484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8ca2b74484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8ca2b74484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8ca2b74484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8ca2b74484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8ca2b74484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8ca2b74484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8ca2b74484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ca2b74484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8ca2b74484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9986dc0089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9986dc0089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9986dc0089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9986dc0089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9986dc0089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9986dc0089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machines that emulate the brain to some extent are called connectionist machines. It is a concept in Artificial intelligence, where each indictila processing element called as neural unit will so some computation. Each unit will receive input from many other units. And each unit will send responses to other neural units. The ideal connectionist machines will have loops and self loops and ll kinds of interconnections imaginable.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8ca2b74484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8ca2b7448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machines that emulate the brain to some extent are called connectionist machines. It is a concept in Artificial intelligence, where each indictila processing element called as neural unit will so some computation. Each unit will receive input from many other units. And each unit will send responses to other neural units. The ideal connectionist machines will have loops and self loops and ll kinds of interconnections imaginable.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9986dc0089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9986dc0089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9986dc0089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9986dc0089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 perceptron is a simple machine learning algorithm for supervised learning of binary classifiers, acting as a single-layer neural network. </a:t>
            </a:r>
            <a:r>
              <a:rPr lang="en-US" sz="1100" b="0" i="0" u="none" strike="noStrike" cap="none">
                <a:solidFill>
                  <a:srgbClr val="000000"/>
                </a:solidFill>
                <a:effectLst/>
                <a:latin typeface="Arial"/>
                <a:ea typeface="Arial"/>
                <a:cs typeface="Arial"/>
                <a:sym typeface="Arial"/>
              </a:rPr>
              <a:t>It takes in input data, weights the inputs, and uses an activation function to produce a binary output, deciding whether an input belongs to one of two classes. </a:t>
            </a:r>
            <a:endParaRPr lang="en"/>
          </a:p>
          <a:p>
            <a:pPr marL="0" lvl="0" indent="0" algn="l" rtl="0">
              <a:spcBef>
                <a:spcPts val="0"/>
              </a:spcBef>
              <a:spcAft>
                <a:spcPts val="0"/>
              </a:spcAft>
              <a:buNone/>
            </a:pPr>
            <a:r>
              <a:rPr lang="en" dirty="0"/>
              <a:t>Highlight that perceptron will have outputs as +1 and -1 always.</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8ca2b7448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8ca2b7448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Highlight that perceptron will have outputs as +1 and -1 always.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8ca2b74484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8ca2b74484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61b0c4569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61b0c4569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9986dc0089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9986dc0089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9986dc0089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9986dc008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4 equations and 3 unknown. Easily solved using linear algebra.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9986dc0089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9986dc0089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8ca2b74484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8ca2b74484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8ca2b74484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8ca2b7448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8ca2b74484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8ca2b74484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986dc0089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986dc008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Give this as exercise for the students. </a:t>
            </a:r>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NAND Gate in a Perceptron</a:t>
            </a:r>
            <a:r>
              <a:rPr lang="en-US"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 NAND gate outputs O only when all its inputs are 1; otherwise, it outputs 1. To implement this with a perceptron: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Inputs: Let x_{1} and x_{2} be the binary inputs (0 or 1).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Weights: Set the weights, w_{1} and w_{2} to negative values (e.g., -1).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Bias: Set the bias, b, to a positive value (e.g., 1.5).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Activation Function: Use a step function that outputs 1 if the weighted sum plus bias is greater than or equal to a threshold (e.g., 0), and O otherwise.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perceptron calculates y = Theta(w_{1}*x_{1} + w_{2}*x_{2} + b)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For example, with w_{1} = - 1, w_{2} = - 1 ,b=1.5: If x_{1} = 1 x_{2} = 1 / (- 1) * (1) + (- 1)(1) + 1.5 = - 0.5 Since - 0.5 &lt; 0 the output is 0. For any other input combination (e.g., x_{1} = 0 x_{2} = 0 ): (- 1)(0) + (- 1)(0) + 1.5 = 1.5 Since 1.5 &gt;= 0 the output is 1.</a:t>
            </a:r>
          </a:p>
          <a:p>
            <a:pPr marL="0" lvl="0" indent="0" algn="l" rtl="0">
              <a:spcBef>
                <a:spcPts val="0"/>
              </a:spcBef>
              <a:spcAft>
                <a:spcPts val="0"/>
              </a:spcAft>
              <a:buNone/>
            </a:pPr>
            <a:endParaRPr lang="en-US"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en-US" b="1" dirty="0"/>
              <a:t>NOR Gate in a Perceptron:</a:t>
            </a:r>
          </a:p>
          <a:p>
            <a:pPr marL="0" lvl="0" indent="0" algn="l" rtl="0">
              <a:spcBef>
                <a:spcPts val="0"/>
              </a:spcBef>
              <a:spcAft>
                <a:spcPts val="0"/>
              </a:spcAft>
              <a:buNone/>
            </a:pPr>
            <a:r>
              <a:rPr lang="en-US" dirty="0"/>
              <a:t>A NOR gate outputs 1 only when all its inputs are 0; otherwise, it outputs O. To implement this with a perceptron:</a:t>
            </a:r>
          </a:p>
          <a:p>
            <a:pPr marL="0" lvl="0" indent="0" algn="l" rtl="0">
              <a:spcBef>
                <a:spcPts val="0"/>
              </a:spcBef>
              <a:spcAft>
                <a:spcPts val="0"/>
              </a:spcAft>
              <a:buNone/>
            </a:pPr>
            <a:r>
              <a:rPr lang="en-US" dirty="0"/>
              <a:t>Inputs: Let x_{1} and x_{2} be the binary inputs (0 or 1).</a:t>
            </a:r>
          </a:p>
          <a:p>
            <a:pPr marL="0" lvl="0" indent="0" algn="l" rtl="0">
              <a:spcBef>
                <a:spcPts val="0"/>
              </a:spcBef>
              <a:spcAft>
                <a:spcPts val="0"/>
              </a:spcAft>
              <a:buNone/>
            </a:pPr>
            <a:r>
              <a:rPr lang="en-US" dirty="0"/>
              <a:t>Weights: Set the weights, w_{1} and w_{2} to negative values (e.g., -1).</a:t>
            </a:r>
          </a:p>
          <a:p>
            <a:pPr marL="0" lvl="0" indent="0" algn="l" rtl="0">
              <a:spcBef>
                <a:spcPts val="0"/>
              </a:spcBef>
              <a:spcAft>
                <a:spcPts val="0"/>
              </a:spcAft>
              <a:buNone/>
            </a:pPr>
            <a:r>
              <a:rPr lang="en-US" dirty="0"/>
              <a:t>Bias: Set the bias, b, to a small positive value (e.g., 0.5).</a:t>
            </a:r>
          </a:p>
          <a:p>
            <a:pPr marL="0" lvl="0" indent="0" algn="l" rtl="0">
              <a:spcBef>
                <a:spcPts val="0"/>
              </a:spcBef>
              <a:spcAft>
                <a:spcPts val="0"/>
              </a:spcAft>
              <a:buNone/>
            </a:pPr>
            <a:r>
              <a:rPr lang="en-US" dirty="0"/>
              <a:t>Activation Function: Use a step function that outputs 1 if the weighted sum plus bias is greater than or equal to a threshold (e.g., 0), and O otherwise.</a:t>
            </a:r>
          </a:p>
          <a:p>
            <a:pPr marL="0" lvl="0" indent="0" algn="l" rtl="0">
              <a:spcBef>
                <a:spcPts val="0"/>
              </a:spcBef>
              <a:spcAft>
                <a:spcPts val="0"/>
              </a:spcAft>
              <a:buNone/>
            </a:pPr>
            <a:r>
              <a:rPr lang="en-US" dirty="0"/>
              <a:t>The perceptron calculates y = Theta(w_{1}*x_{1} + w_{2}*x_{2} + b)</a:t>
            </a:r>
          </a:p>
          <a:p>
            <a:pPr marL="0" lvl="0" indent="0" algn="l" rtl="0">
              <a:spcBef>
                <a:spcPts val="0"/>
              </a:spcBef>
              <a:spcAft>
                <a:spcPts val="0"/>
              </a:spcAft>
              <a:buNone/>
            </a:pPr>
            <a:r>
              <a:rPr lang="en-US" dirty="0"/>
              <a:t>For example, with w_{1} = - 1, w_{2} = - 1 ,b=0.5:</a:t>
            </a:r>
          </a:p>
          <a:p>
            <a:pPr marL="0" lvl="0" indent="0" algn="l" rtl="0">
              <a:spcBef>
                <a:spcPts val="0"/>
              </a:spcBef>
              <a:spcAft>
                <a:spcPts val="0"/>
              </a:spcAft>
              <a:buNone/>
            </a:pPr>
            <a:r>
              <a:rPr lang="en-US" dirty="0"/>
              <a:t>If x_{1} = 0 x_{2} = 0 / (- 1) * (0) + (- 1)(0) + 0.5 = 0.5 Since 0.5 &gt;= 0 the output is 1.</a:t>
            </a:r>
          </a:p>
          <a:p>
            <a:pPr marL="0" lvl="0" indent="0" algn="l" rtl="0">
              <a:spcBef>
                <a:spcPts val="0"/>
              </a:spcBef>
              <a:spcAft>
                <a:spcPts val="0"/>
              </a:spcAft>
              <a:buNone/>
            </a:pPr>
            <a:r>
              <a:rPr lang="en-US" dirty="0"/>
              <a:t>For any other input combination (e.g., x_{1} = 1 x_{2} = 0 ): (- 1)(1) + (- 1)(0) + 0.5 = - 0.5 Since - 0.5 &lt; 0 the output is 0.</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9986dc0089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9986dc0089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9986dc0089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9986dc0089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Definition of learning rate is in next slide</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8ca2b74484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8ca2b74484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learning rate is in next slide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8ca2b74484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8ca2b74484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learning rate is in next slide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8ca2b74484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8ca2b74484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learning rate is in next slide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8ca2b74484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8ca2b74484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learning rate is in next slide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8ca2b74484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8ca2b74484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Definition of learning rate is in next slide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8ca2b74484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8ca2b74484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8ca2b7448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8ca2b7448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8ca2b7448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8ca2b7448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aim to find the optimal decision boundary that can separate the classes.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8ca2b74484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8ca2b74484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aim to find the optimal decision boundary that can separate the classes.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8ca2b7448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8ca2b7448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perceptron can take any number of inputs. Each input connection will have a weight associated with it. The aim is to find the values of these parameters that can draw a decision boundary that will separate the classes. The computation remind the same ie take the sign of the weighted sum and compute output response for each example.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8ca2b7448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8ca2b7448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perceptron can take any number of inputs. Each input connection will have a weight associated with it. The aim is to find the values of these parameters that can draw a decision boundary that will separate the classes. The computation remind the same ie take the sign of the weighted sum and compute output response for each example.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9986dc0089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9986dc0089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Give this as exercise for the students.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8ca2b74484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8ca2b74484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Give this as exercise for the students.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9986dc0089_0_3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9986dc0089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7"/>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hyperlink" Target="https://colab.research.google.com/drive/1DUVcOoUIWhl8GQKc6AWR1wi0LaMeNkgD?usp=sharing"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2684575" y="2504025"/>
            <a:ext cx="6020700" cy="79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rPr>
              <a:t>Deep Neural Network</a:t>
            </a:r>
            <a:endParaRPr>
              <a:solidFill>
                <a:schemeClr val="lt1"/>
              </a:solidFill>
            </a:endParaRPr>
          </a:p>
        </p:txBody>
      </p:sp>
      <p:sp>
        <p:nvSpPr>
          <p:cNvPr id="56" name="Google Shape;56;p13"/>
          <p:cNvSpPr txBox="1">
            <a:spLocks noGrp="1"/>
          </p:cNvSpPr>
          <p:nvPr>
            <p:ph type="subTitle" idx="1"/>
          </p:nvPr>
        </p:nvSpPr>
        <p:spPr>
          <a:xfrm>
            <a:off x="2884075" y="3296625"/>
            <a:ext cx="6020700" cy="5121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
                <a:solidFill>
                  <a:schemeClr val="lt1"/>
                </a:solidFill>
              </a:rPr>
              <a:t>AIML Module 2</a:t>
            </a:r>
            <a:endParaRPr>
              <a:solidFill>
                <a:schemeClr val="lt1"/>
              </a:solidFill>
            </a:endParaRPr>
          </a:p>
        </p:txBody>
      </p:sp>
      <p:sp>
        <p:nvSpPr>
          <p:cNvPr id="57" name="Google Shape;57;p13"/>
          <p:cNvSpPr txBox="1"/>
          <p:nvPr/>
        </p:nvSpPr>
        <p:spPr>
          <a:xfrm>
            <a:off x="5316175" y="3737325"/>
            <a:ext cx="3389100" cy="800400"/>
          </a:xfrm>
          <a:prstGeom prst="rect">
            <a:avLst/>
          </a:prstGeom>
          <a:noFill/>
          <a:ln>
            <a:noFill/>
          </a:ln>
        </p:spPr>
        <p:txBody>
          <a:bodyPr spcFirstLastPara="1" wrap="square" lIns="91425" tIns="91425" rIns="91425" bIns="91425" anchor="t" anchorCtr="0">
            <a:spAutoFit/>
          </a:bodyPr>
          <a:lstStyle/>
          <a:p>
            <a:pPr marL="0" lvl="0" indent="0" algn="r" rtl="0">
              <a:lnSpc>
                <a:spcPct val="150000"/>
              </a:lnSpc>
              <a:spcBef>
                <a:spcPts val="0"/>
              </a:spcBef>
              <a:spcAft>
                <a:spcPts val="0"/>
              </a:spcAft>
              <a:buNone/>
            </a:pPr>
            <a:r>
              <a:rPr lang="en" sz="1600">
                <a:solidFill>
                  <a:schemeClr val="lt1"/>
                </a:solidFill>
              </a:rPr>
              <a:t>Seetha Parameswaran</a:t>
            </a:r>
            <a:endParaRPr sz="1600">
              <a:solidFill>
                <a:schemeClr val="lt1"/>
              </a:solidFill>
            </a:endParaRPr>
          </a:p>
          <a:p>
            <a:pPr marL="0" lvl="0" indent="0" algn="r" rtl="0">
              <a:lnSpc>
                <a:spcPct val="150000"/>
              </a:lnSpc>
              <a:spcBef>
                <a:spcPts val="0"/>
              </a:spcBef>
              <a:spcAft>
                <a:spcPts val="0"/>
              </a:spcAft>
              <a:buNone/>
            </a:pPr>
            <a:r>
              <a:rPr lang="en" sz="1600">
                <a:solidFill>
                  <a:schemeClr val="lt1"/>
                </a:solidFill>
              </a:rPr>
              <a:t>BITS Pilani</a:t>
            </a:r>
            <a:endParaRPr sz="1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1714500" y="1448675"/>
            <a:ext cx="5688300" cy="1541700"/>
          </a:xfrm>
          <a:prstGeom prst="rect">
            <a:avLst/>
          </a:prstGeom>
        </p:spPr>
        <p:txBody>
          <a:bodyPr spcFirstLastPara="1" wrap="square" lIns="91425" tIns="91425" rIns="91425" bIns="91425" anchor="ctr" anchorCtr="0">
            <a:normAutofit/>
          </a:bodyPr>
          <a:lstStyle/>
          <a:p>
            <a:pPr marL="0" lvl="0" indent="0" algn="just" rtl="0">
              <a:lnSpc>
                <a:spcPct val="115000"/>
              </a:lnSpc>
              <a:spcBef>
                <a:spcPts val="0"/>
              </a:spcBef>
              <a:spcAft>
                <a:spcPts val="1200"/>
              </a:spcAft>
              <a:buNone/>
            </a:pPr>
            <a:r>
              <a:rPr lang="en" sz="1800">
                <a:solidFill>
                  <a:schemeClr val="dk2"/>
                </a:solidFill>
              </a:rPr>
              <a:t>The author of this deck, Prof. Seetha Parameswaran, is gratefully acknowledging the authors who made their course materials freely available online.</a:t>
            </a:r>
            <a:endParaRPr sz="1800">
              <a:solidFill>
                <a:schemeClr val="dk2"/>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Artificial Neural Network</a:t>
            </a:r>
            <a:endParaRPr/>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do Humans Learn?</a:t>
            </a:r>
            <a:endParaRPr/>
          </a:p>
        </p:txBody>
      </p:sp>
      <p:sp>
        <p:nvSpPr>
          <p:cNvPr id="75" name="Google Shape;75;p16"/>
          <p:cNvSpPr txBox="1">
            <a:spLocks noGrp="1"/>
          </p:cNvSpPr>
          <p:nvPr>
            <p:ph type="body" idx="1"/>
          </p:nvPr>
        </p:nvSpPr>
        <p:spPr>
          <a:xfrm>
            <a:off x="311700" y="1018475"/>
            <a:ext cx="45081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It begins with human brain.</a:t>
            </a:r>
            <a:endParaRPr dirty="0"/>
          </a:p>
          <a:p>
            <a:pPr marL="457200" lvl="0" indent="-355600" algn="l" rtl="0">
              <a:spcBef>
                <a:spcPts val="0"/>
              </a:spcBef>
              <a:spcAft>
                <a:spcPts val="0"/>
              </a:spcAft>
              <a:buSzPts val="2000"/>
              <a:buChar char="➔"/>
            </a:pPr>
            <a:r>
              <a:rPr lang="en" dirty="0"/>
              <a:t>Humans learn, solve problems, recognize patterns, create, think deeply about something, meditate and many many more.....</a:t>
            </a:r>
            <a:endParaRPr dirty="0"/>
          </a:p>
          <a:p>
            <a:pPr marL="457200" lvl="0" indent="-355600" algn="l" rtl="0">
              <a:spcBef>
                <a:spcPts val="0"/>
              </a:spcBef>
              <a:spcAft>
                <a:spcPts val="0"/>
              </a:spcAft>
              <a:buSzPts val="2000"/>
              <a:buChar char="➔"/>
            </a:pPr>
            <a:r>
              <a:rPr lang="en" dirty="0"/>
              <a:t>Humans learn through </a:t>
            </a:r>
            <a:r>
              <a:rPr lang="en" b="1" dirty="0"/>
              <a:t>association</a:t>
            </a:r>
            <a:r>
              <a:rPr lang="en" dirty="0"/>
              <a:t>. [Refer to Associationism for more details.]</a:t>
            </a:r>
            <a:endParaRPr dirty="0"/>
          </a:p>
        </p:txBody>
      </p:sp>
      <p:pic>
        <p:nvPicPr>
          <p:cNvPr id="76" name="Google Shape;76;p16"/>
          <p:cNvPicPr preferRelativeResize="0"/>
          <p:nvPr/>
        </p:nvPicPr>
        <p:blipFill>
          <a:blip r:embed="rId3">
            <a:alphaModFix/>
          </a:blip>
          <a:stretch>
            <a:fillRect/>
          </a:stretch>
        </p:blipFill>
        <p:spPr>
          <a:xfrm>
            <a:off x="4911436" y="1403924"/>
            <a:ext cx="3920875" cy="2335650"/>
          </a:xfrm>
          <a:prstGeom prst="rect">
            <a:avLst/>
          </a:prstGeom>
          <a:noFill/>
          <a:ln>
            <a:noFill/>
          </a:ln>
        </p:spPr>
      </p:pic>
      <p:sp>
        <p:nvSpPr>
          <p:cNvPr id="77" name="Google Shape;7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Observation: The Brain</a:t>
            </a:r>
            <a:endParaRPr/>
          </a:p>
        </p:txBody>
      </p:sp>
      <p:sp>
        <p:nvSpPr>
          <p:cNvPr id="83" name="Google Shape;83;p17"/>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Char char="➔"/>
            </a:pPr>
            <a:r>
              <a:rPr lang="en" dirty="0"/>
              <a:t>The brain is a mass of interconnected neurons.</a:t>
            </a:r>
            <a:endParaRPr dirty="0"/>
          </a:p>
          <a:p>
            <a:pPr marL="457200" lvl="0" indent="-355600" algn="l" rtl="0">
              <a:spcBef>
                <a:spcPts val="0"/>
              </a:spcBef>
              <a:spcAft>
                <a:spcPts val="0"/>
              </a:spcAft>
              <a:buSzPts val="2000"/>
              <a:buChar char="➔"/>
            </a:pPr>
            <a:r>
              <a:rPr lang="en" dirty="0"/>
              <a:t>Number of neurons is approximately 10^(10).</a:t>
            </a:r>
            <a:endParaRPr dirty="0"/>
          </a:p>
          <a:p>
            <a:pPr marL="457200" lvl="0" indent="-355600" algn="l" rtl="0">
              <a:spcBef>
                <a:spcPts val="0"/>
              </a:spcBef>
              <a:spcAft>
                <a:spcPts val="0"/>
              </a:spcAft>
              <a:buSzPts val="2000"/>
              <a:buChar char="➔"/>
            </a:pPr>
            <a:r>
              <a:rPr lang="en" dirty="0"/>
              <a:t>Connections per neuron is approximately 10^(4 to 5).</a:t>
            </a:r>
            <a:endParaRPr dirty="0"/>
          </a:p>
          <a:p>
            <a:pPr marL="457200" lvl="0" indent="-355600" algn="l" rtl="0">
              <a:spcBef>
                <a:spcPts val="0"/>
              </a:spcBef>
              <a:spcAft>
                <a:spcPts val="0"/>
              </a:spcAft>
              <a:buSzPts val="2000"/>
              <a:buChar char="➔"/>
            </a:pPr>
            <a:r>
              <a:rPr lang="en" dirty="0"/>
              <a:t>Neuron switching time is approximately 0.001 second.</a:t>
            </a:r>
            <a:endParaRPr dirty="0"/>
          </a:p>
          <a:p>
            <a:pPr marL="457200" lvl="0" indent="-355600" algn="l" rtl="0">
              <a:spcBef>
                <a:spcPts val="0"/>
              </a:spcBef>
              <a:spcAft>
                <a:spcPts val="0"/>
              </a:spcAft>
              <a:buSzPts val="2000"/>
              <a:buChar char="➔"/>
            </a:pPr>
            <a:r>
              <a:rPr lang="en" dirty="0"/>
              <a:t>Scene recognition time is  1 second.</a:t>
            </a:r>
            <a:endParaRPr dirty="0"/>
          </a:p>
          <a:p>
            <a:pPr marL="457200" lvl="0" indent="-355600" algn="l" rtl="0">
              <a:spcBef>
                <a:spcPts val="0"/>
              </a:spcBef>
              <a:spcAft>
                <a:spcPts val="0"/>
              </a:spcAft>
              <a:buSzPts val="2000"/>
              <a:buChar char="➔"/>
            </a:pPr>
            <a:r>
              <a:rPr lang="en" dirty="0"/>
              <a:t>100 inference steps doesn't seem like enough. Lot of parallel computation. </a:t>
            </a:r>
            <a:endParaRPr dirty="0"/>
          </a:p>
        </p:txBody>
      </p:sp>
      <p:pic>
        <p:nvPicPr>
          <p:cNvPr id="84" name="Google Shape;84;p17"/>
          <p:cNvPicPr preferRelativeResize="0"/>
          <p:nvPr/>
        </p:nvPicPr>
        <p:blipFill>
          <a:blip r:embed="rId3">
            <a:alphaModFix/>
          </a:blip>
          <a:stretch>
            <a:fillRect/>
          </a:stretch>
        </p:blipFill>
        <p:spPr>
          <a:xfrm>
            <a:off x="5944425" y="2087450"/>
            <a:ext cx="2887875" cy="1757850"/>
          </a:xfrm>
          <a:prstGeom prst="rect">
            <a:avLst/>
          </a:prstGeom>
          <a:noFill/>
          <a:ln>
            <a:noFill/>
          </a:ln>
        </p:spPr>
      </p:pic>
      <p:sp>
        <p:nvSpPr>
          <p:cNvPr id="85" name="Google Shape;8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Brain: Interconnected Neurons</a:t>
            </a:r>
            <a:endParaRPr/>
          </a:p>
        </p:txBody>
      </p:sp>
      <p:sp>
        <p:nvSpPr>
          <p:cNvPr id="91" name="Google Shape;91;p18"/>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Many neurons connect </a:t>
            </a:r>
            <a:r>
              <a:rPr lang="en" b="1" dirty="0"/>
              <a:t>in</a:t>
            </a:r>
            <a:r>
              <a:rPr lang="en" dirty="0"/>
              <a:t> to each neuron.</a:t>
            </a:r>
            <a:endParaRPr dirty="0"/>
          </a:p>
          <a:p>
            <a:pPr marL="457200" lvl="0" indent="-355600" algn="l" rtl="0">
              <a:spcBef>
                <a:spcPts val="0"/>
              </a:spcBef>
              <a:spcAft>
                <a:spcPts val="0"/>
              </a:spcAft>
              <a:buSzPts val="2000"/>
              <a:buChar char="➔"/>
            </a:pPr>
            <a:r>
              <a:rPr lang="en" dirty="0"/>
              <a:t>Each neuron connects </a:t>
            </a:r>
            <a:r>
              <a:rPr lang="en" b="1" dirty="0"/>
              <a:t>out</a:t>
            </a:r>
            <a:r>
              <a:rPr lang="en" dirty="0"/>
              <a:t> to many neurons.</a:t>
            </a:r>
            <a:endParaRPr dirty="0"/>
          </a:p>
          <a:p>
            <a:pPr marL="0" lvl="0" indent="0" algn="l" rtl="0">
              <a:spcBef>
                <a:spcPts val="1200"/>
              </a:spcBef>
              <a:spcAft>
                <a:spcPts val="1200"/>
              </a:spcAft>
              <a:buNone/>
            </a:pPr>
            <a:endParaRPr dirty="0"/>
          </a:p>
        </p:txBody>
      </p:sp>
      <p:pic>
        <p:nvPicPr>
          <p:cNvPr id="92" name="Google Shape;92;p18"/>
          <p:cNvPicPr preferRelativeResize="0"/>
          <p:nvPr/>
        </p:nvPicPr>
        <p:blipFill>
          <a:blip r:embed="rId3">
            <a:alphaModFix/>
          </a:blip>
          <a:stretch>
            <a:fillRect/>
          </a:stretch>
        </p:blipFill>
        <p:spPr>
          <a:xfrm>
            <a:off x="2103120" y="2560320"/>
            <a:ext cx="4923150" cy="2027925"/>
          </a:xfrm>
          <a:prstGeom prst="rect">
            <a:avLst/>
          </a:prstGeom>
          <a:noFill/>
          <a:ln>
            <a:noFill/>
          </a:ln>
        </p:spPr>
      </p:pic>
      <p:sp>
        <p:nvSpPr>
          <p:cNvPr id="93" name="Google Shape;9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Biological Neuron	</a:t>
            </a:r>
            <a:endParaRPr/>
          </a:p>
        </p:txBody>
      </p:sp>
      <p:sp>
        <p:nvSpPr>
          <p:cNvPr id="99" name="Google Shape;9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pic>
        <p:nvPicPr>
          <p:cNvPr id="100" name="Google Shape;100;p19"/>
          <p:cNvPicPr preferRelativeResize="0"/>
          <p:nvPr/>
        </p:nvPicPr>
        <p:blipFill>
          <a:blip r:embed="rId3">
            <a:alphaModFix/>
          </a:blip>
          <a:stretch>
            <a:fillRect/>
          </a:stretch>
        </p:blipFill>
        <p:spPr>
          <a:xfrm>
            <a:off x="2103120" y="2560320"/>
            <a:ext cx="4603825" cy="2201825"/>
          </a:xfrm>
          <a:prstGeom prst="rect">
            <a:avLst/>
          </a:prstGeom>
          <a:noFill/>
          <a:ln>
            <a:noFill/>
          </a:ln>
        </p:spPr>
      </p:pic>
      <p:sp>
        <p:nvSpPr>
          <p:cNvPr id="101" name="Google Shape;101;p19"/>
          <p:cNvSpPr txBox="1">
            <a:spLocks noGrp="1"/>
          </p:cNvSpPr>
          <p:nvPr>
            <p:ph type="body" idx="1"/>
          </p:nvPr>
        </p:nvSpPr>
        <p:spPr>
          <a:xfrm>
            <a:off x="311700" y="1018475"/>
            <a:ext cx="6858000" cy="16941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Clr>
                <a:schemeClr val="dk1"/>
              </a:buClr>
              <a:buSzPts val="1100"/>
              <a:buFont typeface="Arial"/>
              <a:buNone/>
            </a:pPr>
            <a:r>
              <a:rPr lang="en"/>
              <a:t>Key Components:</a:t>
            </a:r>
            <a:endParaRPr/>
          </a:p>
          <a:p>
            <a:pPr marL="457200" lvl="0" indent="-355600" algn="l" rtl="0">
              <a:lnSpc>
                <a:spcPct val="100000"/>
              </a:lnSpc>
              <a:spcBef>
                <a:spcPts val="0"/>
              </a:spcBef>
              <a:spcAft>
                <a:spcPts val="0"/>
              </a:spcAft>
              <a:buSzPts val="2000"/>
              <a:buChar char="➔"/>
            </a:pPr>
            <a:r>
              <a:rPr lang="en" b="1"/>
              <a:t>Dendrites: </a:t>
            </a:r>
            <a:r>
              <a:rPr lang="en"/>
              <a:t>Receive signals from other neurons</a:t>
            </a:r>
            <a:endParaRPr/>
          </a:p>
          <a:p>
            <a:pPr marL="457200" lvl="0" indent="-355600" algn="l" rtl="0">
              <a:lnSpc>
                <a:spcPct val="100000"/>
              </a:lnSpc>
              <a:spcBef>
                <a:spcPts val="0"/>
              </a:spcBef>
              <a:spcAft>
                <a:spcPts val="0"/>
              </a:spcAft>
              <a:buSzPts val="2000"/>
              <a:buChar char="➔"/>
            </a:pPr>
            <a:r>
              <a:rPr lang="en" b="1"/>
              <a:t>Cell Body (Soma): </a:t>
            </a:r>
            <a:r>
              <a:rPr lang="en"/>
              <a:t>Processes incoming signals</a:t>
            </a:r>
            <a:endParaRPr/>
          </a:p>
          <a:p>
            <a:pPr marL="457200" lvl="0" indent="-355600" algn="l" rtl="0">
              <a:lnSpc>
                <a:spcPct val="100000"/>
              </a:lnSpc>
              <a:spcBef>
                <a:spcPts val="0"/>
              </a:spcBef>
              <a:spcAft>
                <a:spcPts val="0"/>
              </a:spcAft>
              <a:buSzPts val="2000"/>
              <a:buChar char="➔"/>
            </a:pPr>
            <a:r>
              <a:rPr lang="en" b="1"/>
              <a:t>Axon: </a:t>
            </a:r>
            <a:r>
              <a:rPr lang="en"/>
              <a:t>Transmits output signal</a:t>
            </a:r>
            <a:endParaRPr/>
          </a:p>
          <a:p>
            <a:pPr marL="457200" lvl="0" indent="-355600" algn="l" rtl="0">
              <a:lnSpc>
                <a:spcPct val="100000"/>
              </a:lnSpc>
              <a:spcBef>
                <a:spcPts val="0"/>
              </a:spcBef>
              <a:spcAft>
                <a:spcPts val="0"/>
              </a:spcAft>
              <a:buSzPts val="2000"/>
              <a:buChar char="➔"/>
            </a:pPr>
            <a:r>
              <a:rPr lang="en" b="1"/>
              <a:t>Synapses: </a:t>
            </a:r>
            <a:r>
              <a:rPr lang="en"/>
              <a:t>Connection points between neurons</a:t>
            </a:r>
            <a:endParaRPr/>
          </a:p>
          <a:p>
            <a:pPr marL="0" lvl="0" indent="0" algn="l" rtl="0">
              <a:spcBef>
                <a:spcPts val="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Artificial Neuron</a:t>
            </a:r>
            <a:endParaRPr/>
          </a:p>
        </p:txBody>
      </p:sp>
      <p:sp>
        <p:nvSpPr>
          <p:cNvPr id="107" name="Google Shape;10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are Artificial Neurons?</a:t>
            </a:r>
            <a:endParaRPr/>
          </a:p>
        </p:txBody>
      </p:sp>
      <p:sp>
        <p:nvSpPr>
          <p:cNvPr id="113" name="Google Shape;113;p21"/>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Neuron is a processing element inspired by how the brain works.</a:t>
            </a:r>
            <a:endParaRPr/>
          </a:p>
          <a:p>
            <a:pPr marL="457200" lvl="0" indent="-355600" algn="l" rtl="0">
              <a:spcBef>
                <a:spcPts val="0"/>
              </a:spcBef>
              <a:spcAft>
                <a:spcPts val="0"/>
              </a:spcAft>
              <a:buSzPts val="2000"/>
              <a:buChar char="➔"/>
            </a:pPr>
            <a:r>
              <a:rPr lang="en"/>
              <a:t>Similar to biological neuron, each artificial neuron will be do some computation. Each neuron is interconnected to other neurons. </a:t>
            </a:r>
            <a:endParaRPr/>
          </a:p>
          <a:p>
            <a:pPr marL="457200" lvl="0" indent="-355600" algn="l" rtl="0">
              <a:spcBef>
                <a:spcPts val="0"/>
              </a:spcBef>
              <a:spcAft>
                <a:spcPts val="0"/>
              </a:spcAft>
              <a:buSzPts val="2000"/>
              <a:buChar char="➔"/>
            </a:pPr>
            <a:r>
              <a:rPr lang="en"/>
              <a:t>Similar to brain, the interconnections between neurons store the knowledge it learns. The knowledge is stored as parameters. </a:t>
            </a:r>
            <a:endParaRPr/>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pic>
        <p:nvPicPr>
          <p:cNvPr id="115" name="Google Shape;115;p21" title="Screenshot from 2025-10-15 12-10-24.png"/>
          <p:cNvPicPr preferRelativeResize="0"/>
          <p:nvPr/>
        </p:nvPicPr>
        <p:blipFill>
          <a:blip r:embed="rId3">
            <a:alphaModFix/>
          </a:blip>
          <a:stretch>
            <a:fillRect/>
          </a:stretch>
        </p:blipFill>
        <p:spPr>
          <a:xfrm>
            <a:off x="5723100" y="1850675"/>
            <a:ext cx="3116100" cy="21200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Artificial Neuron N</a:t>
            </a:r>
            <a:endParaRPr/>
          </a:p>
        </p:txBody>
      </p:sp>
      <p:sp>
        <p:nvSpPr>
          <p:cNvPr id="121" name="Google Shape;121;p22"/>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Processing neuron N performs a very basic computation.</a:t>
            </a:r>
            <a:endParaRPr dirty="0"/>
          </a:p>
          <a:p>
            <a:pPr marL="457200" lvl="0" indent="-355600" algn="l" rtl="0">
              <a:spcBef>
                <a:spcPts val="0"/>
              </a:spcBef>
              <a:spcAft>
                <a:spcPts val="0"/>
              </a:spcAft>
              <a:buSzPts val="2000"/>
              <a:buChar char="➔"/>
            </a:pPr>
            <a:r>
              <a:rPr lang="en" dirty="0"/>
              <a:t>For each feature x</a:t>
            </a:r>
            <a:r>
              <a:rPr lang="en" baseline="-25000" dirty="0"/>
              <a:t>i</a:t>
            </a:r>
            <a:r>
              <a:rPr lang="en" dirty="0"/>
              <a:t> , weight w</a:t>
            </a:r>
            <a:r>
              <a:rPr lang="en" baseline="-25000" dirty="0"/>
              <a:t>i</a:t>
            </a:r>
            <a:r>
              <a:rPr lang="en" dirty="0"/>
              <a:t> shows the importance to the feature</a:t>
            </a:r>
            <a:endParaRPr dirty="0"/>
          </a:p>
          <a:p>
            <a:pPr marL="457200" lvl="0" indent="-355600" algn="l" rtl="0">
              <a:spcBef>
                <a:spcPts val="0"/>
              </a:spcBef>
              <a:spcAft>
                <a:spcPts val="0"/>
              </a:spcAft>
              <a:buSzPts val="2000"/>
              <a:buChar char="➔"/>
            </a:pPr>
            <a:r>
              <a:rPr lang="en" dirty="0"/>
              <a:t>N generates one numerical output ŷ</a:t>
            </a:r>
            <a:endParaRPr dirty="0"/>
          </a:p>
        </p:txBody>
      </p:sp>
      <p:sp>
        <p:nvSpPr>
          <p:cNvPr id="122" name="Google Shape;12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pic>
        <p:nvPicPr>
          <p:cNvPr id="123" name="Google Shape;123;p22" title="Screenshot from 2025-10-15 12-10-28.png"/>
          <p:cNvPicPr preferRelativeResize="0"/>
          <p:nvPr/>
        </p:nvPicPr>
        <p:blipFill>
          <a:blip r:embed="rId3">
            <a:alphaModFix/>
          </a:blip>
          <a:stretch>
            <a:fillRect/>
          </a:stretch>
        </p:blipFill>
        <p:spPr>
          <a:xfrm>
            <a:off x="5723100" y="1633975"/>
            <a:ext cx="3116100" cy="26648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Artificial Neuron – Mathematical Computation</a:t>
            </a:r>
            <a:endParaRPr/>
          </a:p>
        </p:txBody>
      </p:sp>
      <p:sp>
        <p:nvSpPr>
          <p:cNvPr id="129" name="Google Shape;129;p23"/>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Sum of weights w</a:t>
            </a:r>
            <a:r>
              <a:rPr lang="en" baseline="-25000"/>
              <a:t>i</a:t>
            </a:r>
            <a:r>
              <a:rPr lang="en"/>
              <a:t> times corresponding features x</a:t>
            </a:r>
            <a:r>
              <a:rPr lang="en" baseline="-25000"/>
              <a:t>i</a:t>
            </a:r>
            <a:endParaRPr baseline="-25000"/>
          </a:p>
          <a:p>
            <a:pPr marL="457200" lvl="0" indent="-355600" algn="l" rtl="0">
              <a:spcBef>
                <a:spcPts val="0"/>
              </a:spcBef>
              <a:spcAft>
                <a:spcPts val="0"/>
              </a:spcAft>
              <a:buSzPts val="2000"/>
              <a:buChar char="➔"/>
            </a:pPr>
            <a:r>
              <a:rPr lang="en"/>
              <a:t>Apply activation function f () on the sum.</a:t>
            </a:r>
            <a:endParaRPr/>
          </a:p>
          <a:p>
            <a:pPr marL="0" lvl="0" indent="0" algn="l" rtl="0">
              <a:spcBef>
                <a:spcPts val="1200"/>
              </a:spcBef>
              <a:spcAft>
                <a:spcPts val="1200"/>
              </a:spcAft>
              <a:buNone/>
            </a:pPr>
            <a:endParaRPr/>
          </a:p>
        </p:txBody>
      </p:sp>
      <p:sp>
        <p:nvSpPr>
          <p:cNvPr id="130" name="Google Shape;130;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pic>
        <p:nvPicPr>
          <p:cNvPr id="131" name="Google Shape;131;p23" title="Screenshot from 2025-10-15 12-10-30.png"/>
          <p:cNvPicPr preferRelativeResize="0"/>
          <p:nvPr/>
        </p:nvPicPr>
        <p:blipFill>
          <a:blip r:embed="rId3">
            <a:alphaModFix/>
          </a:blip>
          <a:stretch>
            <a:fillRect/>
          </a:stretch>
        </p:blipFill>
        <p:spPr>
          <a:xfrm>
            <a:off x="640080" y="1828800"/>
            <a:ext cx="7315199" cy="28508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137" name="Google Shape;137;p2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Comparison: Biological vs Artificial Neurons</a:t>
            </a:r>
            <a:endParaRPr/>
          </a:p>
        </p:txBody>
      </p:sp>
      <p:sp>
        <p:nvSpPr>
          <p:cNvPr id="138" name="Google Shape;138;p24"/>
          <p:cNvSpPr txBox="1">
            <a:spLocks noGrp="1"/>
          </p:cNvSpPr>
          <p:nvPr>
            <p:ph type="body" idx="1"/>
          </p:nvPr>
        </p:nvSpPr>
        <p:spPr>
          <a:xfrm>
            <a:off x="311700" y="1018475"/>
            <a:ext cx="4196400" cy="38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t>Biological Neuron </a:t>
            </a:r>
            <a:endParaRPr b="1" dirty="0"/>
          </a:p>
          <a:p>
            <a:pPr marL="457200" lvl="0" indent="-355600" algn="l" rtl="0">
              <a:spcBef>
                <a:spcPts val="1200"/>
              </a:spcBef>
              <a:spcAft>
                <a:spcPts val="0"/>
              </a:spcAft>
              <a:buSzPts val="2000"/>
              <a:buChar char="➔"/>
            </a:pPr>
            <a:r>
              <a:rPr lang="en" dirty="0"/>
              <a:t>Complex biochemical processes  </a:t>
            </a:r>
            <a:endParaRPr dirty="0"/>
          </a:p>
          <a:p>
            <a:pPr marL="457200" lvl="0" indent="-355600" algn="l" rtl="0">
              <a:spcBef>
                <a:spcPts val="0"/>
              </a:spcBef>
              <a:spcAft>
                <a:spcPts val="0"/>
              </a:spcAft>
              <a:buSzPts val="2000"/>
              <a:buChar char="➔"/>
            </a:pPr>
            <a:r>
              <a:rPr lang="en" dirty="0"/>
              <a:t>Analog signal processing  </a:t>
            </a:r>
            <a:endParaRPr dirty="0"/>
          </a:p>
          <a:p>
            <a:pPr marL="457200" lvl="0" indent="-355600" algn="l" rtl="0">
              <a:spcBef>
                <a:spcPts val="0"/>
              </a:spcBef>
              <a:spcAft>
                <a:spcPts val="0"/>
              </a:spcAft>
              <a:buSzPts val="2000"/>
              <a:buChar char="➔"/>
            </a:pPr>
            <a:r>
              <a:rPr lang="en" dirty="0"/>
              <a:t>Adaptive synaptic strengths  </a:t>
            </a:r>
            <a:endParaRPr dirty="0"/>
          </a:p>
          <a:p>
            <a:pPr marL="457200" lvl="0" indent="-355600" algn="l" rtl="0">
              <a:spcBef>
                <a:spcPts val="0"/>
              </a:spcBef>
              <a:spcAft>
                <a:spcPts val="0"/>
              </a:spcAft>
              <a:buSzPts val="2000"/>
              <a:buChar char="➔"/>
            </a:pPr>
            <a:r>
              <a:rPr lang="en" dirty="0"/>
              <a:t>Parallel processing  </a:t>
            </a:r>
            <a:endParaRPr dirty="0"/>
          </a:p>
          <a:p>
            <a:pPr marL="457200" lvl="0" indent="-355600" algn="l" rtl="0">
              <a:spcBef>
                <a:spcPts val="0"/>
              </a:spcBef>
              <a:spcAft>
                <a:spcPts val="0"/>
              </a:spcAft>
              <a:buSzPts val="2000"/>
              <a:buChar char="➔"/>
            </a:pPr>
            <a:r>
              <a:rPr lang="en" dirty="0"/>
              <a:t>Learning through experience  </a:t>
            </a:r>
            <a:endParaRPr dirty="0"/>
          </a:p>
          <a:p>
            <a:pPr marL="457200" lvl="0" indent="-355600" algn="l" rtl="0">
              <a:spcBef>
                <a:spcPts val="0"/>
              </a:spcBef>
              <a:spcAft>
                <a:spcPts val="0"/>
              </a:spcAft>
              <a:buSzPts val="2000"/>
              <a:buChar char="➔"/>
            </a:pPr>
            <a:r>
              <a:rPr lang="en" dirty="0"/>
              <a:t>Fault tolerant  </a:t>
            </a:r>
            <a:endParaRPr dirty="0"/>
          </a:p>
        </p:txBody>
      </p:sp>
      <p:sp>
        <p:nvSpPr>
          <p:cNvPr id="139" name="Google Shape;139;p24"/>
          <p:cNvSpPr txBox="1">
            <a:spLocks noGrp="1"/>
          </p:cNvSpPr>
          <p:nvPr>
            <p:ph type="body" idx="1"/>
          </p:nvPr>
        </p:nvSpPr>
        <p:spPr>
          <a:xfrm>
            <a:off x="4660500" y="1018475"/>
            <a:ext cx="4196400" cy="38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Artificial Neuron</a:t>
            </a:r>
            <a:endParaRPr b="1"/>
          </a:p>
          <a:p>
            <a:pPr marL="457200" lvl="0" indent="-355600" algn="l" rtl="0">
              <a:spcBef>
                <a:spcPts val="1200"/>
              </a:spcBef>
              <a:spcAft>
                <a:spcPts val="0"/>
              </a:spcAft>
              <a:buSzPts val="2000"/>
              <a:buChar char="➔"/>
            </a:pPr>
            <a:r>
              <a:rPr lang="en"/>
              <a:t>Simple mathematical model</a:t>
            </a:r>
            <a:endParaRPr/>
          </a:p>
          <a:p>
            <a:pPr marL="457200" lvl="0" indent="-355600" algn="l" rtl="0">
              <a:spcBef>
                <a:spcPts val="0"/>
              </a:spcBef>
              <a:spcAft>
                <a:spcPts val="0"/>
              </a:spcAft>
              <a:buSzPts val="2000"/>
              <a:buChar char="➔"/>
            </a:pPr>
            <a:r>
              <a:rPr lang="en"/>
              <a:t>Digital computation</a:t>
            </a:r>
            <a:endParaRPr/>
          </a:p>
          <a:p>
            <a:pPr marL="457200" lvl="0" indent="-355600" algn="l" rtl="0">
              <a:spcBef>
                <a:spcPts val="0"/>
              </a:spcBef>
              <a:spcAft>
                <a:spcPts val="0"/>
              </a:spcAft>
              <a:buSzPts val="2000"/>
              <a:buChar char="➔"/>
            </a:pPr>
            <a:r>
              <a:rPr lang="en"/>
              <a:t>Adjustable weights</a:t>
            </a:r>
            <a:endParaRPr/>
          </a:p>
          <a:p>
            <a:pPr marL="457200" lvl="0" indent="-355600" algn="l" rtl="0">
              <a:spcBef>
                <a:spcPts val="0"/>
              </a:spcBef>
              <a:spcAft>
                <a:spcPts val="0"/>
              </a:spcAft>
              <a:buSzPts val="2000"/>
              <a:buChar char="➔"/>
            </a:pPr>
            <a:r>
              <a:rPr lang="en"/>
              <a:t>Parallel computation possible</a:t>
            </a:r>
            <a:endParaRPr/>
          </a:p>
          <a:p>
            <a:pPr marL="457200" lvl="0" indent="-355600" algn="l" rtl="0">
              <a:spcBef>
                <a:spcPts val="0"/>
              </a:spcBef>
              <a:spcAft>
                <a:spcPts val="0"/>
              </a:spcAft>
              <a:buSzPts val="2000"/>
              <a:buChar char="➔"/>
            </a:pPr>
            <a:r>
              <a:rPr lang="en"/>
              <a:t>Learning through algorithms</a:t>
            </a:r>
            <a:endParaRPr/>
          </a:p>
          <a:p>
            <a:pPr marL="457200" lvl="0" indent="-355600" algn="l" rtl="0">
              <a:spcBef>
                <a:spcPts val="0"/>
              </a:spcBef>
              <a:spcAft>
                <a:spcPts val="0"/>
              </a:spcAft>
              <a:buSzPts val="2000"/>
              <a:buChar char="➔"/>
            </a:pPr>
            <a:r>
              <a:rPr lang="en"/>
              <a:t>Deterministic behavior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Artificial Neural Network (ANN)</a:t>
            </a:r>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are Artificial Neural Networks?	</a:t>
            </a:r>
            <a:endParaRPr/>
          </a:p>
        </p:txBody>
      </p:sp>
      <p:sp>
        <p:nvSpPr>
          <p:cNvPr id="151" name="Google Shape;151;p26"/>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Neural Network is a computational model inspired by human brain</a:t>
            </a:r>
            <a:endParaRPr/>
          </a:p>
          <a:p>
            <a:pPr marL="457200" lvl="0" indent="-355600" algn="l" rtl="0">
              <a:spcBef>
                <a:spcPts val="0"/>
              </a:spcBef>
              <a:spcAft>
                <a:spcPts val="0"/>
              </a:spcAft>
              <a:buSzPts val="2000"/>
              <a:buChar char="➔"/>
            </a:pPr>
            <a:r>
              <a:rPr lang="en"/>
              <a:t>Interconnected neurons process information</a:t>
            </a:r>
            <a:endParaRPr/>
          </a:p>
          <a:p>
            <a:pPr marL="457200" lvl="0" indent="-355600" algn="l" rtl="0">
              <a:spcBef>
                <a:spcPts val="0"/>
              </a:spcBef>
              <a:spcAft>
                <a:spcPts val="0"/>
              </a:spcAft>
              <a:buSzPts val="2000"/>
              <a:buChar char="➔"/>
            </a:pPr>
            <a:r>
              <a:rPr lang="en"/>
              <a:t>Interconnection can be forward, recursive or self loop</a:t>
            </a:r>
            <a:endParaRPr/>
          </a:p>
          <a:p>
            <a:pPr marL="457200" lvl="0" indent="-355600" algn="l" rtl="0">
              <a:spcBef>
                <a:spcPts val="0"/>
              </a:spcBef>
              <a:spcAft>
                <a:spcPts val="0"/>
              </a:spcAft>
              <a:buSzPts val="2000"/>
              <a:buChar char="➔"/>
            </a:pPr>
            <a:r>
              <a:rPr lang="en"/>
              <a:t>Learn patterns from data through training</a:t>
            </a:r>
            <a:endParaRPr/>
          </a:p>
          <a:p>
            <a:pPr marL="457200" lvl="0" indent="-355600" algn="l" rtl="0">
              <a:spcBef>
                <a:spcPts val="0"/>
              </a:spcBef>
              <a:spcAft>
                <a:spcPts val="0"/>
              </a:spcAft>
              <a:buSzPts val="2000"/>
              <a:buChar char="➔"/>
            </a:pPr>
            <a:r>
              <a:rPr lang="en"/>
              <a:t>Capable of approximating complex functions</a:t>
            </a:r>
            <a:endParaRPr/>
          </a:p>
        </p:txBody>
      </p:sp>
      <p:sp>
        <p:nvSpPr>
          <p:cNvPr id="152" name="Google Shape;152;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pic>
        <p:nvPicPr>
          <p:cNvPr id="153" name="Google Shape;153;p26" title="Screenshot from 2025-10-15 12-10-34.png"/>
          <p:cNvPicPr preferRelativeResize="0"/>
          <p:nvPr/>
        </p:nvPicPr>
        <p:blipFill>
          <a:blip r:embed="rId3">
            <a:alphaModFix/>
          </a:blip>
          <a:stretch>
            <a:fillRect/>
          </a:stretch>
        </p:blipFill>
        <p:spPr>
          <a:xfrm>
            <a:off x="5723100" y="1622900"/>
            <a:ext cx="3116101" cy="24733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Properties of  Artificial Neural Network</a:t>
            </a:r>
            <a:endParaRPr/>
          </a:p>
        </p:txBody>
      </p:sp>
      <p:sp>
        <p:nvSpPr>
          <p:cNvPr id="159" name="Google Shape;159;p27"/>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Many neuron-like threshold switching units.</a:t>
            </a:r>
            <a:endParaRPr/>
          </a:p>
          <a:p>
            <a:pPr marL="457200" lvl="0" indent="-355600" algn="l" rtl="0">
              <a:spcBef>
                <a:spcPts val="0"/>
              </a:spcBef>
              <a:spcAft>
                <a:spcPts val="0"/>
              </a:spcAft>
              <a:buSzPts val="2000"/>
              <a:buChar char="●"/>
            </a:pPr>
            <a:r>
              <a:rPr lang="en"/>
              <a:t>Many weighted interconnections among units.</a:t>
            </a:r>
            <a:endParaRPr/>
          </a:p>
          <a:p>
            <a:pPr marL="457200" lvl="0" indent="-355600" algn="l" rtl="0">
              <a:spcBef>
                <a:spcPts val="0"/>
              </a:spcBef>
              <a:spcAft>
                <a:spcPts val="0"/>
              </a:spcAft>
              <a:buSzPts val="2000"/>
              <a:buChar char="●"/>
            </a:pPr>
            <a:r>
              <a:rPr lang="en"/>
              <a:t>Highly parallel, distributed process.</a:t>
            </a:r>
            <a:endParaRPr/>
          </a:p>
          <a:p>
            <a:pPr marL="457200" lvl="0" indent="-355600" algn="l" rtl="0">
              <a:spcBef>
                <a:spcPts val="0"/>
              </a:spcBef>
              <a:spcAft>
                <a:spcPts val="0"/>
              </a:spcAft>
              <a:buSzPts val="2000"/>
              <a:buChar char="●"/>
            </a:pPr>
            <a:r>
              <a:rPr lang="en"/>
              <a:t>Emphasis on tuning parameters or weights automatically.</a:t>
            </a:r>
            <a:endParaRPr/>
          </a:p>
          <a:p>
            <a:pPr marL="0" lvl="0" indent="0" algn="l" rtl="0">
              <a:spcBef>
                <a:spcPts val="1200"/>
              </a:spcBef>
              <a:spcAft>
                <a:spcPts val="1200"/>
              </a:spcAft>
              <a:buNone/>
            </a:pPr>
            <a:endParaRPr/>
          </a:p>
        </p:txBody>
      </p:sp>
      <p:sp>
        <p:nvSpPr>
          <p:cNvPr id="160" name="Google Shape;160;p2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When to consider Artificial Neural Networks?</a:t>
            </a:r>
            <a:endParaRPr/>
          </a:p>
        </p:txBody>
      </p:sp>
      <p:sp>
        <p:nvSpPr>
          <p:cNvPr id="166" name="Google Shape;166;p28"/>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Input is high-dimensional discrete or real-valued (e.g. raw sensor input). </a:t>
            </a:r>
            <a:endParaRPr/>
          </a:p>
          <a:p>
            <a:pPr marL="457200" lvl="0" indent="-355600" algn="l" rtl="0">
              <a:spcBef>
                <a:spcPts val="0"/>
              </a:spcBef>
              <a:spcAft>
                <a:spcPts val="0"/>
              </a:spcAft>
              <a:buSzPts val="2000"/>
              <a:buChar char="●"/>
            </a:pPr>
            <a:r>
              <a:rPr lang="en"/>
              <a:t>Possibly noisy data. Data has lots of errors. </a:t>
            </a:r>
            <a:endParaRPr/>
          </a:p>
          <a:p>
            <a:pPr marL="457200" lvl="0" indent="-355600" algn="l" rtl="0">
              <a:spcBef>
                <a:spcPts val="0"/>
              </a:spcBef>
              <a:spcAft>
                <a:spcPts val="0"/>
              </a:spcAft>
              <a:buSzPts val="2000"/>
              <a:buChar char="●"/>
            </a:pPr>
            <a:r>
              <a:rPr lang="en"/>
              <a:t>Output is discrete or real valued or a vector of values.</a:t>
            </a:r>
            <a:endParaRPr/>
          </a:p>
          <a:p>
            <a:pPr marL="457200" lvl="0" indent="-355600" algn="l" rtl="0">
              <a:spcBef>
                <a:spcPts val="0"/>
              </a:spcBef>
              <a:spcAft>
                <a:spcPts val="0"/>
              </a:spcAft>
              <a:buSzPts val="2000"/>
              <a:buChar char="●"/>
            </a:pPr>
            <a:r>
              <a:rPr lang="en"/>
              <a:t>Form of target function is unknown. </a:t>
            </a:r>
            <a:endParaRPr/>
          </a:p>
          <a:p>
            <a:pPr marL="457200" lvl="0" indent="-355600" algn="l" rtl="0">
              <a:spcBef>
                <a:spcPts val="0"/>
              </a:spcBef>
              <a:spcAft>
                <a:spcPts val="0"/>
              </a:spcAft>
              <a:buSzPts val="2000"/>
              <a:buChar char="●"/>
            </a:pPr>
            <a:r>
              <a:rPr lang="en"/>
              <a:t>Human readability, in other words, explainability, of result is unimportant. </a:t>
            </a:r>
            <a:endParaRPr/>
          </a:p>
          <a:p>
            <a:pPr marL="457200" lvl="0" indent="-355600" algn="l" rtl="0">
              <a:spcBef>
                <a:spcPts val="0"/>
              </a:spcBef>
              <a:spcAft>
                <a:spcPts val="0"/>
              </a:spcAft>
              <a:buSzPts val="2000"/>
              <a:buChar char="●"/>
            </a:pPr>
            <a:r>
              <a:rPr lang="en"/>
              <a:t>Examples:</a:t>
            </a:r>
            <a:endParaRPr/>
          </a:p>
          <a:p>
            <a:pPr marL="914400" lvl="1" indent="-330200" algn="l" rtl="0">
              <a:spcBef>
                <a:spcPts val="0"/>
              </a:spcBef>
              <a:spcAft>
                <a:spcPts val="0"/>
              </a:spcAft>
              <a:buSzPts val="1600"/>
              <a:buChar char="○"/>
            </a:pPr>
            <a:r>
              <a:rPr lang="en"/>
              <a:t>Speech phoneme recognition </a:t>
            </a:r>
            <a:endParaRPr/>
          </a:p>
          <a:p>
            <a:pPr marL="914400" lvl="1" indent="-330200" algn="l" rtl="0">
              <a:spcBef>
                <a:spcPts val="0"/>
              </a:spcBef>
              <a:spcAft>
                <a:spcPts val="0"/>
              </a:spcAft>
              <a:buSzPts val="1600"/>
              <a:buChar char="○"/>
            </a:pPr>
            <a:r>
              <a:rPr lang="en"/>
              <a:t>Image classification</a:t>
            </a:r>
            <a:endParaRPr/>
          </a:p>
          <a:p>
            <a:pPr marL="914400" lvl="1" indent="-330200" algn="l" rtl="0">
              <a:spcBef>
                <a:spcPts val="0"/>
              </a:spcBef>
              <a:spcAft>
                <a:spcPts val="0"/>
              </a:spcAft>
              <a:buSzPts val="1600"/>
              <a:buChar char="○"/>
            </a:pPr>
            <a:r>
              <a:rPr lang="en"/>
              <a:t>Financial prediction</a:t>
            </a:r>
            <a:endParaRPr/>
          </a:p>
        </p:txBody>
      </p:sp>
      <p:sp>
        <p:nvSpPr>
          <p:cNvPr id="167" name="Google Shape;167;p2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Connectionist Machines</a:t>
            </a:r>
            <a:endParaRPr/>
          </a:p>
        </p:txBody>
      </p:sp>
      <p:sp>
        <p:nvSpPr>
          <p:cNvPr id="173" name="Google Shape;173;p29"/>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Network of processing elements, called artificial neural neurons </a:t>
            </a:r>
            <a:r>
              <a:rPr lang="en" sz="1100">
                <a:solidFill>
                  <a:srgbClr val="F8F8F8"/>
                </a:solidFill>
              </a:rPr>
              <a:t>neuron</a:t>
            </a:r>
            <a:endParaRPr/>
          </a:p>
          <a:p>
            <a:pPr marL="457200" lvl="0" indent="-355600" algn="l" rtl="0">
              <a:spcBef>
                <a:spcPts val="0"/>
              </a:spcBef>
              <a:spcAft>
                <a:spcPts val="0"/>
              </a:spcAft>
              <a:buSzPts val="2000"/>
              <a:buChar char="➔"/>
            </a:pPr>
            <a:r>
              <a:rPr lang="en"/>
              <a:t>The neurons are interconnected to form a network. </a:t>
            </a:r>
            <a:endParaRPr/>
          </a:p>
          <a:p>
            <a:pPr marL="457200" lvl="0" indent="-355600" algn="l" rtl="0">
              <a:spcBef>
                <a:spcPts val="0"/>
              </a:spcBef>
              <a:spcAft>
                <a:spcPts val="0"/>
              </a:spcAft>
              <a:buSzPts val="2000"/>
              <a:buChar char="➔"/>
            </a:pPr>
            <a:r>
              <a:rPr lang="en"/>
              <a:t>Interconnection can be forward, recursive or self loop</a:t>
            </a:r>
            <a:endParaRPr/>
          </a:p>
          <a:p>
            <a:pPr marL="457200" lvl="0" indent="-355600" algn="l" rtl="0">
              <a:spcBef>
                <a:spcPts val="0"/>
              </a:spcBef>
              <a:spcAft>
                <a:spcPts val="0"/>
              </a:spcAft>
              <a:buSzPts val="2000"/>
              <a:buChar char="➔"/>
            </a:pPr>
            <a:r>
              <a:rPr lang="en"/>
              <a:t>All world knowledge is stored in the connections between these elements. </a:t>
            </a:r>
            <a:endParaRPr/>
          </a:p>
          <a:p>
            <a:pPr marL="457200" lvl="0" indent="-355600" algn="l" rtl="0">
              <a:spcBef>
                <a:spcPts val="0"/>
              </a:spcBef>
              <a:spcAft>
                <a:spcPts val="0"/>
              </a:spcAft>
              <a:buSzPts val="2000"/>
              <a:buChar char="➔"/>
            </a:pPr>
            <a:r>
              <a:rPr lang="en"/>
              <a:t>Neural networks are connectionist machines.</a:t>
            </a:r>
            <a:endParaRPr/>
          </a:p>
          <a:p>
            <a:pPr marL="0" lvl="0" indent="0" algn="l" rtl="0">
              <a:spcBef>
                <a:spcPts val="1200"/>
              </a:spcBef>
              <a:spcAft>
                <a:spcPts val="1200"/>
              </a:spcAft>
              <a:buNone/>
            </a:pPr>
            <a:endParaRPr/>
          </a:p>
        </p:txBody>
      </p:sp>
      <p:pic>
        <p:nvPicPr>
          <p:cNvPr id="174" name="Google Shape;174;p29"/>
          <p:cNvPicPr preferRelativeResize="0"/>
          <p:nvPr/>
        </p:nvPicPr>
        <p:blipFill>
          <a:blip r:embed="rId3">
            <a:alphaModFix/>
          </a:blip>
          <a:stretch>
            <a:fillRect/>
          </a:stretch>
        </p:blipFill>
        <p:spPr>
          <a:xfrm>
            <a:off x="5478425" y="1915338"/>
            <a:ext cx="3353875" cy="2102075"/>
          </a:xfrm>
          <a:prstGeom prst="rect">
            <a:avLst/>
          </a:prstGeom>
          <a:noFill/>
          <a:ln>
            <a:noFill/>
          </a:ln>
        </p:spPr>
      </p:pic>
      <p:sp>
        <p:nvSpPr>
          <p:cNvPr id="175" name="Google Shape;175;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Connectionism Principles</a:t>
            </a:r>
            <a:endParaRPr/>
          </a:p>
        </p:txBody>
      </p:sp>
      <p:sp>
        <p:nvSpPr>
          <p:cNvPr id="181" name="Google Shape;181;p30"/>
          <p:cNvSpPr txBox="1">
            <a:spLocks noGrp="1"/>
          </p:cNvSpPr>
          <p:nvPr>
            <p:ph type="body" idx="1"/>
          </p:nvPr>
        </p:nvSpPr>
        <p:spPr>
          <a:xfrm>
            <a:off x="311700" y="1018475"/>
            <a:ext cx="5411400" cy="38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Core Ideas:</a:t>
            </a:r>
            <a:endParaRPr/>
          </a:p>
          <a:p>
            <a:pPr marL="457200" lvl="0" indent="-355600" algn="l" rtl="0">
              <a:spcBef>
                <a:spcPts val="1200"/>
              </a:spcBef>
              <a:spcAft>
                <a:spcPts val="0"/>
              </a:spcAft>
              <a:buSzPts val="2000"/>
              <a:buChar char="➔"/>
            </a:pPr>
            <a:r>
              <a:rPr lang="en"/>
              <a:t>Intelligence emerges from simple processing neurons</a:t>
            </a:r>
            <a:endParaRPr/>
          </a:p>
          <a:p>
            <a:pPr marL="457200" lvl="0" indent="-355600" algn="l" rtl="0">
              <a:spcBef>
                <a:spcPts val="0"/>
              </a:spcBef>
              <a:spcAft>
                <a:spcPts val="0"/>
              </a:spcAft>
              <a:buSzPts val="2000"/>
              <a:buChar char="➔"/>
            </a:pPr>
            <a:r>
              <a:rPr lang="en"/>
              <a:t>Knowledge is stored in connection weights</a:t>
            </a:r>
            <a:endParaRPr/>
          </a:p>
          <a:p>
            <a:pPr marL="457200" lvl="0" indent="-355600" algn="l" rtl="0">
              <a:spcBef>
                <a:spcPts val="0"/>
              </a:spcBef>
              <a:spcAft>
                <a:spcPts val="0"/>
              </a:spcAft>
              <a:buSzPts val="2000"/>
              <a:buChar char="➔"/>
            </a:pPr>
            <a:r>
              <a:rPr lang="en"/>
              <a:t>Learning modifies connection strengths </a:t>
            </a:r>
            <a:endParaRPr/>
          </a:p>
          <a:p>
            <a:pPr marL="457200" lvl="0" indent="-355600" algn="l" rtl="0">
              <a:spcBef>
                <a:spcPts val="0"/>
              </a:spcBef>
              <a:spcAft>
                <a:spcPts val="0"/>
              </a:spcAft>
              <a:buSzPts val="2000"/>
              <a:buChar char="➔"/>
            </a:pPr>
            <a:r>
              <a:rPr lang="en"/>
              <a:t>Parallel distributed processing</a:t>
            </a:r>
            <a:endParaRPr/>
          </a:p>
          <a:p>
            <a:pPr marL="0" lvl="0" indent="0" algn="l" rtl="0">
              <a:spcBef>
                <a:spcPts val="1200"/>
              </a:spcBef>
              <a:spcAft>
                <a:spcPts val="1200"/>
              </a:spcAft>
              <a:buNone/>
            </a:pPr>
            <a:endParaRPr/>
          </a:p>
        </p:txBody>
      </p:sp>
      <p:pic>
        <p:nvPicPr>
          <p:cNvPr id="182" name="Google Shape;182;p30"/>
          <p:cNvPicPr preferRelativeResize="0"/>
          <p:nvPr/>
        </p:nvPicPr>
        <p:blipFill>
          <a:blip r:embed="rId3">
            <a:alphaModFix/>
          </a:blip>
          <a:stretch>
            <a:fillRect/>
          </a:stretch>
        </p:blipFill>
        <p:spPr>
          <a:xfrm>
            <a:off x="5478425" y="1915338"/>
            <a:ext cx="3353875" cy="2102075"/>
          </a:xfrm>
          <a:prstGeom prst="rect">
            <a:avLst/>
          </a:prstGeom>
          <a:noFill/>
          <a:ln>
            <a:noFill/>
          </a:ln>
        </p:spPr>
      </p:pic>
      <p:sp>
        <p:nvSpPr>
          <p:cNvPr id="183" name="Google Shape;18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Perceptron</a:t>
            </a:r>
            <a:endParaRPr/>
          </a:p>
        </p:txBody>
      </p:sp>
      <p:sp>
        <p:nvSpPr>
          <p:cNvPr id="189" name="Google Shape;189;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a:t>
            </a:r>
            <a:endParaRPr/>
          </a:p>
        </p:txBody>
      </p:sp>
      <p:sp>
        <p:nvSpPr>
          <p:cNvPr id="195" name="Google Shape;195;p32"/>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Perceptron = Simplest form of artificial neuron</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Perceptron was introduced by Rosenblatt in 1958.</a:t>
            </a:r>
            <a:endParaRPr sz="1900">
              <a:highlight>
                <a:schemeClr val="lt1"/>
              </a:highlight>
            </a:endParaRPr>
          </a:p>
        </p:txBody>
      </p:sp>
      <p:sp>
        <p:nvSpPr>
          <p:cNvPr id="196" name="Google Shape;196;p32"/>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20</a:t>
            </a:fld>
            <a:endParaRPr/>
          </a:p>
        </p:txBody>
      </p:sp>
      <p:pic>
        <p:nvPicPr>
          <p:cNvPr id="197" name="Google Shape;197;p32" title="Screenshot from 2025-10-15 12-10-40.png"/>
          <p:cNvPicPr preferRelativeResize="0"/>
          <p:nvPr/>
        </p:nvPicPr>
        <p:blipFill>
          <a:blip r:embed="rId3">
            <a:alphaModFix/>
          </a:blip>
          <a:stretch>
            <a:fillRect/>
          </a:stretch>
        </p:blipFill>
        <p:spPr>
          <a:xfrm>
            <a:off x="2449100" y="1959203"/>
            <a:ext cx="4245800" cy="2723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a:t>
            </a:r>
            <a:endParaRPr/>
          </a:p>
        </p:txBody>
      </p:sp>
      <p:sp>
        <p:nvSpPr>
          <p:cNvPr id="203" name="Google Shape;203;p33"/>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Perceptron = Simplest form of artificial neuron</a:t>
            </a:r>
            <a:endParaRPr sz="1900">
              <a:highlight>
                <a:schemeClr val="lt1"/>
              </a:highlight>
            </a:endParaRPr>
          </a:p>
        </p:txBody>
      </p:sp>
      <p:sp>
        <p:nvSpPr>
          <p:cNvPr id="204" name="Google Shape;204;p3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21</a:t>
            </a:fld>
            <a:endParaRPr/>
          </a:p>
        </p:txBody>
      </p:sp>
      <p:pic>
        <p:nvPicPr>
          <p:cNvPr id="205" name="Google Shape;205;p33" title="Screenshot from 2025-10-15 12-10-42.png"/>
          <p:cNvPicPr preferRelativeResize="0"/>
          <p:nvPr/>
        </p:nvPicPr>
        <p:blipFill>
          <a:blip r:embed="rId3">
            <a:alphaModFix/>
          </a:blip>
          <a:stretch>
            <a:fillRect/>
          </a:stretch>
        </p:blipFill>
        <p:spPr>
          <a:xfrm>
            <a:off x="640080" y="1828800"/>
            <a:ext cx="7315200" cy="25151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Perceptron &amp; Logic Gates</a:t>
            </a:r>
            <a:endParaRPr/>
          </a:p>
        </p:txBody>
      </p:sp>
      <p:sp>
        <p:nvSpPr>
          <p:cNvPr id="211" name="Google Shape;21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Representing Logic Gates using Perceptron</a:t>
            </a:r>
            <a:endParaRPr/>
          </a:p>
        </p:txBody>
      </p:sp>
      <p:sp>
        <p:nvSpPr>
          <p:cNvPr id="217" name="Google Shape;217;p35"/>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Any linear decision can be represented by a Boolean equation.</a:t>
            </a:r>
            <a:endParaRPr/>
          </a:p>
          <a:p>
            <a:pPr marL="457200" lvl="0" indent="-355600" algn="l" rtl="0">
              <a:spcBef>
                <a:spcPts val="0"/>
              </a:spcBef>
              <a:spcAft>
                <a:spcPts val="0"/>
              </a:spcAft>
              <a:buSzPts val="2000"/>
              <a:buChar char="●"/>
            </a:pPr>
            <a:r>
              <a:rPr lang="en"/>
              <a:t>The quest is to find out how to represent the above using Perceptron.</a:t>
            </a:r>
            <a:endParaRPr/>
          </a:p>
          <a:p>
            <a:pPr marL="457200" lvl="0" indent="-355600" algn="l" rtl="0">
              <a:spcBef>
                <a:spcPts val="0"/>
              </a:spcBef>
              <a:spcAft>
                <a:spcPts val="0"/>
              </a:spcAft>
              <a:buSzPts val="2000"/>
              <a:buChar char="●"/>
            </a:pPr>
            <a:r>
              <a:rPr lang="en"/>
              <a:t>For this we test whether each of the logic gates can be represented by a Perceptron.</a:t>
            </a:r>
            <a:endParaRPr/>
          </a:p>
          <a:p>
            <a:pPr marL="457200" lvl="0" indent="0" algn="l" rtl="0">
              <a:spcBef>
                <a:spcPts val="1200"/>
              </a:spcBef>
              <a:spcAft>
                <a:spcPts val="1200"/>
              </a:spcAft>
              <a:buNone/>
            </a:pPr>
            <a:endParaRPr/>
          </a:p>
        </p:txBody>
      </p:sp>
      <p:sp>
        <p:nvSpPr>
          <p:cNvPr id="218" name="Google Shape;218;p3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AND Logic Gate</a:t>
            </a:r>
            <a:endParaRPr/>
          </a:p>
        </p:txBody>
      </p:sp>
      <p:sp>
        <p:nvSpPr>
          <p:cNvPr id="224" name="Google Shape;224;p36"/>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Question:</a:t>
            </a:r>
            <a:endParaRPr/>
          </a:p>
          <a:p>
            <a:pPr marL="914400" lvl="0" indent="-355600" algn="l" rtl="0">
              <a:spcBef>
                <a:spcPts val="1200"/>
              </a:spcBef>
              <a:spcAft>
                <a:spcPts val="0"/>
              </a:spcAft>
              <a:buSzPts val="2000"/>
              <a:buChar char="●"/>
            </a:pPr>
            <a:r>
              <a:rPr lang="en"/>
              <a:t>How to represent AND gate using a perceptron?</a:t>
            </a:r>
            <a:endParaRPr/>
          </a:p>
          <a:p>
            <a:pPr marL="914400" lvl="0" indent="-355600" algn="l" rtl="0">
              <a:spcBef>
                <a:spcPts val="0"/>
              </a:spcBef>
              <a:spcAft>
                <a:spcPts val="0"/>
              </a:spcAft>
              <a:buSzPts val="2000"/>
              <a:buChar char="●"/>
            </a:pPr>
            <a:r>
              <a:rPr lang="en"/>
              <a:t>What are the parameters for the AND perceptron?</a:t>
            </a:r>
            <a:endParaRPr/>
          </a:p>
          <a:p>
            <a:pPr marL="914400" lvl="0" indent="-355600" algn="l" rtl="0">
              <a:spcBef>
                <a:spcPts val="0"/>
              </a:spcBef>
              <a:spcAft>
                <a:spcPts val="0"/>
              </a:spcAft>
              <a:buSzPts val="2000"/>
              <a:buChar char="●"/>
            </a:pPr>
            <a:r>
              <a:rPr lang="en"/>
              <a:t>Data is given below.</a:t>
            </a:r>
            <a:endParaRPr/>
          </a:p>
        </p:txBody>
      </p:sp>
      <p:sp>
        <p:nvSpPr>
          <p:cNvPr id="225" name="Google Shape;225;p3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24</a:t>
            </a:fld>
            <a:endParaRPr/>
          </a:p>
        </p:txBody>
      </p:sp>
      <p:graphicFrame>
        <p:nvGraphicFramePr>
          <p:cNvPr id="226" name="Google Shape;226;p36"/>
          <p:cNvGraphicFramePr/>
          <p:nvPr/>
        </p:nvGraphicFramePr>
        <p:xfrm>
          <a:off x="3590200" y="2571750"/>
          <a:ext cx="3003750" cy="2011530"/>
        </p:xfrm>
        <a:graphic>
          <a:graphicData uri="http://schemas.openxmlformats.org/drawingml/2006/table">
            <a:tbl>
              <a:tblPr>
                <a:noFill/>
                <a:tableStyleId>{4A1C12C4-A1A8-4A4A-8DC1-9A2683A6B42E}</a:tableStyleId>
              </a:tblPr>
              <a:tblGrid>
                <a:gridCol w="1001250">
                  <a:extLst>
                    <a:ext uri="{9D8B030D-6E8A-4147-A177-3AD203B41FA5}">
                      <a16:colId xmlns:a16="http://schemas.microsoft.com/office/drawing/2014/main" val="20000"/>
                    </a:ext>
                  </a:extLst>
                </a:gridCol>
                <a:gridCol w="1001250">
                  <a:extLst>
                    <a:ext uri="{9D8B030D-6E8A-4147-A177-3AD203B41FA5}">
                      <a16:colId xmlns:a16="http://schemas.microsoft.com/office/drawing/2014/main" val="20001"/>
                    </a:ext>
                  </a:extLst>
                </a:gridCol>
                <a:gridCol w="1001250">
                  <a:extLst>
                    <a:ext uri="{9D8B030D-6E8A-4147-A177-3AD203B41FA5}">
                      <a16:colId xmlns:a16="http://schemas.microsoft.com/office/drawing/2014/main" val="20002"/>
                    </a:ext>
                  </a:extLst>
                </a:gridCol>
              </a:tblGrid>
              <a:tr h="347825">
                <a:tc>
                  <a:txBody>
                    <a:bodyPr/>
                    <a:lstStyle/>
                    <a:p>
                      <a:pPr marL="0" lvl="0" indent="0" algn="ctr" rtl="0">
                        <a:spcBef>
                          <a:spcPts val="0"/>
                        </a:spcBef>
                        <a:spcAft>
                          <a:spcPts val="0"/>
                        </a:spcAft>
                        <a:buNone/>
                      </a:pPr>
                      <a:r>
                        <a:rPr lang="en" sz="1600" b="1"/>
                        <a:t>A</a:t>
                      </a:r>
                      <a:endParaRPr sz="1600" b="1"/>
                    </a:p>
                  </a:txBody>
                  <a:tcPr marL="91425" marR="91425" marT="91425" marB="91425">
                    <a:solidFill>
                      <a:srgbClr val="4A86E8"/>
                    </a:solidFill>
                  </a:tcPr>
                </a:tc>
                <a:tc>
                  <a:txBody>
                    <a:bodyPr/>
                    <a:lstStyle/>
                    <a:p>
                      <a:pPr marL="0" lvl="0" indent="0" algn="ctr" rtl="0">
                        <a:spcBef>
                          <a:spcPts val="0"/>
                        </a:spcBef>
                        <a:spcAft>
                          <a:spcPts val="0"/>
                        </a:spcAft>
                        <a:buNone/>
                      </a:pPr>
                      <a:r>
                        <a:rPr lang="en" sz="1600" b="1"/>
                        <a:t>B</a:t>
                      </a:r>
                      <a:endParaRPr sz="1600" b="1"/>
                    </a:p>
                  </a:txBody>
                  <a:tcPr marL="91425" marR="91425" marT="91425" marB="91425">
                    <a:solidFill>
                      <a:srgbClr val="4A86E8"/>
                    </a:solidFill>
                  </a:tcPr>
                </a:tc>
                <a:tc>
                  <a:txBody>
                    <a:bodyPr/>
                    <a:lstStyle/>
                    <a:p>
                      <a:pPr marL="0" lvl="0" indent="0" algn="ctr" rtl="0">
                        <a:spcBef>
                          <a:spcPts val="0"/>
                        </a:spcBef>
                        <a:spcAft>
                          <a:spcPts val="0"/>
                        </a:spcAft>
                        <a:buNone/>
                      </a:pPr>
                      <a:r>
                        <a:rPr lang="en" sz="1600" b="1"/>
                        <a:t>A and B</a:t>
                      </a:r>
                      <a:endParaRPr sz="1600" b="1"/>
                    </a:p>
                  </a:txBody>
                  <a:tcPr marL="91425" marR="91425" marT="91425" marB="91425">
                    <a:solidFill>
                      <a:srgbClr val="4A86E8"/>
                    </a:solidFill>
                  </a:tcPr>
                </a:tc>
                <a:extLst>
                  <a:ext uri="{0D108BD9-81ED-4DB2-BD59-A6C34878D82A}">
                    <a16:rowId xmlns:a16="http://schemas.microsoft.com/office/drawing/2014/main" val="10000"/>
                  </a:ext>
                </a:extLst>
              </a:tr>
              <a:tr h="3230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extLst>
                  <a:ext uri="{0D108BD9-81ED-4DB2-BD59-A6C34878D82A}">
                    <a16:rowId xmlns:a16="http://schemas.microsoft.com/office/drawing/2014/main" val="10001"/>
                  </a:ext>
                </a:extLst>
              </a:tr>
              <a:tr h="3230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extLst>
                  <a:ext uri="{0D108BD9-81ED-4DB2-BD59-A6C34878D82A}">
                    <a16:rowId xmlns:a16="http://schemas.microsoft.com/office/drawing/2014/main" val="10002"/>
                  </a:ext>
                </a:extLst>
              </a:tr>
              <a:tr h="3230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extLst>
                  <a:ext uri="{0D108BD9-81ED-4DB2-BD59-A6C34878D82A}">
                    <a16:rowId xmlns:a16="http://schemas.microsoft.com/office/drawing/2014/main" val="10003"/>
                  </a:ext>
                </a:extLst>
              </a:tr>
              <a:tr h="3230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for AND gate</a:t>
            </a:r>
            <a:endParaRPr/>
          </a:p>
        </p:txBody>
      </p:sp>
      <p:sp>
        <p:nvSpPr>
          <p:cNvPr id="232" name="Google Shape;23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pic>
        <p:nvPicPr>
          <p:cNvPr id="233" name="Google Shape;233;p37" title="Screenshot from 2025-10-15 13-15-52.png"/>
          <p:cNvPicPr preferRelativeResize="0"/>
          <p:nvPr/>
        </p:nvPicPr>
        <p:blipFill>
          <a:blip r:embed="rId3">
            <a:alphaModFix/>
          </a:blip>
          <a:stretch>
            <a:fillRect/>
          </a:stretch>
        </p:blipFill>
        <p:spPr>
          <a:xfrm>
            <a:off x="640080" y="1097280"/>
            <a:ext cx="7315201" cy="36889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Perceptron for AND gate</a:t>
            </a:r>
            <a:endParaRPr/>
          </a:p>
          <a:p>
            <a:pPr marL="0" lvl="0" indent="0" algn="l" rtl="0">
              <a:spcBef>
                <a:spcPts val="0"/>
              </a:spcBef>
              <a:spcAft>
                <a:spcPts val="0"/>
              </a:spcAft>
              <a:buNone/>
            </a:pPr>
            <a:endParaRPr/>
          </a:p>
        </p:txBody>
      </p:sp>
      <p:sp>
        <p:nvSpPr>
          <p:cNvPr id="239" name="Google Shape;239;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pic>
        <p:nvPicPr>
          <p:cNvPr id="240" name="Google Shape;240;p38" title="Screenshot from 2025-10-15 13-15-56.png"/>
          <p:cNvPicPr preferRelativeResize="0"/>
          <p:nvPr/>
        </p:nvPicPr>
        <p:blipFill>
          <a:blip r:embed="rId3">
            <a:alphaModFix/>
          </a:blip>
          <a:stretch>
            <a:fillRect/>
          </a:stretch>
        </p:blipFill>
        <p:spPr>
          <a:xfrm>
            <a:off x="640080" y="1097280"/>
            <a:ext cx="7315199" cy="367553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OR Logic Gate</a:t>
            </a:r>
            <a:endParaRPr/>
          </a:p>
        </p:txBody>
      </p:sp>
      <p:sp>
        <p:nvSpPr>
          <p:cNvPr id="246" name="Google Shape;246;p39"/>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Question:</a:t>
            </a:r>
            <a:endParaRPr/>
          </a:p>
          <a:p>
            <a:pPr marL="914400" lvl="0" indent="-355600" algn="l" rtl="0">
              <a:spcBef>
                <a:spcPts val="1200"/>
              </a:spcBef>
              <a:spcAft>
                <a:spcPts val="0"/>
              </a:spcAft>
              <a:buSzPts val="2000"/>
              <a:buChar char="●"/>
            </a:pPr>
            <a:r>
              <a:rPr lang="en"/>
              <a:t>How to represent OR gate using a perceptron?</a:t>
            </a:r>
            <a:endParaRPr/>
          </a:p>
          <a:p>
            <a:pPr marL="914400" lvl="0" indent="-355600" algn="l" rtl="0">
              <a:spcBef>
                <a:spcPts val="0"/>
              </a:spcBef>
              <a:spcAft>
                <a:spcPts val="0"/>
              </a:spcAft>
              <a:buSzPts val="2000"/>
              <a:buChar char="●"/>
            </a:pPr>
            <a:r>
              <a:rPr lang="en"/>
              <a:t>What are the parameters for the OR perceptron?</a:t>
            </a:r>
            <a:endParaRPr/>
          </a:p>
          <a:p>
            <a:pPr marL="914400" lvl="0" indent="-355600" algn="l" rtl="0">
              <a:spcBef>
                <a:spcPts val="0"/>
              </a:spcBef>
              <a:spcAft>
                <a:spcPts val="0"/>
              </a:spcAft>
              <a:buSzPts val="2000"/>
              <a:buChar char="●"/>
            </a:pPr>
            <a:r>
              <a:rPr lang="en"/>
              <a:t>Data is given below.</a:t>
            </a:r>
            <a:endParaRPr/>
          </a:p>
        </p:txBody>
      </p:sp>
      <p:sp>
        <p:nvSpPr>
          <p:cNvPr id="247" name="Google Shape;247;p3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27</a:t>
            </a:fld>
            <a:endParaRPr/>
          </a:p>
        </p:txBody>
      </p:sp>
      <p:graphicFrame>
        <p:nvGraphicFramePr>
          <p:cNvPr id="248" name="Google Shape;248;p39"/>
          <p:cNvGraphicFramePr/>
          <p:nvPr/>
        </p:nvGraphicFramePr>
        <p:xfrm>
          <a:off x="3590200" y="2571750"/>
          <a:ext cx="3003750" cy="2011530"/>
        </p:xfrm>
        <a:graphic>
          <a:graphicData uri="http://schemas.openxmlformats.org/drawingml/2006/table">
            <a:tbl>
              <a:tblPr>
                <a:noFill/>
                <a:tableStyleId>{4A1C12C4-A1A8-4A4A-8DC1-9A2683A6B42E}</a:tableStyleId>
              </a:tblPr>
              <a:tblGrid>
                <a:gridCol w="1001250">
                  <a:extLst>
                    <a:ext uri="{9D8B030D-6E8A-4147-A177-3AD203B41FA5}">
                      <a16:colId xmlns:a16="http://schemas.microsoft.com/office/drawing/2014/main" val="20000"/>
                    </a:ext>
                  </a:extLst>
                </a:gridCol>
                <a:gridCol w="1001250">
                  <a:extLst>
                    <a:ext uri="{9D8B030D-6E8A-4147-A177-3AD203B41FA5}">
                      <a16:colId xmlns:a16="http://schemas.microsoft.com/office/drawing/2014/main" val="20001"/>
                    </a:ext>
                  </a:extLst>
                </a:gridCol>
                <a:gridCol w="1001250">
                  <a:extLst>
                    <a:ext uri="{9D8B030D-6E8A-4147-A177-3AD203B41FA5}">
                      <a16:colId xmlns:a16="http://schemas.microsoft.com/office/drawing/2014/main" val="20002"/>
                    </a:ext>
                  </a:extLst>
                </a:gridCol>
              </a:tblGrid>
              <a:tr h="347825">
                <a:tc>
                  <a:txBody>
                    <a:bodyPr/>
                    <a:lstStyle/>
                    <a:p>
                      <a:pPr marL="0" lvl="0" indent="0" algn="ctr" rtl="0">
                        <a:spcBef>
                          <a:spcPts val="0"/>
                        </a:spcBef>
                        <a:spcAft>
                          <a:spcPts val="0"/>
                        </a:spcAft>
                        <a:buNone/>
                      </a:pPr>
                      <a:r>
                        <a:rPr lang="en" sz="1600" b="1"/>
                        <a:t>A</a:t>
                      </a:r>
                      <a:endParaRPr sz="1600" b="1"/>
                    </a:p>
                  </a:txBody>
                  <a:tcPr marL="91425" marR="91425" marT="91425" marB="91425">
                    <a:solidFill>
                      <a:srgbClr val="4A86E8"/>
                    </a:solidFill>
                  </a:tcPr>
                </a:tc>
                <a:tc>
                  <a:txBody>
                    <a:bodyPr/>
                    <a:lstStyle/>
                    <a:p>
                      <a:pPr marL="0" lvl="0" indent="0" algn="ctr" rtl="0">
                        <a:spcBef>
                          <a:spcPts val="0"/>
                        </a:spcBef>
                        <a:spcAft>
                          <a:spcPts val="0"/>
                        </a:spcAft>
                        <a:buNone/>
                      </a:pPr>
                      <a:r>
                        <a:rPr lang="en" sz="1600" b="1"/>
                        <a:t>B</a:t>
                      </a:r>
                      <a:endParaRPr sz="1600" b="1"/>
                    </a:p>
                  </a:txBody>
                  <a:tcPr marL="91425" marR="91425" marT="91425" marB="91425">
                    <a:solidFill>
                      <a:srgbClr val="4A86E8"/>
                    </a:solidFill>
                  </a:tcPr>
                </a:tc>
                <a:tc>
                  <a:txBody>
                    <a:bodyPr/>
                    <a:lstStyle/>
                    <a:p>
                      <a:pPr marL="0" lvl="0" indent="0" algn="ctr" rtl="0">
                        <a:spcBef>
                          <a:spcPts val="0"/>
                        </a:spcBef>
                        <a:spcAft>
                          <a:spcPts val="0"/>
                        </a:spcAft>
                        <a:buNone/>
                      </a:pPr>
                      <a:r>
                        <a:rPr lang="en" sz="1600" b="1"/>
                        <a:t>A or B</a:t>
                      </a:r>
                      <a:endParaRPr sz="1600" b="1"/>
                    </a:p>
                  </a:txBody>
                  <a:tcPr marL="91425" marR="91425" marT="91425" marB="91425">
                    <a:solidFill>
                      <a:srgbClr val="4A86E8"/>
                    </a:solidFill>
                  </a:tcPr>
                </a:tc>
                <a:extLst>
                  <a:ext uri="{0D108BD9-81ED-4DB2-BD59-A6C34878D82A}">
                    <a16:rowId xmlns:a16="http://schemas.microsoft.com/office/drawing/2014/main" val="10000"/>
                  </a:ext>
                </a:extLst>
              </a:tr>
              <a:tr h="3230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extLst>
                  <a:ext uri="{0D108BD9-81ED-4DB2-BD59-A6C34878D82A}">
                    <a16:rowId xmlns:a16="http://schemas.microsoft.com/office/drawing/2014/main" val="10001"/>
                  </a:ext>
                </a:extLst>
              </a:tr>
              <a:tr h="323000">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extLst>
                  <a:ext uri="{0D108BD9-81ED-4DB2-BD59-A6C34878D82A}">
                    <a16:rowId xmlns:a16="http://schemas.microsoft.com/office/drawing/2014/main" val="10002"/>
                  </a:ext>
                </a:extLst>
              </a:tr>
              <a:tr h="3230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0</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extLst>
                  <a:ext uri="{0D108BD9-81ED-4DB2-BD59-A6C34878D82A}">
                    <a16:rowId xmlns:a16="http://schemas.microsoft.com/office/drawing/2014/main" val="10003"/>
                  </a:ext>
                </a:extLst>
              </a:tr>
              <a:tr h="323000">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tc>
                  <a:txBody>
                    <a:bodyPr/>
                    <a:lstStyle/>
                    <a:p>
                      <a:pPr marL="0" lvl="0" indent="0" algn="ctr" rtl="0">
                        <a:spcBef>
                          <a:spcPts val="0"/>
                        </a:spcBef>
                        <a:spcAft>
                          <a:spcPts val="0"/>
                        </a:spcAft>
                        <a:buNone/>
                      </a:pPr>
                      <a:r>
                        <a:rPr lang="en"/>
                        <a:t>1</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Perceptron for OR gate</a:t>
            </a:r>
            <a:endParaRPr/>
          </a:p>
          <a:p>
            <a:pPr marL="0" lvl="0" indent="0" algn="l" rtl="0">
              <a:spcBef>
                <a:spcPts val="0"/>
              </a:spcBef>
              <a:spcAft>
                <a:spcPts val="0"/>
              </a:spcAft>
              <a:buNone/>
            </a:pPr>
            <a:endParaRPr/>
          </a:p>
        </p:txBody>
      </p:sp>
      <p:sp>
        <p:nvSpPr>
          <p:cNvPr id="254" name="Google Shape;25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pic>
        <p:nvPicPr>
          <p:cNvPr id="255" name="Google Shape;255;p40" title="Screenshot from 2025-10-15 13-15-59.png"/>
          <p:cNvPicPr preferRelativeResize="0"/>
          <p:nvPr/>
        </p:nvPicPr>
        <p:blipFill>
          <a:blip r:embed="rId3">
            <a:alphaModFix/>
          </a:blip>
          <a:stretch>
            <a:fillRect/>
          </a:stretch>
        </p:blipFill>
        <p:spPr>
          <a:xfrm>
            <a:off x="640080" y="1097280"/>
            <a:ext cx="7315200" cy="35388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Perceptron for OR gate</a:t>
            </a:r>
            <a:endParaRPr/>
          </a:p>
          <a:p>
            <a:pPr marL="0" lvl="0" indent="0" algn="l" rtl="0">
              <a:spcBef>
                <a:spcPts val="0"/>
              </a:spcBef>
              <a:spcAft>
                <a:spcPts val="0"/>
              </a:spcAft>
              <a:buNone/>
            </a:pPr>
            <a:endParaRPr/>
          </a:p>
        </p:txBody>
      </p:sp>
      <p:sp>
        <p:nvSpPr>
          <p:cNvPr id="261" name="Google Shape;261;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29</a:t>
            </a:fld>
            <a:endParaRPr/>
          </a:p>
        </p:txBody>
      </p:sp>
      <p:pic>
        <p:nvPicPr>
          <p:cNvPr id="262" name="Google Shape;262;p41" title="Screenshot from 2025-10-15 13-16-01.png"/>
          <p:cNvPicPr preferRelativeResize="0"/>
          <p:nvPr/>
        </p:nvPicPr>
        <p:blipFill>
          <a:blip r:embed="rId3">
            <a:alphaModFix/>
          </a:blip>
          <a:stretch>
            <a:fillRect/>
          </a:stretch>
        </p:blipFill>
        <p:spPr>
          <a:xfrm>
            <a:off x="640080" y="1097280"/>
            <a:ext cx="7315201" cy="34323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a:t>
            </a:r>
            <a:endParaRPr/>
          </a:p>
        </p:txBody>
      </p:sp>
      <p:sp>
        <p:nvSpPr>
          <p:cNvPr id="268" name="Google Shape;268;p42"/>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a:t>Represent OR gate using Perceptron. Compute the parameters of the perceptron. </a:t>
            </a:r>
            <a:endParaRPr/>
          </a:p>
          <a:p>
            <a:pPr marL="457200" lvl="0" indent="-355600" algn="l" rtl="0">
              <a:spcBef>
                <a:spcPts val="0"/>
              </a:spcBef>
              <a:spcAft>
                <a:spcPts val="0"/>
              </a:spcAft>
              <a:buSzPts val="2000"/>
              <a:buAutoNum type="arabicPeriod"/>
            </a:pPr>
            <a:r>
              <a:rPr lang="en"/>
              <a:t>Represent NOR gate using Perceptron. Compute the parameters of the perceptron. </a:t>
            </a:r>
            <a:endParaRPr/>
          </a:p>
          <a:p>
            <a:pPr marL="457200" lvl="0" indent="-355600" algn="l" rtl="0">
              <a:spcBef>
                <a:spcPts val="0"/>
              </a:spcBef>
              <a:spcAft>
                <a:spcPts val="0"/>
              </a:spcAft>
              <a:buSzPts val="2000"/>
              <a:buAutoNum type="arabicPeriod"/>
            </a:pPr>
            <a:r>
              <a:rPr lang="en"/>
              <a:t>Represent NAND gate using Perceptron. Compute the parameters of the perceptron. </a:t>
            </a:r>
            <a:endParaRPr/>
          </a:p>
          <a:p>
            <a:pPr marL="0" lvl="0" indent="0" algn="l" rtl="0">
              <a:spcBef>
                <a:spcPts val="1200"/>
              </a:spcBef>
              <a:spcAft>
                <a:spcPts val="1200"/>
              </a:spcAft>
              <a:buNone/>
            </a:pPr>
            <a:endParaRPr/>
          </a:p>
        </p:txBody>
      </p:sp>
      <p:sp>
        <p:nvSpPr>
          <p:cNvPr id="269" name="Google Shape;269;p42"/>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Perceptron Learning Algorithm</a:t>
            </a:r>
            <a:endParaRPr/>
          </a:p>
        </p:txBody>
      </p:sp>
      <p:sp>
        <p:nvSpPr>
          <p:cNvPr id="275" name="Google Shape;27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Learning Algorithm</a:t>
            </a:r>
            <a:endParaRPr/>
          </a:p>
        </p:txBody>
      </p:sp>
      <p:sp>
        <p:nvSpPr>
          <p:cNvPr id="281" name="Google Shape;28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32</a:t>
            </a:fld>
            <a:endParaRPr/>
          </a:p>
        </p:txBody>
      </p:sp>
      <p:pic>
        <p:nvPicPr>
          <p:cNvPr id="282" name="Google Shape;282;p44" title="Screenshot from 2025-10-15 13-16-04.png"/>
          <p:cNvPicPr preferRelativeResize="0"/>
          <p:nvPr/>
        </p:nvPicPr>
        <p:blipFill>
          <a:blip r:embed="rId3">
            <a:alphaModFix/>
          </a:blip>
          <a:stretch>
            <a:fillRect/>
          </a:stretch>
        </p:blipFill>
        <p:spPr>
          <a:xfrm>
            <a:off x="640080" y="1097280"/>
            <a:ext cx="7315201" cy="347328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Learning for NOT gate</a:t>
            </a:r>
            <a:endParaRPr/>
          </a:p>
        </p:txBody>
      </p:sp>
      <p:sp>
        <p:nvSpPr>
          <p:cNvPr id="288" name="Google Shape;28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pic>
        <p:nvPicPr>
          <p:cNvPr id="289" name="Google Shape;289;p45" title="Screenshot from 2025-10-15 13-16-07.png"/>
          <p:cNvPicPr preferRelativeResize="0"/>
          <p:nvPr/>
        </p:nvPicPr>
        <p:blipFill>
          <a:blip r:embed="rId3">
            <a:alphaModFix/>
          </a:blip>
          <a:stretch>
            <a:fillRect/>
          </a:stretch>
        </p:blipFill>
        <p:spPr>
          <a:xfrm>
            <a:off x="640080" y="1097280"/>
            <a:ext cx="7315200" cy="348966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Learning for NOT gate</a:t>
            </a:r>
            <a:endParaRPr/>
          </a:p>
        </p:txBody>
      </p:sp>
      <p:sp>
        <p:nvSpPr>
          <p:cNvPr id="295" name="Google Shape;295;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34</a:t>
            </a:fld>
            <a:endParaRPr/>
          </a:p>
        </p:txBody>
      </p:sp>
      <p:pic>
        <p:nvPicPr>
          <p:cNvPr id="296" name="Google Shape;296;p46" title="Screenshot from 2025-10-15 13-16-08.png"/>
          <p:cNvPicPr preferRelativeResize="0"/>
          <p:nvPr/>
        </p:nvPicPr>
        <p:blipFill>
          <a:blip r:embed="rId3">
            <a:alphaModFix/>
          </a:blip>
          <a:stretch>
            <a:fillRect/>
          </a:stretch>
        </p:blipFill>
        <p:spPr>
          <a:xfrm>
            <a:off x="640080" y="1097280"/>
            <a:ext cx="7315200" cy="353882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Learning for NOT gate</a:t>
            </a:r>
            <a:endParaRPr/>
          </a:p>
        </p:txBody>
      </p:sp>
      <p:sp>
        <p:nvSpPr>
          <p:cNvPr id="302" name="Google Shape;302;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35</a:t>
            </a:fld>
            <a:endParaRPr/>
          </a:p>
        </p:txBody>
      </p:sp>
      <p:pic>
        <p:nvPicPr>
          <p:cNvPr id="303" name="Google Shape;303;p47" title="Screenshot from 2025-10-15 13-16-11.png"/>
          <p:cNvPicPr preferRelativeResize="0"/>
          <p:nvPr/>
        </p:nvPicPr>
        <p:blipFill>
          <a:blip r:embed="rId3">
            <a:alphaModFix/>
          </a:blip>
          <a:stretch>
            <a:fillRect/>
          </a:stretch>
        </p:blipFill>
        <p:spPr>
          <a:xfrm>
            <a:off x="640080" y="1097280"/>
            <a:ext cx="7315199" cy="371526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XOR Problem</a:t>
            </a:r>
            <a:endParaRPr/>
          </a:p>
        </p:txBody>
      </p:sp>
      <p:sp>
        <p:nvSpPr>
          <p:cNvPr id="309" name="Google Shape;309;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pic>
        <p:nvPicPr>
          <p:cNvPr id="310" name="Google Shape;310;p48" title="Screenshot from 2025-10-15 12-11-09.png"/>
          <p:cNvPicPr preferRelativeResize="0"/>
          <p:nvPr/>
        </p:nvPicPr>
        <p:blipFill>
          <a:blip r:embed="rId3">
            <a:alphaModFix/>
          </a:blip>
          <a:stretch>
            <a:fillRect/>
          </a:stretch>
        </p:blipFill>
        <p:spPr>
          <a:xfrm>
            <a:off x="640080" y="1097280"/>
            <a:ext cx="7315200" cy="295028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Single Perceptron Fails on XOR</a:t>
            </a:r>
            <a:endParaRPr/>
          </a:p>
        </p:txBody>
      </p:sp>
      <p:sp>
        <p:nvSpPr>
          <p:cNvPr id="316" name="Google Shape;31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37</a:t>
            </a:fld>
            <a:endParaRPr/>
          </a:p>
        </p:txBody>
      </p:sp>
      <p:pic>
        <p:nvPicPr>
          <p:cNvPr id="317" name="Google Shape;317;p49" title="Screenshot from 2025-10-15 12-11-11.png"/>
          <p:cNvPicPr preferRelativeResize="0"/>
          <p:nvPr/>
        </p:nvPicPr>
        <p:blipFill>
          <a:blip r:embed="rId3">
            <a:alphaModFix/>
          </a:blip>
          <a:stretch>
            <a:fillRect/>
          </a:stretch>
        </p:blipFill>
        <p:spPr>
          <a:xfrm>
            <a:off x="640080" y="1097280"/>
            <a:ext cx="6858001" cy="35955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Demo Python Code</a:t>
            </a:r>
            <a:endParaRPr/>
          </a:p>
        </p:txBody>
      </p:sp>
      <p:sp>
        <p:nvSpPr>
          <p:cNvPr id="323" name="Google Shape;323;p50"/>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endParaRPr/>
          </a:p>
          <a:p>
            <a:pPr marL="0" lvl="0" indent="0" algn="l" rtl="0">
              <a:spcBef>
                <a:spcPts val="1200"/>
              </a:spcBef>
              <a:spcAft>
                <a:spcPts val="0"/>
              </a:spcAft>
              <a:buNone/>
            </a:pPr>
            <a:r>
              <a:rPr lang="en" u="sng">
                <a:solidFill>
                  <a:schemeClr val="hlink"/>
                </a:solidFill>
                <a:hlinkClick r:id="rId3"/>
              </a:rPr>
              <a:t>https://colab.research.google.com/drive/1DUVcOoUIWhl8GQKc6AWR1wi0LaMeNkgD?usp=sharing</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r>
              <a:rPr lang="en" sz="1900"/>
              <a:t>Student pl note:</a:t>
            </a:r>
            <a:endParaRPr sz="1900"/>
          </a:p>
          <a:p>
            <a:pPr marL="0" lvl="0" indent="0" algn="l" rtl="0">
              <a:spcBef>
                <a:spcPts val="1200"/>
              </a:spcBef>
              <a:spcAft>
                <a:spcPts val="1200"/>
              </a:spcAft>
              <a:buNone/>
            </a:pPr>
            <a:r>
              <a:rPr lang="en" sz="1900"/>
              <a:t>The Python notebook is shared for anyone who has access to the link and the access is restricted to use BITS email id. So pl do not access from non-BITS email id and send requests for access. </a:t>
            </a:r>
            <a:endParaRPr sz="1900"/>
          </a:p>
        </p:txBody>
      </p:sp>
      <p:sp>
        <p:nvSpPr>
          <p:cNvPr id="324" name="Google Shape;324;p5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Linearly Separable Data</a:t>
            </a:r>
            <a:endParaRPr/>
          </a:p>
        </p:txBody>
      </p:sp>
      <p:sp>
        <p:nvSpPr>
          <p:cNvPr id="330" name="Google Shape;330;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Linearly Separable Data</a:t>
            </a:r>
            <a:endParaRPr/>
          </a:p>
        </p:txBody>
      </p:sp>
      <p:sp>
        <p:nvSpPr>
          <p:cNvPr id="336" name="Google Shape;336;p52"/>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t>Two sets  data points are separable in a n-dimensional space if they can be separated by an (n-1) dimensional hyperplane.</a:t>
            </a:r>
            <a:endParaRPr b="1"/>
          </a:p>
          <a:p>
            <a:pPr marL="457200" lvl="0" indent="-355600" algn="l" rtl="0">
              <a:spcBef>
                <a:spcPts val="0"/>
              </a:spcBef>
              <a:spcAft>
                <a:spcPts val="0"/>
              </a:spcAft>
              <a:buSzPts val="2000"/>
              <a:buChar char="●"/>
            </a:pPr>
            <a:r>
              <a:rPr lang="en"/>
              <a:t>A straight line can be drawn to separate all the data examples belonging to class +1 from all the examples belonging to the class -1. Then the two-dimensional data are clearly linearly separable.</a:t>
            </a:r>
            <a:endParaRPr/>
          </a:p>
          <a:p>
            <a:pPr marL="457200" lvl="0" indent="-355600" algn="l" rtl="0">
              <a:spcBef>
                <a:spcPts val="0"/>
              </a:spcBef>
              <a:spcAft>
                <a:spcPts val="0"/>
              </a:spcAft>
              <a:buSzPts val="2000"/>
              <a:buChar char="●"/>
            </a:pPr>
            <a:r>
              <a:rPr lang="en"/>
              <a:t>An infinite number of straight lines can be drawn to separate the class +1 from the class -1.</a:t>
            </a:r>
            <a:endParaRPr/>
          </a:p>
        </p:txBody>
      </p:sp>
      <p:sp>
        <p:nvSpPr>
          <p:cNvPr id="337" name="Google Shape;337;p52"/>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Linearly vs Non-Linearly Separable Data</a:t>
            </a:r>
            <a:endParaRPr/>
          </a:p>
        </p:txBody>
      </p:sp>
      <p:sp>
        <p:nvSpPr>
          <p:cNvPr id="343" name="Google Shape;343;p5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41</a:t>
            </a:fld>
            <a:endParaRPr/>
          </a:p>
        </p:txBody>
      </p:sp>
      <p:pic>
        <p:nvPicPr>
          <p:cNvPr id="344" name="Google Shape;344;p53"/>
          <p:cNvPicPr preferRelativeResize="0"/>
          <p:nvPr/>
        </p:nvPicPr>
        <p:blipFill>
          <a:blip r:embed="rId3">
            <a:alphaModFix/>
          </a:blip>
          <a:stretch>
            <a:fillRect/>
          </a:stretch>
        </p:blipFill>
        <p:spPr>
          <a:xfrm>
            <a:off x="640080" y="1097280"/>
            <a:ext cx="7315201" cy="300972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for Linearly Separable Data</a:t>
            </a:r>
            <a:endParaRPr/>
          </a:p>
        </p:txBody>
      </p:sp>
      <p:sp>
        <p:nvSpPr>
          <p:cNvPr id="350" name="Google Shape;350;p5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42</a:t>
            </a:fld>
            <a:endParaRPr/>
          </a:p>
        </p:txBody>
      </p:sp>
      <p:sp>
        <p:nvSpPr>
          <p:cNvPr id="351" name="Google Shape;351;p54"/>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en" sz="1800"/>
              <a:t>Data</a:t>
            </a:r>
            <a:endParaRPr sz="1800"/>
          </a:p>
          <a:p>
            <a:pPr marL="914400" lvl="1" indent="-342900" algn="l" rtl="0">
              <a:lnSpc>
                <a:spcPct val="95000"/>
              </a:lnSpc>
              <a:spcBef>
                <a:spcPts val="0"/>
              </a:spcBef>
              <a:spcAft>
                <a:spcPts val="0"/>
              </a:spcAft>
              <a:buSzPts val="1800"/>
              <a:buChar char="○"/>
            </a:pPr>
            <a:r>
              <a:rPr lang="en"/>
              <a:t>Truth tables or set of examples</a:t>
            </a:r>
            <a:r>
              <a:rPr lang="en" sz="1800"/>
              <a:t> </a:t>
            </a:r>
            <a:endParaRPr sz="1800"/>
          </a:p>
          <a:p>
            <a:pPr marL="457200" lvl="0" indent="-342900" algn="l" rtl="0">
              <a:lnSpc>
                <a:spcPct val="95000"/>
              </a:lnSpc>
              <a:spcBef>
                <a:spcPts val="0"/>
              </a:spcBef>
              <a:spcAft>
                <a:spcPts val="0"/>
              </a:spcAft>
              <a:buSzPts val="1800"/>
              <a:buChar char="●"/>
            </a:pPr>
            <a:r>
              <a:rPr lang="en" sz="1800"/>
              <a:t>Model</a:t>
            </a:r>
            <a:endParaRPr sz="1800"/>
          </a:p>
          <a:p>
            <a:pPr marL="914400" lvl="1" indent="-342900" algn="l" rtl="0">
              <a:lnSpc>
                <a:spcPct val="95000"/>
              </a:lnSpc>
              <a:spcBef>
                <a:spcPts val="0"/>
              </a:spcBef>
              <a:spcAft>
                <a:spcPts val="0"/>
              </a:spcAft>
              <a:buSzPts val="1800"/>
              <a:buChar char="○"/>
            </a:pPr>
            <a:r>
              <a:rPr lang="en"/>
              <a:t>Perceptron</a:t>
            </a:r>
            <a:endParaRPr/>
          </a:p>
          <a:p>
            <a:pPr marL="914400" lvl="1" indent="-342900" algn="l" rtl="0">
              <a:lnSpc>
                <a:spcPct val="95000"/>
              </a:lnSpc>
              <a:spcBef>
                <a:spcPts val="0"/>
              </a:spcBef>
              <a:spcAft>
                <a:spcPts val="0"/>
              </a:spcAft>
              <a:buSzPts val="1800"/>
              <a:buChar char="○"/>
            </a:pPr>
            <a:r>
              <a:rPr lang="en"/>
              <a:t>Inputs x are the features or columns</a:t>
            </a:r>
            <a:endParaRPr/>
          </a:p>
          <a:p>
            <a:pPr marL="914400" lvl="1" indent="-342900" algn="l" rtl="0">
              <a:lnSpc>
                <a:spcPct val="95000"/>
              </a:lnSpc>
              <a:spcBef>
                <a:spcPts val="0"/>
              </a:spcBef>
              <a:spcAft>
                <a:spcPts val="0"/>
              </a:spcAft>
              <a:buSzPts val="1800"/>
              <a:buChar char="○"/>
            </a:pPr>
            <a:r>
              <a:rPr lang="en"/>
              <a:t>Target output t is the required label</a:t>
            </a:r>
            <a:endParaRPr sz="1800"/>
          </a:p>
          <a:p>
            <a:pPr marL="457200" lvl="0" indent="-342900" algn="l" rtl="0">
              <a:lnSpc>
                <a:spcPct val="95000"/>
              </a:lnSpc>
              <a:spcBef>
                <a:spcPts val="0"/>
              </a:spcBef>
              <a:spcAft>
                <a:spcPts val="0"/>
              </a:spcAft>
              <a:buSzPts val="1800"/>
              <a:buChar char="●"/>
            </a:pPr>
            <a:r>
              <a:rPr lang="en" sz="1800"/>
              <a:t>Objective Function</a:t>
            </a:r>
            <a:endParaRPr sz="1800"/>
          </a:p>
          <a:p>
            <a:pPr marL="914400" marR="0" lvl="1" indent="-342900" algn="l" rtl="0">
              <a:lnSpc>
                <a:spcPct val="95000"/>
              </a:lnSpc>
              <a:spcBef>
                <a:spcPts val="0"/>
              </a:spcBef>
              <a:spcAft>
                <a:spcPts val="0"/>
              </a:spcAft>
              <a:buSzPts val="1800"/>
              <a:buChar char="○"/>
            </a:pPr>
            <a:r>
              <a:rPr lang="en"/>
              <a:t>Deviation of desired output or target t and the computed output ŷ</a:t>
            </a:r>
            <a:endParaRPr/>
          </a:p>
          <a:p>
            <a:pPr marL="457200" lvl="0" indent="-342900" algn="l" rtl="0">
              <a:lnSpc>
                <a:spcPct val="95000"/>
              </a:lnSpc>
              <a:spcBef>
                <a:spcPts val="0"/>
              </a:spcBef>
              <a:spcAft>
                <a:spcPts val="0"/>
              </a:spcAft>
              <a:buSzPts val="1800"/>
              <a:buChar char="●"/>
            </a:pPr>
            <a:r>
              <a:rPr lang="en" sz="1800"/>
              <a:t>Learning Algorithm</a:t>
            </a:r>
            <a:endParaRPr sz="1800"/>
          </a:p>
          <a:p>
            <a:pPr marL="914400" lvl="1" indent="-342900" algn="l" rtl="0">
              <a:lnSpc>
                <a:spcPct val="95000"/>
              </a:lnSpc>
              <a:spcBef>
                <a:spcPts val="0"/>
              </a:spcBef>
              <a:spcAft>
                <a:spcPts val="0"/>
              </a:spcAft>
              <a:buSzPts val="1800"/>
              <a:buChar char="○"/>
            </a:pPr>
            <a:r>
              <a:rPr lang="en"/>
              <a:t>Perceptron Learning algorithm</a:t>
            </a:r>
            <a:endParaRPr sz="1800"/>
          </a:p>
          <a:p>
            <a:pPr marL="457200" lvl="0" indent="-342900" algn="l" rtl="0">
              <a:lnSpc>
                <a:spcPct val="95000"/>
              </a:lnSpc>
              <a:spcBef>
                <a:spcPts val="0"/>
              </a:spcBef>
              <a:spcAft>
                <a:spcPts val="0"/>
              </a:spcAft>
              <a:buSzPts val="1800"/>
              <a:buChar char="●"/>
            </a:pPr>
            <a:r>
              <a:rPr lang="en" sz="1800"/>
              <a:t>Challenge</a:t>
            </a:r>
            <a:endParaRPr sz="1800"/>
          </a:p>
          <a:p>
            <a:pPr marL="914400" lvl="1" indent="-342900" algn="l" rtl="0">
              <a:lnSpc>
                <a:spcPct val="95000"/>
              </a:lnSpc>
              <a:spcBef>
                <a:spcPts val="0"/>
              </a:spcBef>
              <a:spcAft>
                <a:spcPts val="0"/>
              </a:spcAft>
              <a:buSzPts val="1800"/>
              <a:buChar char="○"/>
            </a:pPr>
            <a:r>
              <a:rPr lang="en"/>
              <a:t>How to learn these n + 1 parameters w</a:t>
            </a:r>
            <a:r>
              <a:rPr lang="en" baseline="-25000"/>
              <a:t>0</a:t>
            </a:r>
            <a:r>
              <a:rPr lang="en"/>
              <a:t> , w</a:t>
            </a:r>
            <a:r>
              <a:rPr lang="en" baseline="-25000"/>
              <a:t>1</a:t>
            </a:r>
            <a:r>
              <a:rPr lang="en"/>
              <a:t> . w</a:t>
            </a:r>
            <a:r>
              <a:rPr lang="en" baseline="-25000"/>
              <a:t>2</a:t>
            </a:r>
            <a:r>
              <a:rPr lang="en"/>
              <a:t> . . . w</a:t>
            </a:r>
            <a:r>
              <a:rPr lang="en" baseline="-25000"/>
              <a:t>n</a:t>
            </a:r>
            <a:r>
              <a:rPr lang="en"/>
              <a:t> ?</a:t>
            </a:r>
            <a:endParaRPr sz="1800"/>
          </a:p>
          <a:p>
            <a:pPr marL="457200" lvl="0" indent="-342900" algn="l" rtl="0">
              <a:lnSpc>
                <a:spcPct val="95000"/>
              </a:lnSpc>
              <a:spcBef>
                <a:spcPts val="0"/>
              </a:spcBef>
              <a:spcAft>
                <a:spcPts val="0"/>
              </a:spcAft>
              <a:buSzPts val="1800"/>
              <a:buChar char="●"/>
            </a:pPr>
            <a:r>
              <a:rPr lang="en" sz="1800"/>
              <a:t>Solution</a:t>
            </a:r>
            <a:endParaRPr sz="1800"/>
          </a:p>
          <a:p>
            <a:pPr marL="914400" lvl="1" indent="-342900" algn="l" rtl="0">
              <a:lnSpc>
                <a:spcPct val="95000"/>
              </a:lnSpc>
              <a:spcBef>
                <a:spcPts val="0"/>
              </a:spcBef>
              <a:spcAft>
                <a:spcPts val="0"/>
              </a:spcAft>
              <a:buSzPts val="1800"/>
              <a:buChar char="○"/>
            </a:pPr>
            <a:r>
              <a:rPr lang="en"/>
              <a:t>Use Perceptron learning algorithm.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Perceptron for Linearly Separable Data</a:t>
            </a:r>
            <a:endParaRPr/>
          </a:p>
        </p:txBody>
      </p:sp>
      <p:sp>
        <p:nvSpPr>
          <p:cNvPr id="357" name="Google Shape;357;p5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43</a:t>
            </a:fld>
            <a:endParaRPr/>
          </a:p>
        </p:txBody>
      </p:sp>
      <p:pic>
        <p:nvPicPr>
          <p:cNvPr id="358" name="Google Shape;358;p55" title="Screenshot from 2025-10-15 13-16-22.png"/>
          <p:cNvPicPr preferRelativeResize="0"/>
          <p:nvPr/>
        </p:nvPicPr>
        <p:blipFill>
          <a:blip r:embed="rId3">
            <a:alphaModFix/>
          </a:blip>
          <a:stretch>
            <a:fillRect/>
          </a:stretch>
        </p:blipFill>
        <p:spPr>
          <a:xfrm>
            <a:off x="640080" y="1097280"/>
            <a:ext cx="7315199" cy="327346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a:t>
            </a:r>
            <a:endParaRPr/>
          </a:p>
        </p:txBody>
      </p:sp>
      <p:sp>
        <p:nvSpPr>
          <p:cNvPr id="364" name="Google Shape;364;p56"/>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a:t>Represent OR gate using Perceptron. Compute the parameters of the perceptron using perceptron learning algorithm.</a:t>
            </a:r>
            <a:endParaRPr/>
          </a:p>
          <a:p>
            <a:pPr marL="457200" lvl="0" indent="-355600" algn="l" rtl="0">
              <a:spcBef>
                <a:spcPts val="0"/>
              </a:spcBef>
              <a:spcAft>
                <a:spcPts val="0"/>
              </a:spcAft>
              <a:buSzPts val="2000"/>
              <a:buAutoNum type="arabicPeriod"/>
            </a:pPr>
            <a:r>
              <a:rPr lang="en"/>
              <a:t>Represent AND gate using Perceptron. Compute the parameters of the perceptron using perceptron learning algorithm. </a:t>
            </a:r>
            <a:endParaRPr/>
          </a:p>
          <a:p>
            <a:pPr marL="457200" lvl="0" indent="-355600" algn="l" rtl="0">
              <a:spcBef>
                <a:spcPts val="0"/>
              </a:spcBef>
              <a:spcAft>
                <a:spcPts val="0"/>
              </a:spcAft>
              <a:buSzPts val="2000"/>
              <a:buAutoNum type="arabicPeriod"/>
            </a:pPr>
            <a:r>
              <a:rPr lang="en"/>
              <a:t>Represent NOR gate using Perceptron. Compute the parameters of the perceptron using perceptron learning algorithm.</a:t>
            </a:r>
            <a:endParaRPr/>
          </a:p>
          <a:p>
            <a:pPr marL="457200" lvl="0" indent="-355600" algn="l" rtl="0">
              <a:spcBef>
                <a:spcPts val="0"/>
              </a:spcBef>
              <a:spcAft>
                <a:spcPts val="0"/>
              </a:spcAft>
              <a:buSzPts val="2000"/>
              <a:buAutoNum type="arabicPeriod"/>
            </a:pPr>
            <a:r>
              <a:rPr lang="en"/>
              <a:t>Represent NAND gate using Perceptron. Compute the parameters of the perceptron using perceptron learning algorithm.</a:t>
            </a:r>
            <a:endParaRPr/>
          </a:p>
          <a:p>
            <a:pPr marL="457200" lvl="0" indent="-355600" algn="l" rtl="0">
              <a:spcBef>
                <a:spcPts val="0"/>
              </a:spcBef>
              <a:spcAft>
                <a:spcPts val="0"/>
              </a:spcAft>
              <a:buSzPts val="2000"/>
              <a:buAutoNum type="arabicPeriod"/>
            </a:pPr>
            <a:r>
              <a:rPr lang="en"/>
              <a:t>Implement a perceptron for AND and OR gates</a:t>
            </a:r>
            <a:endParaRPr/>
          </a:p>
          <a:p>
            <a:pPr marL="457200" lvl="0" indent="-355600" algn="l" rtl="0">
              <a:spcBef>
                <a:spcPts val="0"/>
              </a:spcBef>
              <a:spcAft>
                <a:spcPts val="0"/>
              </a:spcAft>
              <a:buSzPts val="2000"/>
              <a:buAutoNum type="arabicPeriod"/>
            </a:pPr>
            <a:r>
              <a:rPr lang="en"/>
              <a:t>Sketch decision boundaries for Single perceptron</a:t>
            </a:r>
            <a:endParaRPr/>
          </a:p>
        </p:txBody>
      </p:sp>
      <p:sp>
        <p:nvSpPr>
          <p:cNvPr id="365" name="Google Shape;365;p5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Key Concepts</a:t>
            </a:r>
            <a:endParaRPr/>
          </a:p>
        </p:txBody>
      </p:sp>
      <p:sp>
        <p:nvSpPr>
          <p:cNvPr id="371" name="Google Shape;371;p57"/>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t>Neural Network</a:t>
            </a:r>
            <a:r>
              <a:rPr lang="en"/>
              <a:t>: Biological inspiration and mathematical models</a:t>
            </a:r>
            <a:endParaRPr/>
          </a:p>
          <a:p>
            <a:pPr marL="457200" lvl="0" indent="-355600" algn="l" rtl="0">
              <a:spcBef>
                <a:spcPts val="0"/>
              </a:spcBef>
              <a:spcAft>
                <a:spcPts val="0"/>
              </a:spcAft>
              <a:buSzPts val="2000"/>
              <a:buChar char="●"/>
            </a:pPr>
            <a:r>
              <a:rPr lang="en" b="1"/>
              <a:t>Perceptron</a:t>
            </a:r>
            <a:r>
              <a:rPr lang="en"/>
              <a:t>: Simplest neural unit, linear classification, learning algorithm</a:t>
            </a:r>
            <a:endParaRPr/>
          </a:p>
          <a:p>
            <a:pPr marL="457200" lvl="0" indent="-355600" algn="l" rtl="0">
              <a:spcBef>
                <a:spcPts val="0"/>
              </a:spcBef>
              <a:spcAft>
                <a:spcPts val="0"/>
              </a:spcAft>
              <a:buSzPts val="2000"/>
              <a:buChar char="●"/>
            </a:pPr>
            <a:r>
              <a:rPr lang="en" b="1"/>
              <a:t>XOR Problem</a:t>
            </a:r>
            <a:r>
              <a:rPr lang="en"/>
              <a:t>: Limitation of linear models, need for hidden layers</a:t>
            </a:r>
            <a:endParaRPr/>
          </a:p>
          <a:p>
            <a:pPr marL="457200" lvl="0" indent="-355600" algn="l" rtl="0">
              <a:spcBef>
                <a:spcPts val="0"/>
              </a:spcBef>
              <a:spcAft>
                <a:spcPts val="0"/>
              </a:spcAft>
              <a:buSzPts val="2000"/>
              <a:buChar char="●"/>
            </a:pPr>
            <a:r>
              <a:rPr lang="en" b="1"/>
              <a:t>Learning Paradigms</a:t>
            </a:r>
            <a:r>
              <a:rPr lang="en"/>
              <a:t>: Supervised, unsupervised, reinforcement learning</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372" name="Google Shape;372;p5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46</a:t>
            </a:fld>
            <a:endParaRPr/>
          </a:p>
        </p:txBody>
      </p:sp>
      <p:sp>
        <p:nvSpPr>
          <p:cNvPr id="378" name="Google Shape;378;p5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379" name="Google Shape;379;p58"/>
          <p:cNvSpPr txBox="1">
            <a:spLocks noGrp="1"/>
          </p:cNvSpPr>
          <p:nvPr>
            <p:ph type="body" idx="1"/>
          </p:nvPr>
        </p:nvSpPr>
        <p:spPr>
          <a:xfrm>
            <a:off x="311700" y="1018475"/>
            <a:ext cx="8520600" cy="3895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a:t>Zhang et al. "Dive into Deep Learning" - Chapter 1 https://d2l.ai/</a:t>
            </a:r>
            <a:endParaRPr/>
          </a:p>
          <a:p>
            <a:pPr marL="457200" lvl="0" indent="-355600" algn="l" rtl="0">
              <a:spcBef>
                <a:spcPts val="0"/>
              </a:spcBef>
              <a:spcAft>
                <a:spcPts val="0"/>
              </a:spcAft>
              <a:buSzPts val="2000"/>
              <a:buAutoNum type="arabicPeriod"/>
            </a:pPr>
            <a:r>
              <a:rPr lang="en"/>
              <a:t>http://mlsp.cs.cmu.edu/people/rsingh/docs/Chapter1_Introduction.pdf</a:t>
            </a:r>
            <a:endParaRPr/>
          </a:p>
          <a:p>
            <a:pPr marL="457200" lvl="0" indent="-355600" algn="l" rtl="0">
              <a:spcBef>
                <a:spcPts val="0"/>
              </a:spcBef>
              <a:spcAft>
                <a:spcPts val="0"/>
              </a:spcAft>
              <a:buSzPts val="2000"/>
              <a:buAutoNum type="arabicPeriod"/>
            </a:pPr>
            <a:r>
              <a:rPr lang="en"/>
              <a:t>Goodfellow, Bengio, Courville - "Deep Learning" Chapters 1-6</a:t>
            </a:r>
            <a:endParaRPr/>
          </a:p>
          <a:p>
            <a:pPr marL="457200" lvl="0" indent="-355600" algn="l" rtl="0">
              <a:spcBef>
                <a:spcPts val="0"/>
              </a:spcBef>
              <a:spcAft>
                <a:spcPts val="0"/>
              </a:spcAft>
              <a:buSzPts val="2000"/>
              <a:buAutoNum type="arabicPeriod"/>
            </a:pPr>
            <a:r>
              <a:rPr lang="en"/>
              <a:t>Rosenblatt, F. (1958) - "The Perceptron: A Probabilistic Model”</a:t>
            </a:r>
            <a:endParaRPr/>
          </a:p>
          <a:p>
            <a:pPr marL="457200" lvl="0" indent="-355600" algn="l" rtl="0">
              <a:spcBef>
                <a:spcPts val="0"/>
              </a:spcBef>
              <a:spcAft>
                <a:spcPts val="0"/>
              </a:spcAft>
              <a:buSzPts val="2000"/>
              <a:buAutoNum type="arabicPeriod"/>
            </a:pPr>
            <a:r>
              <a:rPr lang="en"/>
              <a:t>Minsky &amp; Papert (1969) - "Perceptrons" (Historical perspective)</a:t>
            </a:r>
            <a:endParaRPr/>
          </a:p>
          <a:p>
            <a:pPr marL="0" lvl="0" indent="0" algn="l" rtl="0">
              <a:spcBef>
                <a:spcPts val="1200"/>
              </a:spcBef>
              <a:spcAft>
                <a:spcPts val="0"/>
              </a:spcAft>
              <a:buNone/>
            </a:pPr>
            <a:endParaRPr/>
          </a:p>
          <a:p>
            <a:pPr marL="0" lvl="0" indent="0" algn="ctr" rtl="0">
              <a:spcBef>
                <a:spcPts val="1200"/>
              </a:spcBef>
              <a:spcAft>
                <a:spcPts val="1200"/>
              </a:spcAft>
              <a:buNone/>
            </a:pPr>
            <a:r>
              <a:rPr lang="en" sz="2700"/>
              <a:t>Thank You :)</a:t>
            </a:r>
            <a:endParaRPr sz="27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3389</Words>
  <Application>Microsoft Office PowerPoint</Application>
  <PresentationFormat>On-screen Show (16:9)</PresentationFormat>
  <Paragraphs>309</Paragraphs>
  <Slides>46</Slides>
  <Notes>46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46</vt:i4>
      </vt:variant>
    </vt:vector>
  </HeadingPairs>
  <TitlesOfParts>
    <vt:vector size="48" baseType="lpstr">
      <vt:lpstr>Arial</vt:lpstr>
      <vt:lpstr>Simple Light</vt:lpstr>
      <vt:lpstr>Deep Neural Network</vt:lpstr>
      <vt:lpstr>The author of this deck, Prof. Seetha Parameswaran, is gratefully acknowledging the authors who made their course materials freely available online.</vt:lpstr>
      <vt:lpstr>Artificial Neural Network</vt:lpstr>
      <vt:lpstr>How do Humans Learn?</vt:lpstr>
      <vt:lpstr>Observation: The Brain</vt:lpstr>
      <vt:lpstr>Brain: Interconnected Neurons</vt:lpstr>
      <vt:lpstr>Biological Neuron </vt:lpstr>
      <vt:lpstr>Artificial Neuron</vt:lpstr>
      <vt:lpstr>What are Artificial Neurons?</vt:lpstr>
      <vt:lpstr>Artificial Neuron N</vt:lpstr>
      <vt:lpstr>Artificial Neuron – Mathematical Computation</vt:lpstr>
      <vt:lpstr>Comparison: Biological vs Artificial Neurons</vt:lpstr>
      <vt:lpstr>Artificial Neural Network (ANN)</vt:lpstr>
      <vt:lpstr>What are Artificial Neural Networks? </vt:lpstr>
      <vt:lpstr>Properties of  Artificial Neural Network</vt:lpstr>
      <vt:lpstr>When to consider Artificial Neural Networks?</vt:lpstr>
      <vt:lpstr>Connectionist Machines</vt:lpstr>
      <vt:lpstr>Connectionism Principles</vt:lpstr>
      <vt:lpstr>Perceptron</vt:lpstr>
      <vt:lpstr>Perceptron</vt:lpstr>
      <vt:lpstr>Perceptron</vt:lpstr>
      <vt:lpstr>Perceptron &amp; Logic Gates</vt:lpstr>
      <vt:lpstr>Representing Logic Gates using Perceptron</vt:lpstr>
      <vt:lpstr>AND Logic Gate</vt:lpstr>
      <vt:lpstr>Perceptron for AND gate</vt:lpstr>
      <vt:lpstr>Perceptron for AND gate </vt:lpstr>
      <vt:lpstr>OR Logic Gate</vt:lpstr>
      <vt:lpstr>Perceptron for OR gate </vt:lpstr>
      <vt:lpstr>Perceptron for OR gate </vt:lpstr>
      <vt:lpstr>Exercise</vt:lpstr>
      <vt:lpstr>Perceptron Learning Algorithm</vt:lpstr>
      <vt:lpstr>Perceptron Learning Algorithm</vt:lpstr>
      <vt:lpstr>Perceptron Learning for NOT gate</vt:lpstr>
      <vt:lpstr>Perceptron Learning for NOT gate</vt:lpstr>
      <vt:lpstr>Perceptron Learning for NOT gate</vt:lpstr>
      <vt:lpstr>The XOR Problem</vt:lpstr>
      <vt:lpstr>Why Single Perceptron Fails on XOR</vt:lpstr>
      <vt:lpstr>Perceptron Demo Python Code</vt:lpstr>
      <vt:lpstr>Linearly Separable Data</vt:lpstr>
      <vt:lpstr>Linearly Separable Data</vt:lpstr>
      <vt:lpstr>Linearly vs Non-Linearly Separable Data</vt:lpstr>
      <vt:lpstr>Perceptron for Linearly Separable Data</vt:lpstr>
      <vt:lpstr>Perceptron for Linearly Separable Data</vt:lpstr>
      <vt:lpstr>Exercise</vt:lpstr>
      <vt:lpstr>Key Concepts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vishali sivalenka</cp:lastModifiedBy>
  <cp:revision>3</cp:revision>
  <dcterms:modified xsi:type="dcterms:W3CDTF">2025-11-09T04:48:06Z</dcterms:modified>
</cp:coreProperties>
</file>