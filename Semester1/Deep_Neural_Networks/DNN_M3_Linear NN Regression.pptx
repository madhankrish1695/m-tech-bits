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5765800" cy="3244850"/>
  <p:notesSz cx="5765800" cy="3244850"/>
  <p:embeddedFontLst>
    <p:embeddedFont>
      <p:font typeface="Cambria" panose="02040503050406030204" pitchFamily="18" charset="0"/>
      <p:regular r:id="rId49"/>
      <p:bold r:id="rId50"/>
      <p:italic r:id="rId51"/>
      <p:boldItalic r:id="rId52"/>
    </p:embeddedFont>
    <p:embeddedFont>
      <p:font typeface="Cambria Math" panose="02040503050406030204" pitchFamily="18" charset="0"/>
      <p:regular r:id="rId53"/>
    </p:embeddedFont>
    <p:embeddedFont>
      <p:font typeface="Georgia" panose="02040502050405020303" pitchFamily="18" charset="0"/>
      <p:regular r:id="rId54"/>
      <p:bold r:id="rId55"/>
      <p:italic r:id="rId56"/>
      <p:boldItalic r:id="rId57"/>
    </p:embeddedFont>
    <p:embeddedFont>
      <p:font typeface="Lucida Sans" panose="020B0602030504020204" pitchFamily="34" charset="0"/>
      <p:regular r:id="rId58"/>
      <p:bold r:id="rId59"/>
      <p:italic r:id="rId60"/>
      <p:boldItalic r:id="rId61"/>
    </p:embeddedFont>
    <p:embeddedFont>
      <p:font typeface="Tahoma" panose="020B0604030504040204" pitchFamily="34" charset="0"/>
      <p:regular r:id="rId62"/>
      <p:bold r:id="rId63"/>
    </p:embeddedFont>
    <p:embeddedFont>
      <p:font typeface="Verdana" panose="020B0604030504040204" pitchFamily="34"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5CBA27-72C7-434D-87B0-B6F36C1D0E5A}">
  <a:tblStyle styleId="{B25CBA27-72C7-434D-87B0-B6F36C1D0E5A}"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348" autoAdjust="0"/>
  </p:normalViewPr>
  <p:slideViewPr>
    <p:cSldViewPr snapToGrid="0">
      <p:cViewPr varScale="1">
        <p:scale>
          <a:sx n="125" d="100"/>
          <a:sy n="125" d="100"/>
        </p:scale>
        <p:origin x="1483" y="7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google.com/search?sca_esv=e095f87150e1c090&amp;sxsrf=AE3TifOibo4dGfUvLRxtGOCtCdR_wB7ahA%3A1763266442726&amp;q=partial+derivatives&amp;sa=X&amp;ved=2ahUKEwii6tmv5_WQAxV_yTgGHfxxKUgQxccNegQIEhAB&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www.google.com/search?sca_esv=e095f87150e1c090&amp;sxsrf=AE3TifOibo4dGfUvLRxtGOCtCdR_wB7ahA%3A1763266442726&amp;q=gradient+descent&amp;sa=X&amp;ved=2ahUKEwii6tmv5_WQAxV_yTgGHfxxKUgQxccNegQIERAB&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5" Type="http://schemas.openxmlformats.org/officeDocument/2006/relationships/hyperlink" Target="https://www.google.com/search?sca_esv=e095f87150e1c090&amp;sxsrf=AE3TifOibo4dGfUvLRxtGOCtCdR_wB7ahA%3A1763266442726&amp;q=biases&amp;sa=X&amp;ved=2ahUKEwii6tmv5_WQAxV_yTgGHfxxKUgQxccNegQIEhAD&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4" Type="http://schemas.openxmlformats.org/officeDocument/2006/relationships/hyperlink" Target="https://www.google.com/search?sca_esv=e095f87150e1c090&amp;sxsrf=AE3TifOibo4dGfUvLRxtGOCtCdR_wB7ahA%3A1763266442726&amp;q=weights&amp;sa=X&amp;ved=2ahUKEwii6tmv5_WQAxV_yTgGHfxxKUgQxccNegQIEhAC&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1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1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p1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1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p1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p1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26" name="Google Shape;426;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squared error loss, commonly known as Mean Squared Error (MSE), is a widely used objective function in neural networks, particularly for regression tasks where the goal is to predict continuous numerical values.</a:t>
                </a:r>
              </a:p>
              <a:p>
                <a:r>
                  <a:rPr lang="en-US" sz="1100" b="1" i="0" u="none" strike="noStrike" cap="none" dirty="0">
                    <a:solidFill>
                      <a:srgbClr val="000000"/>
                    </a:solidFill>
                    <a:effectLst/>
                    <a:latin typeface="Arial"/>
                    <a:ea typeface="Arial"/>
                    <a:cs typeface="Arial"/>
                    <a:sym typeface="Arial"/>
                  </a:rPr>
                  <a:t>Definition and Calculation:</a:t>
                </a:r>
              </a:p>
              <a:p>
                <a:r>
                  <a:rPr lang="en-US" sz="1100" b="0" i="0" u="none" strike="noStrike" cap="none" dirty="0">
                    <a:solidFill>
                      <a:srgbClr val="000000"/>
                    </a:solidFill>
                    <a:effectLst/>
                    <a:latin typeface="Arial"/>
                    <a:ea typeface="Arial"/>
                    <a:cs typeface="Arial"/>
                    <a:sym typeface="Arial"/>
                  </a:rPr>
                  <a:t>The MSE loss quantifies the average of the squared differences between the predicted output of the neural network and the true, or actual, target values. </a:t>
                </a:r>
                <a:endParaRPr lang="en-US" sz="1100" b="1"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Differentiable: </a:t>
                </a:r>
                <a:r>
                  <a:rPr lang="en-US" sz="1100" b="0" i="0" u="none" strike="noStrike" cap="none" dirty="0">
                    <a:solidFill>
                      <a:srgbClr val="000000"/>
                    </a:solidFill>
                    <a:effectLst/>
                    <a:latin typeface="Arial"/>
                    <a:ea typeface="Arial"/>
                    <a:cs typeface="Arial"/>
                    <a:sym typeface="Arial"/>
                  </a:rPr>
                  <a:t>This allows for the efficient calculation of gradients needed to update the network's parameters.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Convexity:</a:t>
                </a:r>
                <a:r>
                  <a:rPr lang="en-US" sz="1100" b="0" i="0" u="none" strike="noStrike" cap="none" dirty="0">
                    <a:solidFill>
                      <a:srgbClr val="000000"/>
                    </a:solidFill>
                    <a:effectLst/>
                    <a:latin typeface="Arial"/>
                    <a:ea typeface="Arial"/>
                    <a:cs typeface="Arial"/>
                    <a:sym typeface="Arial"/>
                  </a:rPr>
                  <a:t> F</a:t>
                </a:r>
                <a:r>
                  <a:rPr lang="en-US" dirty="0"/>
                  <a:t>For a given set of </a:t>
                </a:r>
                <a:r>
                  <a:rPr lang="en-US" dirty="0">
                    <a:effectLst/>
                  </a:rPr>
                  <a:t>𝑁 </a:t>
                </a:r>
                <a:r>
                  <a:rPr lang="en-US" dirty="0"/>
                  <a:t>data points, where </a:t>
                </a:r>
                <a:r>
                  <a:rPr lang="en-US" dirty="0" err="1"/>
                  <a:t>y</a:t>
                </a:r>
                <a:r>
                  <a:rPr lang="en-US" sz="1100" b="0" i="0" u="none" strike="noStrike" cap="none" dirty="0" err="1">
                    <a:solidFill>
                      <a:srgbClr val="000000"/>
                    </a:solidFill>
                    <a:effectLst/>
                    <a:latin typeface="Arial"/>
                    <a:ea typeface="Arial"/>
                    <a:cs typeface="Arial"/>
                    <a:sym typeface="Arial"/>
                  </a:rPr>
                  <a:t>i</a:t>
                </a:r>
                <a:r>
                  <a:rPr lang="en-US" sz="1100" b="0" i="0" u="none" strike="noStrike" cap="none" dirty="0">
                    <a:solidFill>
                      <a:srgbClr val="000000"/>
                    </a:solidFill>
                    <a:effectLst/>
                    <a:latin typeface="Arial"/>
                    <a:ea typeface="Arial"/>
                    <a:cs typeface="Arial"/>
                    <a:sym typeface="Arial"/>
                  </a:rPr>
                  <a:t> </a:t>
                </a:r>
                <a:r>
                  <a:rPr lang="en-IN" dirty="0"/>
                  <a:t>represents the true value and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acc>
                          <m:accPr>
                            <m:chr m:val="̂"/>
                            <m:ctrlPr>
                              <a:rPr lang="ar-AE" sz="1100" b="0" i="1" u="none" strike="noStrike" cap="none">
                                <a:solidFill>
                                  <a:srgbClr val="000000"/>
                                </a:solidFill>
                                <a:latin typeface="Cambria Math" panose="02040503050406030204" pitchFamily="18" charset="0"/>
                                <a:ea typeface="Arial"/>
                                <a:cs typeface="Arial"/>
                                <a:sym typeface="Arial"/>
                              </a:rPr>
                            </m:ctrlPr>
                          </m:accPr>
                          <m:e>
                            <m:r>
                              <a:rPr lang="ar-AE" sz="1100" b="0" i="1" u="none" strike="noStrike" cap="none">
                                <a:solidFill>
                                  <a:srgbClr val="000000"/>
                                </a:solidFill>
                                <a:latin typeface="Cambria Math" panose="02040503050406030204" pitchFamily="18" charset="0"/>
                                <a:ea typeface="Arial"/>
                                <a:cs typeface="Arial"/>
                                <a:sym typeface="Arial"/>
                              </a:rPr>
                              <m:t>𝑦</m:t>
                            </m:r>
                          </m:e>
                        </m:acc>
                      </m:e>
                      <m:sub>
                        <m:r>
                          <a:rPr lang="ar-AE" sz="1100" b="0" i="1" u="none" strike="noStrike" cap="none">
                            <a:solidFill>
                              <a:srgbClr val="000000"/>
                            </a:solidFill>
                            <a:latin typeface="Cambria Math" panose="02040503050406030204" pitchFamily="18" charset="0"/>
                            <a:ea typeface="Arial"/>
                            <a:cs typeface="Arial"/>
                            <a:sym typeface="Arial"/>
                          </a:rPr>
                          <m:t>𝑖</m:t>
                        </m:r>
                      </m:sub>
                    </m:sSub>
                  </m:oMath>
                </a14:m>
                <a:r>
                  <a:rPr lang="en-US" dirty="0">
                    <a:effectLst/>
                  </a:rPr>
                  <a:t> </a:t>
                </a:r>
                <a:r>
                  <a:rPr lang="en-IN" dirty="0"/>
                  <a:t>represents the predicted value for the </a:t>
                </a:r>
                <a:r>
                  <a:rPr lang="en-IN" dirty="0">
                    <a:effectLst/>
                  </a:rPr>
                  <a:t>𝑖</a:t>
                </a:r>
                <a:r>
                  <a:rPr lang="en-IN" dirty="0"/>
                  <a:t>-</a:t>
                </a:r>
                <a:r>
                  <a:rPr lang="en-IN" dirty="0" err="1"/>
                  <a:t>th</a:t>
                </a:r>
                <a:r>
                  <a:rPr lang="en-IN" dirty="0"/>
                  <a:t> data point</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or many simpler models, MSE can be a convex function, meaning there is a single global minimum that optimization algorithms can reliably find.</a:t>
                </a:r>
              </a:p>
              <a:p>
                <a:r>
                  <a:rPr lang="en-US" sz="1100" b="1" i="0" u="none" strike="noStrike" cap="none" dirty="0">
                    <a:solidFill>
                      <a:srgbClr val="000000"/>
                    </a:solidFill>
                    <a:effectLst/>
                    <a:latin typeface="Arial"/>
                    <a:ea typeface="Arial"/>
                    <a:cs typeface="Arial"/>
                    <a:sym typeface="Arial"/>
                  </a:rPr>
                  <a:t>Smoothness:</a:t>
                </a:r>
                <a:r>
                  <a:rPr lang="en-US" sz="1100" b="0" i="0" u="none" strike="noStrike" cap="none" dirty="0">
                    <a:solidFill>
                      <a:srgbClr val="000000"/>
                    </a:solidFill>
                    <a:effectLst/>
                    <a:latin typeface="Arial"/>
                    <a:ea typeface="Arial"/>
                    <a:cs typeface="Arial"/>
                    <a:sym typeface="Arial"/>
                  </a:rPr>
                  <a:t> Its smooth nature facilitates the optimization process.</a:t>
                </a:r>
              </a:p>
              <a:p>
                <a:pPr marL="0" lvl="0" indent="0" algn="l" rtl="0">
                  <a:spcBef>
                    <a:spcPts val="0"/>
                  </a:spcBef>
                  <a:spcAft>
                    <a:spcPts val="0"/>
                  </a:spcAft>
                  <a:buNone/>
                </a:pPr>
                <a:endParaRPr dirty="0"/>
              </a:p>
            </p:txBody>
          </p:sp>
        </mc:Choice>
        <mc:Fallback>
          <p:sp>
            <p:nvSpPr>
              <p:cNvPr id="426" name="Google Shape;426;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squared error loss, commonly known as Mean Squared Error (MSE), is a widely used objective function in neural networks, particularly for regression tasks where the goal is to predict continuous numerical values.</a:t>
                </a:r>
              </a:p>
              <a:p>
                <a:r>
                  <a:rPr lang="en-US" sz="1100" b="1" i="0" u="none" strike="noStrike" cap="none" dirty="0">
                    <a:solidFill>
                      <a:srgbClr val="000000"/>
                    </a:solidFill>
                    <a:effectLst/>
                    <a:latin typeface="Arial"/>
                    <a:ea typeface="Arial"/>
                    <a:cs typeface="Arial"/>
                    <a:sym typeface="Arial"/>
                  </a:rPr>
                  <a:t>Definition and Calculation:</a:t>
                </a:r>
              </a:p>
              <a:p>
                <a:r>
                  <a:rPr lang="en-US" sz="1100" b="0" i="0" u="none" strike="noStrike" cap="none" dirty="0">
                    <a:solidFill>
                      <a:srgbClr val="000000"/>
                    </a:solidFill>
                    <a:effectLst/>
                    <a:latin typeface="Arial"/>
                    <a:ea typeface="Arial"/>
                    <a:cs typeface="Arial"/>
                    <a:sym typeface="Arial"/>
                  </a:rPr>
                  <a:t>The MSE loss quantifies the average of the squared differences between the predicted output of the neural network and the true, or actual, target values. </a:t>
                </a:r>
                <a:endParaRPr lang="en-US" sz="1100" b="1"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Differentiable: </a:t>
                </a:r>
                <a:r>
                  <a:rPr lang="en-US" sz="1100" b="0" i="0" u="none" strike="noStrike" cap="none" dirty="0">
                    <a:solidFill>
                      <a:srgbClr val="000000"/>
                    </a:solidFill>
                    <a:effectLst/>
                    <a:latin typeface="Arial"/>
                    <a:ea typeface="Arial"/>
                    <a:cs typeface="Arial"/>
                    <a:sym typeface="Arial"/>
                  </a:rPr>
                  <a:t>This allows for the efficient calculation of gradients needed to update the network's parameters.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Convexity:</a:t>
                </a:r>
                <a:r>
                  <a:rPr lang="en-US" sz="1100" b="0" i="0" u="none" strike="noStrike" cap="none" dirty="0">
                    <a:solidFill>
                      <a:srgbClr val="000000"/>
                    </a:solidFill>
                    <a:effectLst/>
                    <a:latin typeface="Arial"/>
                    <a:ea typeface="Arial"/>
                    <a:cs typeface="Arial"/>
                    <a:sym typeface="Arial"/>
                  </a:rPr>
                  <a:t> F</a:t>
                </a:r>
                <a:r>
                  <a:rPr lang="en-US" dirty="0"/>
                  <a:t>For a given set of </a:t>
                </a:r>
                <a:r>
                  <a:rPr lang="en-US" dirty="0">
                    <a:effectLst/>
                  </a:rPr>
                  <a:t>𝑁 </a:t>
                </a:r>
                <a:r>
                  <a:rPr lang="en-US" dirty="0"/>
                  <a:t>data points, where </a:t>
                </a:r>
                <a:r>
                  <a:rPr lang="en-US" dirty="0" err="1"/>
                  <a:t>y</a:t>
                </a:r>
                <a:r>
                  <a:rPr lang="en-US" sz="1100" b="0" i="0" u="none" strike="noStrike" cap="none" dirty="0" err="1">
                    <a:solidFill>
                      <a:srgbClr val="000000"/>
                    </a:solidFill>
                    <a:effectLst/>
                    <a:latin typeface="Arial"/>
                    <a:ea typeface="Arial"/>
                    <a:cs typeface="Arial"/>
                    <a:sym typeface="Arial"/>
                  </a:rPr>
                  <a:t>i</a:t>
                </a:r>
                <a:r>
                  <a:rPr lang="en-US" sz="1100" b="0" i="0" u="none" strike="noStrike" cap="none" dirty="0">
                    <a:solidFill>
                      <a:srgbClr val="000000"/>
                    </a:solidFill>
                    <a:effectLst/>
                    <a:latin typeface="Arial"/>
                    <a:ea typeface="Arial"/>
                    <a:cs typeface="Arial"/>
                    <a:sym typeface="Arial"/>
                  </a:rPr>
                  <a:t> </a:t>
                </a:r>
                <a:r>
                  <a:rPr lang="en-IN" dirty="0"/>
                  <a:t>represents the true value and </a:t>
                </a:r>
                <a:r>
                  <a:rPr lang="ar-AE" sz="1100" b="0" i="0" u="none" strike="noStrike" cap="none">
                    <a:solidFill>
                      <a:srgbClr val="000000"/>
                    </a:solidFill>
                    <a:latin typeface="Cambria Math" panose="02040503050406030204" pitchFamily="18" charset="0"/>
                    <a:ea typeface="Arial"/>
                    <a:cs typeface="Arial"/>
                    <a:sym typeface="Arial"/>
                  </a:rPr>
                  <a:t>𝑦 ̂_𝑖</a:t>
                </a:r>
                <a:r>
                  <a:rPr lang="en-US" dirty="0">
                    <a:effectLst/>
                  </a:rPr>
                  <a:t> </a:t>
                </a:r>
                <a:r>
                  <a:rPr lang="en-IN" dirty="0"/>
                  <a:t>represents the predicted value for the </a:t>
                </a:r>
                <a:r>
                  <a:rPr lang="en-IN" dirty="0">
                    <a:effectLst/>
                  </a:rPr>
                  <a:t>𝑖</a:t>
                </a:r>
                <a:r>
                  <a:rPr lang="en-IN" dirty="0"/>
                  <a:t>-</a:t>
                </a:r>
                <a:r>
                  <a:rPr lang="en-IN" dirty="0" err="1"/>
                  <a:t>th</a:t>
                </a:r>
                <a:r>
                  <a:rPr lang="en-IN" dirty="0"/>
                  <a:t> data point</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or many simpler models, MSE can be a convex function, meaning there is a single global minimum that optimization algorithms can reliably find.</a:t>
                </a:r>
              </a:p>
              <a:p>
                <a:r>
                  <a:rPr lang="en-US" sz="1100" b="1" i="0" u="none" strike="noStrike" cap="none" dirty="0">
                    <a:solidFill>
                      <a:srgbClr val="000000"/>
                    </a:solidFill>
                    <a:effectLst/>
                    <a:latin typeface="Arial"/>
                    <a:ea typeface="Arial"/>
                    <a:cs typeface="Arial"/>
                    <a:sym typeface="Arial"/>
                  </a:rPr>
                  <a:t>Smoothness:</a:t>
                </a:r>
                <a:r>
                  <a:rPr lang="en-US" sz="1100" b="0" i="0" u="none" strike="noStrike" cap="none" dirty="0">
                    <a:solidFill>
                      <a:srgbClr val="000000"/>
                    </a:solidFill>
                    <a:effectLst/>
                    <a:latin typeface="Arial"/>
                    <a:ea typeface="Arial"/>
                    <a:cs typeface="Arial"/>
                    <a:sym typeface="Arial"/>
                  </a:rPr>
                  <a:t> Its smooth nature facilitates the optimization process.</a:t>
                </a:r>
              </a:p>
              <a:p>
                <a:pPr marL="0" lvl="0" indent="0" algn="l" rtl="0">
                  <a:spcBef>
                    <a:spcPts val="0"/>
                  </a:spcBef>
                  <a:spcAft>
                    <a:spcPts val="0"/>
                  </a:spcAft>
                  <a:buNone/>
                </a:pPr>
                <a:endParaRPr dirty="0"/>
              </a:p>
            </p:txBody>
          </p:sp>
        </mc:Fallback>
      </mc:AlternateContent>
      <p:sp>
        <p:nvSpPr>
          <p:cNvPr id="427" name="Google Shape;427;p1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47" name="Google Shape;447;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b="1" dirty="0"/>
                  <a:t>Part (a) Linear Regression with Prediction Errors:</a:t>
                </a:r>
                <a:r>
                  <a:rPr lang="en-US" dirty="0"/>
                  <a:t> This graph displays training data points and a fitted line representing a linear model. </a:t>
                </a:r>
              </a:p>
              <a:p>
                <a:r>
                  <a:rPr lang="en-US" dirty="0"/>
                  <a:t>The vertical lines represent the </a:t>
                </a:r>
                <a:r>
                  <a:rPr lang="en-US" i="1" dirty="0"/>
                  <a:t>error</a:t>
                </a:r>
                <a:r>
                  <a:rPr lang="en-US" dirty="0"/>
                  <a:t> (or residual) for each data point, which is the difference between the actual target value and the value predicted by the model. </a:t>
                </a:r>
              </a:p>
              <a:p>
                <a:r>
                  <a:rPr lang="en-US" dirty="0"/>
                  <a:t>The goal of linear regression is to minimize these errors. </a:t>
                </a:r>
              </a:p>
              <a:p>
                <a:r>
                  <a:rPr lang="en-US" b="1" dirty="0"/>
                  <a:t>Part (b) 1D Error Surface:</a:t>
                </a:r>
                <a:r>
                  <a:rPr lang="en-US" dirty="0"/>
                  <a:t> This graph shows how the Mean Squared Error (MSE) changes as a single model parameter (the slope, </a:t>
                </a:r>
                <a14:m>
                  <m:oMath xmlns:m="http://schemas.openxmlformats.org/officeDocument/2006/math">
                    <m:r>
                      <a:rPr lang="en-US" sz="1100" b="0" i="1" u="none" strike="noStrike" cap="none">
                        <a:solidFill>
                          <a:srgbClr val="000000"/>
                        </a:solidFill>
                        <a:latin typeface="Arial"/>
                        <a:ea typeface="Arial"/>
                        <a:cs typeface="Arial"/>
                        <a:sym typeface="Arial"/>
                      </a:rPr>
                      <m:t>𝑤</m:t>
                    </m:r>
                  </m:oMath>
                </a14:m>
                <a:r>
                  <a:rPr lang="en-US" dirty="0"/>
                  <a:t>) is adjusted. </a:t>
                </a:r>
              </a:p>
              <a:p>
                <a:r>
                  <a:rPr lang="en-US" dirty="0"/>
                  <a:t>The MSE is calculated by summing the squares of all the individual errors from the left graph. </a:t>
                </a:r>
              </a:p>
              <a:p>
                <a:r>
                  <a:rPr lang="en-US" dirty="0"/>
                  <a:t>The resulting curve is parabolic, known as the error or cost surface. </a:t>
                </a:r>
              </a:p>
              <a:p>
                <a:r>
                  <a:rPr lang="en-US" dirty="0"/>
                  <a:t>The lowest point of this curve (the minimum MSE) corresponds to the optimal parameter value (optimal </a:t>
                </a:r>
                <a14:m>
                  <m:oMath xmlns:m="http://schemas.openxmlformats.org/officeDocument/2006/math">
                    <m:r>
                      <a:rPr lang="en-US" sz="1100" b="0" i="1" u="none" strike="noStrike" cap="none">
                        <a:solidFill>
                          <a:srgbClr val="000000"/>
                        </a:solidFill>
                        <a:latin typeface="Arial"/>
                        <a:ea typeface="Arial"/>
                        <a:cs typeface="Arial"/>
                        <a:sym typeface="Arial"/>
                      </a:rPr>
                      <m:t>𝑤</m:t>
                    </m:r>
                  </m:oMath>
                </a14:m>
                <a:r>
                  <a:rPr lang="en-US" dirty="0"/>
                  <a:t>) that provides the best fit line for the data. </a:t>
                </a:r>
              </a:p>
              <a:p>
                <a:r>
                  <a:rPr lang="en-US" dirty="0"/>
                  <a:t>Finding this minimum is the objective of optimization algorithms like gradient descent.</a:t>
                </a:r>
              </a:p>
              <a:p>
                <a:pPr marL="0" lvl="0" indent="0" algn="l" rtl="0">
                  <a:spcBef>
                    <a:spcPts val="0"/>
                  </a:spcBef>
                  <a:spcAft>
                    <a:spcPts val="0"/>
                  </a:spcAft>
                  <a:buNone/>
                </a:pPr>
                <a:endParaRPr dirty="0"/>
              </a:p>
            </p:txBody>
          </p:sp>
        </mc:Choice>
        <mc:Fallback>
          <p:sp>
            <p:nvSpPr>
              <p:cNvPr id="447" name="Google Shape;447;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b="1" dirty="0"/>
                  <a:t>Part (a) Linear Regression with Prediction Errors:</a:t>
                </a:r>
                <a:r>
                  <a:rPr lang="en-US" dirty="0"/>
                  <a:t> This graph displays training data points and a fitted line representing a linear model. </a:t>
                </a:r>
              </a:p>
              <a:p>
                <a:r>
                  <a:rPr lang="en-US" dirty="0"/>
                  <a:t>The vertical lines represent the </a:t>
                </a:r>
                <a:r>
                  <a:rPr lang="en-US" i="1" dirty="0"/>
                  <a:t>error</a:t>
                </a:r>
                <a:r>
                  <a:rPr lang="en-US" dirty="0"/>
                  <a:t> (or residual) for each data point, which is the difference between the actual target value and the value predicted by the model. </a:t>
                </a:r>
              </a:p>
              <a:p>
                <a:r>
                  <a:rPr lang="en-US" dirty="0"/>
                  <a:t>The goal of linear regression is to minimize these errors. </a:t>
                </a:r>
              </a:p>
              <a:p>
                <a:r>
                  <a:rPr lang="en-US" b="1" dirty="0"/>
                  <a:t>Part (b) 1D Error Surface:</a:t>
                </a:r>
                <a:r>
                  <a:rPr lang="en-US" dirty="0"/>
                  <a:t> This graph shows how the Mean Squared Error (MSE) changes as a single model parameter (the slope, </a:t>
                </a:r>
                <a:r>
                  <a:rPr lang="en-US" sz="1100" b="0" i="0" u="none" strike="noStrike" cap="none">
                    <a:solidFill>
                      <a:srgbClr val="000000"/>
                    </a:solidFill>
                    <a:latin typeface="Arial"/>
                    <a:ea typeface="Arial"/>
                    <a:cs typeface="Arial"/>
                    <a:sym typeface="Arial"/>
                  </a:rPr>
                  <a:t>𝑤</a:t>
                </a:r>
                <a:r>
                  <a:rPr lang="en-US" dirty="0"/>
                  <a:t>) is adjusted. </a:t>
                </a:r>
              </a:p>
              <a:p>
                <a:r>
                  <a:rPr lang="en-US" dirty="0"/>
                  <a:t>The MSE is calculated by summing the squares of all the individual errors from the left graph. </a:t>
                </a:r>
              </a:p>
              <a:p>
                <a:r>
                  <a:rPr lang="en-US" dirty="0"/>
                  <a:t>The resulting curve is parabolic, known as the error or cost surface. </a:t>
                </a:r>
              </a:p>
              <a:p>
                <a:r>
                  <a:rPr lang="en-US" dirty="0"/>
                  <a:t>The lowest point of this curve (the minimum MSE) corresponds to the optimal parameter value (optimal </a:t>
                </a:r>
                <a:r>
                  <a:rPr lang="en-US" sz="1100" b="0" i="0" u="none" strike="noStrike" cap="none">
                    <a:solidFill>
                      <a:srgbClr val="000000"/>
                    </a:solidFill>
                    <a:latin typeface="Arial"/>
                    <a:ea typeface="Arial"/>
                    <a:cs typeface="Arial"/>
                    <a:sym typeface="Arial"/>
                  </a:rPr>
                  <a:t>𝑤</a:t>
                </a:r>
                <a:r>
                  <a:rPr lang="en-US" dirty="0"/>
                  <a:t>) that provides the best fit line for the data. </a:t>
                </a:r>
              </a:p>
              <a:p>
                <a:r>
                  <a:rPr lang="en-US" dirty="0"/>
                  <a:t>Finding this minimum is the objective of optimization algorithms like gradient descent.</a:t>
                </a:r>
              </a:p>
              <a:p>
                <a:pPr marL="0" lvl="0" indent="0" algn="l" rtl="0">
                  <a:spcBef>
                    <a:spcPts val="0"/>
                  </a:spcBef>
                  <a:spcAft>
                    <a:spcPts val="0"/>
                  </a:spcAft>
                  <a:buNone/>
                </a:pPr>
                <a:endParaRPr dirty="0"/>
              </a:p>
            </p:txBody>
          </p:sp>
        </mc:Fallback>
      </mc:AlternateContent>
      <p:sp>
        <p:nvSpPr>
          <p:cNvPr id="448" name="Google Shape;448;p1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61" name="Google Shape;461;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Cost Function:</a:t>
                </a:r>
                <a:r>
                  <a:rPr lang="en-IN" dirty="0"/>
                  <a:t> The curve represents the cost function, </a:t>
                </a:r>
                <a:r>
                  <a:rPr lang="en-IN" dirty="0" err="1"/>
                  <a:t>labeled</a:t>
                </a:r>
                <a:r>
                  <a:rPr lang="en-IN" dirty="0"/>
                  <a:t> </a:t>
                </a:r>
                <a14:m>
                  <m:oMath xmlns:m="http://schemas.openxmlformats.org/officeDocument/2006/math">
                    <m:r>
                      <a:rPr lang="en-IN" sz="1100" b="0" i="1" u="none" strike="noStrike" cap="none">
                        <a:solidFill>
                          <a:srgbClr val="000000"/>
                        </a:solidFill>
                        <a:latin typeface="Arial"/>
                        <a:ea typeface="Arial"/>
                        <a:cs typeface="Arial"/>
                        <a:sym typeface="Arial"/>
                      </a:rPr>
                      <m:t>𝐽</m:t>
                    </m:r>
                    <m:d>
                      <m:dPr>
                        <m:ctrlPr>
                          <a:rPr lang="ar-AE" sz="1100" b="0" i="1" u="none" strike="noStrike" cap="none" smtClean="0">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𝑤</m:t>
                        </m:r>
                      </m:e>
                    </m:d>
                  </m:oMath>
                </a14:m>
                <a:r>
                  <a:rPr lang="en-IN" dirty="0"/>
                  <a:t>on the vertical axis. This function measures the "cost" or error of the model's predictions based on a given weight parameter 'w' on the horizontal axis. </a:t>
                </a:r>
              </a:p>
              <a:p>
                <a:r>
                  <a:rPr lang="en-IN" b="1" dirty="0"/>
                  <a:t>Objective:</a:t>
                </a:r>
                <a:r>
                  <a:rPr lang="en-IN" dirty="0"/>
                  <a:t> The goal of the algorithm is to find the parameter 'w' that minimizes the cost function, reaching the "Global cost minimum",  </a:t>
                </a:r>
                <a14:m>
                  <m:oMath xmlns:m="http://schemas.openxmlformats.org/officeDocument/2006/math">
                    <m:sSub>
                      <m:sSubPr>
                        <m:ctrlPr>
                          <a:rPr lang="ar-AE" sz="1100" b="0" i="0" u="none" strike="noStrike" cap="none">
                            <a:solidFill>
                              <a:srgbClr val="000000"/>
                            </a:solidFill>
                            <a:latin typeface="Arial"/>
                            <a:ea typeface="Arial"/>
                            <a:cs typeface="Arial"/>
                            <a:sym typeface="Arial"/>
                          </a:rPr>
                        </m:ctrlPr>
                      </m:sSubPr>
                      <m:e>
                        <m:r>
                          <a:rPr lang="ar-AE" sz="1100" b="0" i="1" u="none" strike="noStrike" cap="none">
                            <a:solidFill>
                              <a:srgbClr val="000000"/>
                            </a:solidFill>
                            <a:latin typeface="Arial"/>
                            <a:ea typeface="Arial"/>
                            <a:cs typeface="Arial"/>
                            <a:sym typeface="Arial"/>
                          </a:rPr>
                          <m:t>𝐽</m:t>
                        </m:r>
                      </m:e>
                      <m:sub>
                        <m:r>
                          <a:rPr lang="ar-AE" sz="1100" b="0" i="1" u="none" strike="noStrike" cap="none">
                            <a:solidFill>
                              <a:srgbClr val="000000"/>
                            </a:solidFill>
                            <a:latin typeface="Arial"/>
                            <a:ea typeface="Arial"/>
                            <a:cs typeface="Arial"/>
                            <a:sym typeface="Arial"/>
                          </a:rPr>
                          <m:t>𝑚𝑖𝑛</m:t>
                        </m:r>
                      </m:sub>
                    </m:sSub>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𝑤</m:t>
                        </m:r>
                      </m:e>
                    </m:d>
                  </m:oMath>
                </a14:m>
                <a:r>
                  <a:rPr lang="en-US" dirty="0">
                    <a:effectLst/>
                  </a:rPr>
                  <a:t> </a:t>
                </a:r>
                <a:r>
                  <a:rPr lang="ar-AE" dirty="0"/>
                  <a:t>. </a:t>
                </a:r>
              </a:p>
              <a:p>
                <a:r>
                  <a:rPr lang="en-IN" b="1" dirty="0"/>
                  <a:t>Initial Point:</a:t>
                </a:r>
                <a:r>
                  <a:rPr lang="en-IN" dirty="0"/>
                  <a:t> The process begins at an "Initial weight" (the black dot), a randomly chosen starting point on the cost function curve. </a:t>
                </a:r>
              </a:p>
              <a:p>
                <a:r>
                  <a:rPr lang="en-IN" b="1" dirty="0"/>
                  <a:t>Gradient and Iteration:</a:t>
                </a:r>
                <a:r>
                  <a:rPr lang="en-IN" dirty="0"/>
                  <a:t> The "Gradient" (dashed line) represents the slope of the tangent at the current point. The algorithm iteratively updates the weight by moving in the direction opposite to the gradient (down the slope), as indicated by the arrows. This process is repeated until the minimum is reached, effectively minimizing the model's error. The update rule is typically </a:t>
                </a:r>
                <a14:m>
                  <m:oMath xmlns:m="http://schemas.openxmlformats.org/officeDocument/2006/math">
                    <m:r>
                      <a:rPr lang="en-IN" sz="1100" b="0" i="1" u="none" strike="noStrike" cap="none">
                        <a:solidFill>
                          <a:srgbClr val="000000"/>
                        </a:solidFill>
                        <a:latin typeface="Arial"/>
                        <a:ea typeface="Arial"/>
                        <a:cs typeface="Arial"/>
                        <a:sym typeface="Arial"/>
                      </a:rPr>
                      <m:t>𝑤</m:t>
                    </m:r>
                    <m:r>
                      <a:rPr lang="en-IN" sz="1100" b="0" i="0" u="none" strike="noStrike" cap="none">
                        <a:solidFill>
                          <a:srgbClr val="000000"/>
                        </a:solidFill>
                        <a:latin typeface="Arial"/>
                        <a:ea typeface="Arial"/>
                        <a:cs typeface="Arial"/>
                        <a:sym typeface="Arial"/>
                      </a:rPr>
                      <m:t>=</m:t>
                    </m:r>
                    <m:r>
                      <a:rPr lang="en-IN" sz="1100" b="0" i="1" u="none" strike="noStrike" cap="none">
                        <a:solidFill>
                          <a:srgbClr val="000000"/>
                        </a:solidFill>
                        <a:latin typeface="Arial"/>
                        <a:ea typeface="Arial"/>
                        <a:cs typeface="Arial"/>
                        <a:sym typeface="Arial"/>
                      </a:rPr>
                      <m:t>𝑤</m:t>
                    </m:r>
                    <m:r>
                      <a:rPr lang="en-IN" sz="1100" b="0" i="0" u="none" strike="noStrike" cap="none">
                        <a:solidFill>
                          <a:srgbClr val="000000"/>
                        </a:solidFill>
                        <a:latin typeface="Arial"/>
                        <a:ea typeface="Arial"/>
                        <a:cs typeface="Arial"/>
                        <a:sym typeface="Arial"/>
                      </a:rPr>
                      <m:t>−</m:t>
                    </m:r>
                    <m:r>
                      <a:rPr lang="en-IN" sz="1100" b="0" i="1" u="none" strike="noStrike" cap="none">
                        <a:solidFill>
                          <a:srgbClr val="000000"/>
                        </a:solidFill>
                        <a:latin typeface="Arial"/>
                        <a:ea typeface="Arial"/>
                        <a:cs typeface="Arial"/>
                        <a:sym typeface="Arial"/>
                      </a:rPr>
                      <m:t>𝜂</m:t>
                    </m:r>
                    <m:r>
                      <a:rPr lang="en-IN" sz="1100" b="0" i="0" u="none" strike="noStrike" cap="none">
                        <a:solidFill>
                          <a:srgbClr val="000000"/>
                        </a:solidFill>
                        <a:latin typeface="Arial"/>
                        <a:ea typeface="Arial"/>
                        <a:cs typeface="Arial"/>
                        <a:sym typeface="Arial"/>
                      </a:rPr>
                      <m:t>⋅</m:t>
                    </m:r>
                    <m:r>
                      <m:rPr>
                        <m:sty m:val="p"/>
                      </m:rPr>
                      <a:rPr lang="en-IN" sz="1100" b="0" i="0" u="none" strike="noStrike" cap="none">
                        <a:solidFill>
                          <a:srgbClr val="000000"/>
                        </a:solidFill>
                        <a:latin typeface="Arial"/>
                        <a:ea typeface="Arial"/>
                        <a:cs typeface="Arial"/>
                        <a:sym typeface="Arial"/>
                      </a:rPr>
                      <m:t>∇</m:t>
                    </m:r>
                    <m:r>
                      <a:rPr lang="en-IN" sz="1100" b="0" i="1" u="none" strike="noStrike" cap="none">
                        <a:solidFill>
                          <a:srgbClr val="000000"/>
                        </a:solidFill>
                        <a:latin typeface="Arial"/>
                        <a:ea typeface="Arial"/>
                        <a:cs typeface="Arial"/>
                        <a:sym typeface="Arial"/>
                      </a:rPr>
                      <m:t>𝐽</m:t>
                    </m:r>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𝑤</m:t>
                        </m:r>
                      </m:e>
                    </m:d>
                  </m:oMath>
                </a14:m>
                <a:r>
                  <a:rPr lang="ar-AE" dirty="0"/>
                  <a:t>, </a:t>
                </a:r>
                <a:r>
                  <a:rPr lang="en-IN" dirty="0"/>
                  <a:t>where </a:t>
                </a:r>
                <a14:m>
                  <m:oMath xmlns:m="http://schemas.openxmlformats.org/officeDocument/2006/math">
                    <m:r>
                      <a:rPr lang="en-IN" sz="1100" b="0" i="1" u="none" strike="noStrike" cap="none">
                        <a:solidFill>
                          <a:srgbClr val="000000"/>
                        </a:solidFill>
                        <a:latin typeface="Arial"/>
                        <a:ea typeface="Arial"/>
                        <a:cs typeface="Arial"/>
                        <a:sym typeface="Arial"/>
                      </a:rPr>
                      <m:t>𝜂</m:t>
                    </m:r>
                    <m:r>
                      <a:rPr lang="en-US" sz="1100" b="0" i="1" u="none" strike="noStrike" cap="none" smtClean="0">
                        <a:solidFill>
                          <a:srgbClr val="000000"/>
                        </a:solidFill>
                        <a:latin typeface="Cambria Math" panose="02040503050406030204" pitchFamily="18" charset="0"/>
                        <a:ea typeface="Arial"/>
                        <a:cs typeface="Arial"/>
                        <a:sym typeface="Arial"/>
                      </a:rPr>
                      <m:t> </m:t>
                    </m:r>
                  </m:oMath>
                </a14:m>
                <a:r>
                  <a:rPr lang="en-IN" dirty="0"/>
                  <a:t>is the learning rate and </a:t>
                </a:r>
                <a14:m>
                  <m:oMath xmlns:m="http://schemas.openxmlformats.org/officeDocument/2006/math">
                    <m:r>
                      <m:rPr>
                        <m:sty m:val="p"/>
                      </m:rPr>
                      <a:rPr lang="en-IN" sz="1100" b="0" i="0" u="none" strike="noStrike" cap="none">
                        <a:solidFill>
                          <a:srgbClr val="000000"/>
                        </a:solidFill>
                        <a:latin typeface="Arial"/>
                        <a:ea typeface="Arial"/>
                        <a:cs typeface="Arial"/>
                        <a:sym typeface="Arial"/>
                      </a:rPr>
                      <m:t>∇</m:t>
                    </m:r>
                    <m:r>
                      <a:rPr lang="en-IN" sz="1100" b="0" i="1" u="none" strike="noStrike" cap="none">
                        <a:solidFill>
                          <a:srgbClr val="000000"/>
                        </a:solidFill>
                        <a:latin typeface="Arial"/>
                        <a:ea typeface="Arial"/>
                        <a:cs typeface="Arial"/>
                        <a:sym typeface="Arial"/>
                      </a:rPr>
                      <m:t>𝐽</m:t>
                    </m:r>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𝑤</m:t>
                        </m:r>
                      </m:e>
                    </m:d>
                  </m:oMath>
                </a14:m>
                <a:r>
                  <a:rPr lang="en-US" dirty="0">
                    <a:effectLst/>
                  </a:rPr>
                  <a:t> </a:t>
                </a:r>
                <a:r>
                  <a:rPr lang="en-IN" dirty="0"/>
                  <a:t>is the gradient. </a:t>
                </a:r>
                <a:endParaRPr dirty="0"/>
              </a:p>
            </p:txBody>
          </p:sp>
        </mc:Choice>
        <mc:Fallback>
          <p:sp>
            <p:nvSpPr>
              <p:cNvPr id="461" name="Google Shape;461;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Cost Function:</a:t>
                </a:r>
                <a:r>
                  <a:rPr lang="en-IN" dirty="0"/>
                  <a:t> The curve represents the cost function, </a:t>
                </a:r>
                <a:r>
                  <a:rPr lang="en-IN" dirty="0" err="1"/>
                  <a:t>labeled</a:t>
                </a:r>
                <a:r>
                  <a:rPr lang="en-IN" dirty="0"/>
                  <a:t>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on the vertical axis. This function measures the "cost" or error of the model's predictions based on a given weight parameter 'w' on the horizontal axis. </a:t>
                </a:r>
              </a:p>
              <a:p>
                <a:r>
                  <a:rPr lang="en-IN" b="1" dirty="0"/>
                  <a:t>Objective:</a:t>
                </a:r>
                <a:r>
                  <a:rPr lang="en-IN" dirty="0"/>
                  <a:t> The goal of the algorithm is to find the parameter 'w' that minimizes the cost function, reaching the "Global cost minimum",  </a:t>
                </a:r>
                <a:r>
                  <a:rPr lang="ar-AE" sz="1100" b="0" i="0" u="none" strike="noStrike" cap="none">
                    <a:solidFill>
                      <a:srgbClr val="000000"/>
                    </a:solidFill>
                    <a:latin typeface="Arial"/>
                    <a:ea typeface="Arial"/>
                    <a:cs typeface="Arial"/>
                    <a:sym typeface="Arial"/>
                  </a:rPr>
                  <a:t>𝐽_𝑚𝑖𝑛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US" dirty="0">
                    <a:effectLst/>
                  </a:rPr>
                  <a:t> </a:t>
                </a:r>
                <a:r>
                  <a:rPr lang="ar-AE" dirty="0"/>
                  <a:t>. </a:t>
                </a:r>
              </a:p>
              <a:p>
                <a:r>
                  <a:rPr lang="en-IN" b="1" dirty="0"/>
                  <a:t>Initial Point:</a:t>
                </a:r>
                <a:r>
                  <a:rPr lang="en-IN" dirty="0"/>
                  <a:t> The process begins at an "Initial weight" (the black dot), a randomly chosen starting point on the cost function curve. </a:t>
                </a:r>
              </a:p>
              <a:p>
                <a:r>
                  <a:rPr lang="en-IN" b="1" dirty="0"/>
                  <a:t>Gradient and Iteration:</a:t>
                </a:r>
                <a:r>
                  <a:rPr lang="en-IN" dirty="0"/>
                  <a:t> The "Gradient" (dashed line) represents the slope of the tangent at the current point. The algorithm iteratively updates the weight by moving in the direction opposite to the gradient (down the slope), as indicated by the arrows. This process is repeated until the minimum is reached, effectively minimizing the model's error. The update rule is typically </a:t>
                </a:r>
                <a:r>
                  <a:rPr lang="en-IN" sz="1100" b="0" i="0" u="none" strike="noStrike" cap="none">
                    <a:solidFill>
                      <a:srgbClr val="000000"/>
                    </a:solidFill>
                    <a:latin typeface="Arial"/>
                    <a:ea typeface="Arial"/>
                    <a:cs typeface="Arial"/>
                    <a:sym typeface="Arial"/>
                  </a:rPr>
                  <a:t>𝑤=𝑤−𝜂⋅∇𝐽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ar-AE" dirty="0"/>
                  <a:t>, </a:t>
                </a:r>
                <a:r>
                  <a:rPr lang="en-IN" dirty="0"/>
                  <a:t>where </a:t>
                </a:r>
                <a:r>
                  <a:rPr lang="en-IN" sz="1100" b="0" i="0" u="none" strike="noStrike" cap="none">
                    <a:solidFill>
                      <a:srgbClr val="000000"/>
                    </a:solidFill>
                    <a:latin typeface="Arial"/>
                    <a:ea typeface="Arial"/>
                    <a:cs typeface="Arial"/>
                    <a:sym typeface="Arial"/>
                  </a:rPr>
                  <a:t>𝜂</a:t>
                </a:r>
                <a:r>
                  <a:rPr lang="en-US" sz="1100" b="0" i="0" u="none" strike="noStrike" cap="none">
                    <a:solidFill>
                      <a:srgbClr val="000000"/>
                    </a:solidFill>
                    <a:latin typeface="Cambria Math" panose="02040503050406030204" pitchFamily="18" charset="0"/>
                    <a:ea typeface="Arial"/>
                    <a:cs typeface="Arial"/>
                    <a:sym typeface="Arial"/>
                  </a:rPr>
                  <a:t> </a:t>
                </a:r>
                <a:r>
                  <a:rPr lang="en-IN" dirty="0"/>
                  <a:t>is the learning rate and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US" dirty="0">
                    <a:effectLst/>
                  </a:rPr>
                  <a:t> </a:t>
                </a:r>
                <a:r>
                  <a:rPr lang="en-IN" dirty="0"/>
                  <a:t>is the gradient. </a:t>
                </a:r>
                <a:endParaRPr dirty="0"/>
              </a:p>
            </p:txBody>
          </p:sp>
        </mc:Fallback>
      </mc:AlternateContent>
      <p:sp>
        <p:nvSpPr>
          <p:cNvPr id="462" name="Google Shape;462;p2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p2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In a neural network, the gradient is a vector that represents the direction and magnitude of the steepest ascent of the loss function. It is calculated using the </a:t>
            </a:r>
            <a:r>
              <a:rPr lang="en-US" sz="1100" b="0" i="0" u="none" strike="noStrike" cap="none" dirty="0">
                <a:solidFill>
                  <a:srgbClr val="000000"/>
                </a:solidFill>
                <a:effectLst/>
                <a:latin typeface="Arial"/>
                <a:ea typeface="Arial"/>
                <a:cs typeface="Arial"/>
                <a:sym typeface="Arial"/>
                <a:hlinkClick r:id="rId3"/>
              </a:rPr>
              <a:t>partial derivatives</a:t>
            </a:r>
            <a:r>
              <a:rPr lang="en-US" sz="1100" b="0" i="0" u="none" strike="noStrike" cap="none" dirty="0">
                <a:solidFill>
                  <a:srgbClr val="000000"/>
                </a:solidFill>
                <a:effectLst/>
                <a:latin typeface="Arial"/>
                <a:ea typeface="Arial"/>
                <a:cs typeface="Arial"/>
                <a:sym typeface="Arial"/>
              </a:rPr>
              <a:t> of the loss function with respect to each of the network's parameters (</a:t>
            </a:r>
            <a:r>
              <a:rPr lang="en-US" sz="1100" b="0" i="0" u="sng" strike="noStrike" cap="none" dirty="0">
                <a:solidFill>
                  <a:srgbClr val="000000"/>
                </a:solidFill>
                <a:effectLst/>
                <a:latin typeface="Arial"/>
                <a:ea typeface="Arial"/>
                <a:cs typeface="Arial"/>
                <a:sym typeface="Arial"/>
                <a:hlinkClick r:id="rId4"/>
              </a:rPr>
              <a:t>weights</a:t>
            </a:r>
            <a:r>
              <a:rPr lang="en-US" sz="1100" b="0" i="0" u="none" strike="noStrike" cap="none" dirty="0">
                <a:solidFill>
                  <a:srgbClr val="000000"/>
                </a:solidFill>
                <a:effectLst/>
                <a:latin typeface="Arial"/>
                <a:ea typeface="Arial"/>
                <a:cs typeface="Arial"/>
                <a:sym typeface="Arial"/>
              </a:rPr>
              <a:t> and </a:t>
            </a:r>
            <a:r>
              <a:rPr lang="en-US" sz="1100" b="0" i="0" u="none" strike="noStrike" cap="none" dirty="0">
                <a:solidFill>
                  <a:srgbClr val="000000"/>
                </a:solidFill>
                <a:effectLst/>
                <a:latin typeface="Arial"/>
                <a:ea typeface="Arial"/>
                <a:cs typeface="Arial"/>
                <a:sym typeface="Arial"/>
                <a:hlinkClick r:id="rId5"/>
              </a:rPr>
              <a:t>biases</a:t>
            </a:r>
            <a:r>
              <a:rPr lang="en-US" sz="1100" b="0" i="0" u="none" strike="noStrike" cap="none" dirty="0">
                <a:solidFill>
                  <a:srgbClr val="000000"/>
                </a:solidFill>
                <a:effectLst/>
                <a:latin typeface="Arial"/>
                <a:ea typeface="Arial"/>
                <a:cs typeface="Arial"/>
                <a:sym typeface="Arial"/>
              </a:rPr>
              <a:t>). During training, this information is used to guide the process of </a:t>
            </a:r>
            <a:r>
              <a:rPr lang="en-US" sz="1100" b="0" i="0" u="none" strike="noStrike" cap="none" dirty="0">
                <a:solidFill>
                  <a:srgbClr val="000000"/>
                </a:solidFill>
                <a:effectLst/>
                <a:latin typeface="Arial"/>
                <a:ea typeface="Arial"/>
                <a:cs typeface="Arial"/>
                <a:sym typeface="Arial"/>
                <a:hlinkClick r:id="rId6"/>
              </a:rPr>
              <a:t>gradient descent</a:t>
            </a:r>
            <a:r>
              <a:rPr lang="en-US" sz="1100" b="0" i="0" u="none" strike="noStrike" cap="none" dirty="0">
                <a:solidFill>
                  <a:srgbClr val="000000"/>
                </a:solidFill>
                <a:effectLst/>
                <a:latin typeface="Arial"/>
                <a:ea typeface="Arial"/>
                <a:cs typeface="Arial"/>
                <a:sym typeface="Arial"/>
              </a:rPr>
              <a:t>, which adjusts the parameters in the opposite direction of the gradient to minimize the loss and improve the model's predictions</a:t>
            </a:r>
            <a:endParaRPr lang="en-IN" b="1" dirty="0"/>
          </a:p>
          <a:p>
            <a:pPr marL="0" lvl="0" indent="0" algn="l" rtl="0">
              <a:spcBef>
                <a:spcPts val="0"/>
              </a:spcBef>
              <a:spcAft>
                <a:spcPts val="0"/>
              </a:spcAft>
              <a:buNone/>
            </a:pPr>
            <a:endParaRPr dirty="0"/>
          </a:p>
        </p:txBody>
      </p:sp>
      <p:sp>
        <p:nvSpPr>
          <p:cNvPr id="486" name="Google Shape;486;p2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98" name="Google Shape;498;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dirty="0"/>
                  <a:t>This formula represents a step in the direction opposite to the gradient of a cost function, scaled by a learning rate </a:t>
                </a:r>
                <a14:m>
                  <m:oMath xmlns:m="http://schemas.openxmlformats.org/officeDocument/2006/math">
                    <m:r>
                      <a:rPr lang="en-US" sz="1100" b="0" i="1" u="none" strike="noStrike" cap="none">
                        <a:solidFill>
                          <a:srgbClr val="000000"/>
                        </a:solidFill>
                        <a:latin typeface="Arial"/>
                        <a:ea typeface="Arial"/>
                        <a:cs typeface="Arial"/>
                        <a:sym typeface="Arial"/>
                      </a:rPr>
                      <m:t>𝜂</m:t>
                    </m:r>
                    <m:r>
                      <a:rPr lang="en-US" sz="1100" b="0" i="1" u="none" strike="noStrike" cap="none" smtClean="0">
                        <a:solidFill>
                          <a:srgbClr val="000000"/>
                        </a:solidFill>
                        <a:latin typeface="Cambria Math" panose="02040503050406030204" pitchFamily="18" charset="0"/>
                        <a:ea typeface="Arial"/>
                        <a:cs typeface="Arial"/>
                        <a:sym typeface="Arial"/>
                      </a:rPr>
                      <m:t> </m:t>
                    </m:r>
                  </m:oMath>
                </a14:m>
                <a:endParaRPr lang="en-US" dirty="0">
                  <a:effectLst/>
                </a:endParaRPr>
              </a:p>
              <a:p>
                <a:r>
                  <a:rPr lang="en-IN" dirty="0"/>
                  <a:t>Learning rate (</a:t>
                </a:r>
                <a14:m>
                  <m:oMath xmlns:m="http://schemas.openxmlformats.org/officeDocument/2006/math">
                    <m:r>
                      <a:rPr lang="en-IN" sz="1100" b="0" i="1" u="none" strike="noStrike" cap="none">
                        <a:solidFill>
                          <a:srgbClr val="000000"/>
                        </a:solidFill>
                        <a:latin typeface="Arial"/>
                        <a:ea typeface="Arial"/>
                        <a:cs typeface="Arial"/>
                        <a:sym typeface="Arial"/>
                      </a:rPr>
                      <m:t>𝜂</m:t>
                    </m:r>
                  </m:oMath>
                </a14:m>
                <a:r>
                  <a:rPr lang="en-IN" dirty="0"/>
                  <a:t>): This parameter controls the step size taken during each update. If too large, the algorithm may overshoot the minimum of the cost function. </a:t>
                </a:r>
              </a:p>
              <a:p>
                <a:r>
                  <a:rPr lang="en-IN" dirty="0"/>
                  <a:t>If too small, the convergence to the minimum will be slow. </a:t>
                </a:r>
              </a:p>
              <a:p>
                <a:r>
                  <a:rPr lang="en-IN" b="1" dirty="0"/>
                  <a:t>Stopping criterion</a:t>
                </a:r>
                <a:r>
                  <a:rPr lang="en-IN" dirty="0"/>
                  <a:t>: This condition determines when the optimization process should stop. The process terminates when: The norm of the gradient of the cost function,</a:t>
                </a:r>
                <a:r>
                  <a:rPr lang="ar-AE" dirty="0"/>
                  <a:t> </a:t>
                </a:r>
                <a:r>
                  <a:rPr lang="en-IN" dirty="0"/>
                  <a:t>is less than a small value </a:t>
                </a:r>
                <a14:m>
                  <m:oMath xmlns:m="http://schemas.openxmlformats.org/officeDocument/2006/math">
                    <m:r>
                      <a:rPr lang="en-IN" sz="1100" b="0" i="1" u="none" strike="noStrike" cap="none">
                        <a:solidFill>
                          <a:srgbClr val="000000"/>
                        </a:solidFill>
                        <a:latin typeface="Arial"/>
                        <a:ea typeface="Arial"/>
                        <a:cs typeface="Arial"/>
                        <a:sym typeface="Arial"/>
                      </a:rPr>
                      <m:t>𝜖</m:t>
                    </m:r>
                  </m:oMath>
                </a14:m>
                <a:r>
                  <a:rPr lang="en-IN" dirty="0"/>
                  <a:t>. </a:t>
                </a:r>
              </a:p>
              <a:p>
                <a:r>
                  <a:rPr lang="en-IN" dirty="0"/>
                  <a:t>A maximum number of iterations has been reached.</a:t>
                </a:r>
              </a:p>
              <a:p>
                <a:endParaRPr lang="en-US" dirty="0">
                  <a:effectLst/>
                </a:endParaRPr>
              </a:p>
              <a:p>
                <a:pPr marL="0" lvl="0" indent="0" algn="l" rtl="0">
                  <a:spcBef>
                    <a:spcPts val="0"/>
                  </a:spcBef>
                  <a:spcAft>
                    <a:spcPts val="0"/>
                  </a:spcAft>
                  <a:buNone/>
                </a:pPr>
                <a:endParaRPr dirty="0"/>
              </a:p>
            </p:txBody>
          </p:sp>
        </mc:Choice>
        <mc:Fallback>
          <p:sp>
            <p:nvSpPr>
              <p:cNvPr id="498" name="Google Shape;498;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dirty="0"/>
                  <a:t>This formula represents a step in the direction opposite to the gradient of a cost function, scaled by a learning rate </a:t>
                </a:r>
                <a:r>
                  <a:rPr lang="en-US" sz="1100" b="0" i="0" u="none" strike="noStrike" cap="none">
                    <a:solidFill>
                      <a:srgbClr val="000000"/>
                    </a:solidFill>
                    <a:latin typeface="Arial"/>
                    <a:ea typeface="Arial"/>
                    <a:cs typeface="Arial"/>
                    <a:sym typeface="Arial"/>
                  </a:rPr>
                  <a:t>𝜂</a:t>
                </a:r>
                <a:r>
                  <a:rPr lang="en-US" sz="1100" b="0" i="0" u="none" strike="noStrike" cap="none">
                    <a:solidFill>
                      <a:srgbClr val="000000"/>
                    </a:solidFill>
                    <a:latin typeface="Cambria Math" panose="02040503050406030204" pitchFamily="18" charset="0"/>
                    <a:ea typeface="Arial"/>
                    <a:cs typeface="Arial"/>
                    <a:sym typeface="Arial"/>
                  </a:rPr>
                  <a:t> </a:t>
                </a:r>
                <a:endParaRPr lang="en-US" dirty="0">
                  <a:effectLst/>
                </a:endParaRPr>
              </a:p>
              <a:p>
                <a:r>
                  <a:rPr lang="en-IN" dirty="0"/>
                  <a:t>Learning rate (</a:t>
                </a:r>
                <a:r>
                  <a:rPr lang="en-IN" sz="1100" b="0" i="0" u="none" strike="noStrike" cap="none">
                    <a:solidFill>
                      <a:srgbClr val="000000"/>
                    </a:solidFill>
                    <a:latin typeface="Arial"/>
                    <a:ea typeface="Arial"/>
                    <a:cs typeface="Arial"/>
                    <a:sym typeface="Arial"/>
                  </a:rPr>
                  <a:t>𝜂</a:t>
                </a:r>
                <a:r>
                  <a:rPr lang="en-IN" dirty="0"/>
                  <a:t>): This parameter controls the step size taken during each update. If too large, the algorithm may overshoot the minimum of the cost function. </a:t>
                </a:r>
              </a:p>
              <a:p>
                <a:r>
                  <a:rPr lang="en-IN" dirty="0"/>
                  <a:t>If too small, the convergence to the minimum will be slow. </a:t>
                </a:r>
              </a:p>
              <a:p>
                <a:r>
                  <a:rPr lang="en-IN" b="1" dirty="0"/>
                  <a:t>Stopping criterion</a:t>
                </a:r>
                <a:r>
                  <a:rPr lang="en-IN" dirty="0"/>
                  <a:t>: This condition determines when the optimization process should stop. The process terminates when: The norm of the gradient of the cost function,</a:t>
                </a:r>
                <a:r>
                  <a:rPr lang="ar-AE" dirty="0"/>
                  <a:t> </a:t>
                </a:r>
                <a:r>
                  <a:rPr lang="en-IN" dirty="0"/>
                  <a:t>is less than a small value </a:t>
                </a:r>
                <a:r>
                  <a:rPr lang="en-IN" sz="1100" b="0" i="0" u="none" strike="noStrike" cap="none">
                    <a:solidFill>
                      <a:srgbClr val="000000"/>
                    </a:solidFill>
                    <a:latin typeface="Arial"/>
                    <a:ea typeface="Arial"/>
                    <a:cs typeface="Arial"/>
                    <a:sym typeface="Arial"/>
                  </a:rPr>
                  <a:t>𝜖</a:t>
                </a:r>
                <a:r>
                  <a:rPr lang="en-IN" dirty="0"/>
                  <a:t>. </a:t>
                </a:r>
              </a:p>
              <a:p>
                <a:r>
                  <a:rPr lang="en-IN" dirty="0"/>
                  <a:t>A maximum number of iterations has been reached.</a:t>
                </a:r>
              </a:p>
              <a:p>
                <a:endParaRPr lang="en-US" dirty="0">
                  <a:effectLst/>
                </a:endParaRPr>
              </a:p>
              <a:p>
                <a:pPr marL="0" lvl="0" indent="0" algn="l" rtl="0">
                  <a:spcBef>
                    <a:spcPts val="0"/>
                  </a:spcBef>
                  <a:spcAft>
                    <a:spcPts val="0"/>
                  </a:spcAft>
                  <a:buNone/>
                </a:pPr>
                <a:endParaRPr dirty="0"/>
              </a:p>
            </p:txBody>
          </p:sp>
        </mc:Fallback>
      </mc:AlternateContent>
      <p:sp>
        <p:nvSpPr>
          <p:cNvPr id="499" name="Google Shape;499;p2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1" name="Google Shape;511;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1D: Single Parameter (a):</a:t>
                </a:r>
                <a:r>
                  <a:rPr lang="en-IN" dirty="0"/>
                  <a:t> This graph shows a simple, one-dimensional loss function (Loss </a:t>
                </a:r>
                <a14:m>
                  <m:oMath xmlns:m="http://schemas.openxmlformats.org/officeDocument/2006/math">
                    <m:r>
                      <a:rPr lang="en-IN" sz="1100" b="0" i="1" u="none" strike="noStrike" cap="none">
                        <a:solidFill>
                          <a:srgbClr val="000000"/>
                        </a:solidFill>
                        <a:latin typeface="Arial"/>
                        <a:ea typeface="Arial"/>
                        <a:cs typeface="Arial"/>
                        <a:sym typeface="Arial"/>
                      </a:rPr>
                      <m:t>𝐽</m:t>
                    </m:r>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𝑤</m:t>
                        </m:r>
                      </m:e>
                    </m:d>
                  </m:oMath>
                </a14:m>
                <a:r>
                  <a:rPr lang="en-IN" dirty="0"/>
                  <a:t> versus Weight </a:t>
                </a:r>
                <a14:m>
                  <m:oMath xmlns:m="http://schemas.openxmlformats.org/officeDocument/2006/math">
                    <m:r>
                      <a:rPr lang="en-IN" sz="1100" b="0" i="1" u="none" strike="noStrike" cap="none">
                        <a:solidFill>
                          <a:srgbClr val="000000"/>
                        </a:solidFill>
                        <a:latin typeface="Arial"/>
                        <a:ea typeface="Arial"/>
                        <a:cs typeface="Arial"/>
                        <a:sym typeface="Arial"/>
                      </a:rPr>
                      <m:t>𝑤</m:t>
                    </m:r>
                  </m:oMath>
                </a14:m>
                <a:r>
                  <a:rPr lang="en-IN" dirty="0"/>
                  <a:t>). </a:t>
                </a:r>
              </a:p>
              <a:p>
                <a:r>
                  <a:rPr lang="en-IN" dirty="0"/>
                  <a:t>The red line and points illustrate the steps taken by the gradient descent algorithm from a starting point (Start) towards the minimum point. The straight lines in the first graph appear to indicate a consistent </a:t>
                </a:r>
                <a14:m>
                  <m:oMath xmlns:m="http://schemas.openxmlformats.org/officeDocument/2006/math">
                    <m:r>
                      <a:rPr lang="en-IN" sz="1100" b="0" i="1" u="none" strike="noStrike" cap="none">
                        <a:solidFill>
                          <a:srgbClr val="000000"/>
                        </a:solidFill>
                        <a:latin typeface="Arial"/>
                        <a:ea typeface="Arial"/>
                        <a:cs typeface="Arial"/>
                        <a:sym typeface="Arial"/>
                      </a:rPr>
                      <m:t>𝐽</m:t>
                    </m:r>
                  </m:oMath>
                </a14:m>
                <a:r>
                  <a:rPr lang="en-IN" dirty="0"/>
                  <a:t> value for points along them. </a:t>
                </a:r>
              </a:p>
              <a:p>
                <a:r>
                  <a:rPr lang="en-IN" b="1" dirty="0"/>
                  <a:t>2D: Two Parameters (b):</a:t>
                </a:r>
                <a:r>
                  <a:rPr lang="en-IN" dirty="0"/>
                  <a:t> This plot generalizes the concept to two parameters (Weight </a:t>
                </a:r>
                <a14:m>
                  <m:oMath xmlns:m="http://schemas.openxmlformats.org/officeDocument/2006/math">
                    <m:sSub>
                      <m:sSubPr>
                        <m:ctrlPr>
                          <a:rPr lang="ar-AE" sz="1100" b="0" i="0" u="none" strike="noStrike" cap="none">
                            <a:solidFill>
                              <a:srgbClr val="000000"/>
                            </a:solidFill>
                            <a:latin typeface="Arial"/>
                            <a:ea typeface="Arial"/>
                            <a:cs typeface="Arial"/>
                            <a:sym typeface="Arial"/>
                          </a:rPr>
                        </m:ctrlPr>
                      </m:sSubPr>
                      <m:e>
                        <m:r>
                          <a:rPr lang="ar-AE" sz="1100" b="0" i="1" u="none" strike="noStrike" cap="none">
                            <a:solidFill>
                              <a:srgbClr val="000000"/>
                            </a:solidFill>
                            <a:latin typeface="Arial"/>
                            <a:ea typeface="Arial"/>
                            <a:cs typeface="Arial"/>
                            <a:sym typeface="Arial"/>
                          </a:rPr>
                          <m:t>𝑤</m:t>
                        </m:r>
                      </m:e>
                      <m:sub>
                        <m:r>
                          <a:rPr lang="ar-AE" sz="1100" b="0" i="0" u="none" strike="noStrike" cap="none">
                            <a:solidFill>
                              <a:srgbClr val="000000"/>
                            </a:solidFill>
                            <a:latin typeface="Arial"/>
                            <a:ea typeface="Arial"/>
                            <a:cs typeface="Arial"/>
                            <a:sym typeface="Arial"/>
                          </a:rPr>
                          <m:t>1</m:t>
                        </m:r>
                      </m:sub>
                    </m:sSub>
                  </m:oMath>
                </a14:m>
                <a:r>
                  <a:rPr lang="en-IN" dirty="0"/>
                  <a:t>and Weight </a:t>
                </a:r>
                <a14:m>
                  <m:oMath xmlns:m="http://schemas.openxmlformats.org/officeDocument/2006/math">
                    <m:sSub>
                      <m:sSubPr>
                        <m:ctrlPr>
                          <a:rPr lang="ar-AE" sz="1100" b="0" i="0" u="none" strike="noStrike" cap="none">
                            <a:solidFill>
                              <a:srgbClr val="000000"/>
                            </a:solidFill>
                            <a:latin typeface="Arial"/>
                            <a:ea typeface="Arial"/>
                            <a:cs typeface="Arial"/>
                            <a:sym typeface="Arial"/>
                          </a:rPr>
                        </m:ctrlPr>
                      </m:sSubPr>
                      <m:e>
                        <m:r>
                          <a:rPr lang="ar-AE" sz="1100" b="0" i="1" u="none" strike="noStrike" cap="none">
                            <a:solidFill>
                              <a:srgbClr val="000000"/>
                            </a:solidFill>
                            <a:latin typeface="Arial"/>
                            <a:ea typeface="Arial"/>
                            <a:cs typeface="Arial"/>
                            <a:sym typeface="Arial"/>
                          </a:rPr>
                          <m:t>𝑤</m:t>
                        </m:r>
                      </m:e>
                      <m:sub>
                        <m:r>
                          <a:rPr lang="ar-AE" sz="1100" b="0" i="0" u="none" strike="noStrike" cap="none">
                            <a:solidFill>
                              <a:srgbClr val="000000"/>
                            </a:solidFill>
                            <a:latin typeface="Arial"/>
                            <a:ea typeface="Arial"/>
                            <a:cs typeface="Arial"/>
                            <a:sym typeface="Arial"/>
                          </a:rPr>
                          <m:t>2</m:t>
                        </m:r>
                      </m:sub>
                    </m:sSub>
                  </m:oMath>
                </a14:m>
                <a:r>
                  <a:rPr lang="en-US" dirty="0"/>
                  <a:t>).</a:t>
                </a:r>
                <a:r>
                  <a:rPr lang="ar-AE" dirty="0"/>
                  <a:t> </a:t>
                </a:r>
                <a:r>
                  <a:rPr lang="en-IN" dirty="0"/>
                  <a:t>It uses a contour map to show the loss function landscape. The path from the start point (red diamond) shows the algorithm navigating the contours to reach the optimal point (purple diamond). </a:t>
                </a:r>
              </a:p>
              <a:p>
                <a:r>
                  <a:rPr lang="en-IN" b="1" dirty="0"/>
                  <a:t>3D: Complete Surface (c):</a:t>
                </a:r>
                <a:r>
                  <a:rPr lang="en-IN" dirty="0"/>
                  <a:t> This three-dimensional surface plot provides a full view of the optimization landscape for the two-parameter function. It visually demonstrates the "descent" down the surface of the loss function towards the lowest point, which represents the optimal set of parameters.</a:t>
                </a:r>
                <a:endParaRPr dirty="0"/>
              </a:p>
            </p:txBody>
          </p:sp>
        </mc:Choice>
        <mc:Fallback>
          <p:sp>
            <p:nvSpPr>
              <p:cNvPr id="511" name="Google Shape;511;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1D: Single Parameter (a):</a:t>
                </a:r>
                <a:r>
                  <a:rPr lang="en-IN" dirty="0"/>
                  <a:t> This graph shows a simple, one-dimensional loss function (Loss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 versus Weight </a:t>
                </a:r>
                <a:r>
                  <a:rPr lang="en-IN" sz="1100" b="0" i="0" u="none" strike="noStrike" cap="none">
                    <a:solidFill>
                      <a:srgbClr val="000000"/>
                    </a:solidFill>
                    <a:latin typeface="Arial"/>
                    <a:ea typeface="Arial"/>
                    <a:cs typeface="Arial"/>
                    <a:sym typeface="Arial"/>
                  </a:rPr>
                  <a:t>𝑤</a:t>
                </a:r>
                <a:r>
                  <a:rPr lang="en-IN" dirty="0"/>
                  <a:t>). </a:t>
                </a:r>
              </a:p>
              <a:p>
                <a:r>
                  <a:rPr lang="en-IN" dirty="0"/>
                  <a:t>The red line and points illustrate the steps taken by the gradient descent algorithm from a starting point (Start) towards the minimum point. The straight lines in the first graph appear to indicate a consistent </a:t>
                </a:r>
                <a:r>
                  <a:rPr lang="en-IN" sz="1100" b="0" i="0" u="none" strike="noStrike" cap="none">
                    <a:solidFill>
                      <a:srgbClr val="000000"/>
                    </a:solidFill>
                    <a:latin typeface="Arial"/>
                    <a:ea typeface="Arial"/>
                    <a:cs typeface="Arial"/>
                    <a:sym typeface="Arial"/>
                  </a:rPr>
                  <a:t>𝐽</a:t>
                </a:r>
                <a:r>
                  <a:rPr lang="en-IN" dirty="0"/>
                  <a:t> value for points along them. </a:t>
                </a:r>
              </a:p>
              <a:p>
                <a:r>
                  <a:rPr lang="en-IN" b="1" dirty="0"/>
                  <a:t>2D: Two Parameters (b):</a:t>
                </a:r>
                <a:r>
                  <a:rPr lang="en-IN" dirty="0"/>
                  <a:t> This plot generalizes the concept to two parameters (Weight </a:t>
                </a:r>
                <a:r>
                  <a:rPr lang="ar-AE" sz="1100" b="0" i="0" u="none" strike="noStrike" cap="none">
                    <a:solidFill>
                      <a:srgbClr val="000000"/>
                    </a:solidFill>
                    <a:latin typeface="Arial"/>
                    <a:ea typeface="Arial"/>
                    <a:cs typeface="Arial"/>
                    <a:sym typeface="Arial"/>
                  </a:rPr>
                  <a:t>𝑤_1</a:t>
                </a:r>
                <a:r>
                  <a:rPr lang="en-IN" dirty="0"/>
                  <a:t>and Weight </a:t>
                </a:r>
                <a:r>
                  <a:rPr lang="ar-AE" sz="1100" b="0" i="0" u="none" strike="noStrike" cap="none">
                    <a:solidFill>
                      <a:srgbClr val="000000"/>
                    </a:solidFill>
                    <a:latin typeface="Arial"/>
                    <a:ea typeface="Arial"/>
                    <a:cs typeface="Arial"/>
                    <a:sym typeface="Arial"/>
                  </a:rPr>
                  <a:t>𝑤_2</a:t>
                </a:r>
                <a:r>
                  <a:rPr lang="en-US" dirty="0"/>
                  <a:t>).</a:t>
                </a:r>
                <a:r>
                  <a:rPr lang="ar-AE" dirty="0"/>
                  <a:t> </a:t>
                </a:r>
                <a:r>
                  <a:rPr lang="en-IN" dirty="0"/>
                  <a:t>It uses a contour map to show the loss function landscape. The path from the start point (red diamond) shows the algorithm navigating the contours to reach the optimal point (purple diamond). </a:t>
                </a:r>
              </a:p>
              <a:p>
                <a:r>
                  <a:rPr lang="en-IN" b="1" dirty="0"/>
                  <a:t>3D: Complete Surface (c):</a:t>
                </a:r>
                <a:r>
                  <a:rPr lang="en-IN" dirty="0"/>
                  <a:t> This three-dimensional surface plot provides a full view of the optimization landscape for the two-parameter function. It visually demonstrates the "descent" down the surface of the loss function towards the lowest point, which represents the optimal set of parameters.</a:t>
                </a:r>
                <a:endParaRPr dirty="0"/>
              </a:p>
            </p:txBody>
          </p:sp>
        </mc:Fallback>
      </mc:AlternateContent>
      <p:sp>
        <p:nvSpPr>
          <p:cNvPr id="512" name="Google Shape;512;p2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2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5" name="Google Shape;555;p2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2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2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1" name="Google Shape;581;p2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2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4" name="Google Shape;594;p2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3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3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0" name="Google Shape;620;p3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4" name="Google Shape;694;p3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23" name="Google Shape;723;p3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Root Mean Absolute Error (RMSE) is a metric used to measure the difference between predicted and actual values in a dataset, calculated by taking the square root of the average of the squared differences between the predicted and actual values.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Mean Absolute Error (MAE) is a metric that measures the average magnitude of the errors between paired observations, such as predicted versus actual values. It is calculated by taking the average of the absolute differences between the predicted and actual values, making it robust to outliers.</a:t>
            </a:r>
          </a:p>
          <a:p>
            <a:pPr marL="0" lvl="0" indent="0" algn="l" rtl="0">
              <a:spcBef>
                <a:spcPts val="0"/>
              </a:spcBef>
              <a:spcAft>
                <a:spcPts val="0"/>
              </a:spcAft>
              <a:buNone/>
            </a:pPr>
            <a:endParaRPr dirty="0"/>
          </a:p>
        </p:txBody>
      </p:sp>
      <p:sp>
        <p:nvSpPr>
          <p:cNvPr id="736" name="Google Shape;736;p3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48" name="Google Shape;748;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R² (R-squared) score in linear regression is </a:t>
                </a:r>
                <a:r>
                  <a:rPr lang="en-US" dirty="0"/>
                  <a:t>a statistical measure that represents the </a:t>
                </a:r>
                <a:r>
                  <a:rPr lang="en-US" b="1" dirty="0">
                    <a:effectLst/>
                  </a:rPr>
                  <a:t>proportion of the variance in the dependent variable that is predictable from the independent variable(s)</a:t>
                </a:r>
                <a:r>
                  <a:rPr lang="en-US" sz="1100" b="0" i="0" u="none" strike="noStrike" cap="none" dirty="0">
                    <a:solidFill>
                      <a:srgbClr val="000000"/>
                    </a:solidFill>
                    <a:effectLst/>
                    <a:latin typeface="Arial"/>
                    <a:ea typeface="Arial"/>
                    <a:cs typeface="Arial"/>
                    <a:sym typeface="Arial"/>
                  </a:rPr>
                  <a:t>. It's often called the </a:t>
                </a:r>
                <a:r>
                  <a:rPr lang="en-US" sz="1100" b="1" i="0" u="none" strike="noStrike" cap="none" dirty="0">
                    <a:solidFill>
                      <a:srgbClr val="000000"/>
                    </a:solidFill>
                    <a:effectLst/>
                    <a:latin typeface="Arial"/>
                    <a:ea typeface="Arial"/>
                    <a:cs typeface="Arial"/>
                    <a:sym typeface="Arial"/>
                  </a:rPr>
                  <a:t>coefficient of determination</a:t>
                </a:r>
                <a:r>
                  <a:rPr lang="en-US" sz="1100" b="0" i="0" u="none" strike="noStrike" cap="none" dirty="0">
                    <a:solidFill>
                      <a:srgbClr val="000000"/>
                    </a:solidFill>
                    <a:effectLst/>
                    <a:latin typeface="Arial"/>
                    <a:ea typeface="Arial"/>
                    <a:cs typeface="Arial"/>
                    <a:sym typeface="Arial"/>
                  </a:rPr>
                  <a:t> and indicates how well the regression model's predictions fit the actual data. A score of 1 (or 100%) means the model perfectly predicts the data, while a score of 0 means the model is no better than simply predicting the average value. </a:t>
                </a:r>
              </a:p>
              <a:p>
                <a:pPr rtl="0"/>
                <a14:m>
                  <m:oMath xmlns:m="http://schemas.openxmlformats.org/officeDocument/2006/math">
                    <m:r>
                      <a:rPr lang="ar-AE" sz="1100" b="0" i="1" u="none" strike="noStrike" cap="none" smtClean="0">
                        <a:solidFill>
                          <a:srgbClr val="000000"/>
                        </a:solidFill>
                        <a:latin typeface="Arial"/>
                        <a:ea typeface="Arial"/>
                        <a:cs typeface="Arial"/>
                        <a:sym typeface="Arial"/>
                      </a:rPr>
                      <m:t>𝑆</m:t>
                    </m:r>
                    <m:sSub>
                      <m:sSubPr>
                        <m:ctrlPr>
                          <a:rPr lang="ar-AE" sz="1100" b="0" i="1" u="none" strike="noStrike" cap="none">
                            <a:solidFill>
                              <a:srgbClr val="000000"/>
                            </a:solidFill>
                            <a:latin typeface="Arial"/>
                            <a:ea typeface="Arial"/>
                            <a:cs typeface="Arial"/>
                            <a:sym typeface="Arial"/>
                          </a:rPr>
                        </m:ctrlPr>
                      </m:sSubPr>
                      <m:e>
                        <m:r>
                          <a:rPr lang="ar-AE" sz="1100" b="0" i="1" u="none" strike="noStrike" cap="none">
                            <a:solidFill>
                              <a:srgbClr val="000000"/>
                            </a:solidFill>
                            <a:latin typeface="Arial"/>
                            <a:ea typeface="Arial"/>
                            <a:cs typeface="Arial"/>
                            <a:sym typeface="Arial"/>
                          </a:rPr>
                          <m:t>𝑆</m:t>
                        </m:r>
                      </m:e>
                      <m:sub>
                        <m:r>
                          <a:rPr lang="ar-AE" sz="1100" b="0" i="1" u="none" strike="noStrike" cap="none">
                            <a:solidFill>
                              <a:srgbClr val="000000"/>
                            </a:solidFill>
                            <a:latin typeface="Arial"/>
                            <a:ea typeface="Arial"/>
                            <a:cs typeface="Arial"/>
                            <a:sym typeface="Arial"/>
                          </a:rPr>
                          <m:t>𝑟𝑒𝑠</m:t>
                        </m:r>
                      </m:sub>
                    </m:sSub>
                  </m:oMath>
                </a14:m>
                <a:r>
                  <a:rPr lang="en-US" dirty="0">
                    <a:effectLst/>
                  </a:rPr>
                  <a:t> </a:t>
                </a:r>
                <a:r>
                  <a:rPr lang="en-IN" dirty="0"/>
                  <a:t>is the "residual sum of squares," which measures the variance around the regression line (the sum of the squared differences between the actual and predicted values).</a:t>
                </a:r>
              </a:p>
              <a:p>
                <a:pPr rtl="0"/>
                <a14:m>
                  <m:oMath xmlns:m="http://schemas.openxmlformats.org/officeDocument/2006/math">
                    <m:r>
                      <a:rPr lang="en-IN" sz="1100" b="0" i="1" u="none" strike="noStrike" cap="none">
                        <a:solidFill>
                          <a:srgbClr val="000000"/>
                        </a:solidFill>
                        <a:latin typeface="Arial"/>
                        <a:ea typeface="Arial"/>
                        <a:cs typeface="Arial"/>
                        <a:sym typeface="Arial"/>
                      </a:rPr>
                      <m:t>𝑆</m:t>
                    </m:r>
                    <m:sSub>
                      <m:sSubPr>
                        <m:ctrlPr>
                          <a:rPr lang="ar-AE" sz="1100" b="0" i="1" u="none" strike="noStrike" cap="none">
                            <a:solidFill>
                              <a:srgbClr val="000000"/>
                            </a:solidFill>
                            <a:latin typeface="Arial"/>
                            <a:ea typeface="Arial"/>
                            <a:cs typeface="Arial"/>
                            <a:sym typeface="Arial"/>
                          </a:rPr>
                        </m:ctrlPr>
                      </m:sSubPr>
                      <m:e>
                        <m:r>
                          <a:rPr lang="ar-AE" sz="1100" b="0" i="1" u="none" strike="noStrike" cap="none">
                            <a:solidFill>
                              <a:srgbClr val="000000"/>
                            </a:solidFill>
                            <a:latin typeface="Arial"/>
                            <a:ea typeface="Arial"/>
                            <a:cs typeface="Arial"/>
                            <a:sym typeface="Arial"/>
                          </a:rPr>
                          <m:t>𝑆</m:t>
                        </m:r>
                      </m:e>
                      <m:sub>
                        <m:r>
                          <a:rPr lang="ar-AE" sz="1100" b="0" i="1" u="none" strike="noStrike" cap="none">
                            <a:solidFill>
                              <a:srgbClr val="000000"/>
                            </a:solidFill>
                            <a:latin typeface="Arial"/>
                            <a:ea typeface="Arial"/>
                            <a:cs typeface="Arial"/>
                            <a:sym typeface="Arial"/>
                          </a:rPr>
                          <m:t>𝑡𝑜𝑡</m:t>
                        </m:r>
                      </m:sub>
                    </m:sSub>
                    <m:r>
                      <a:rPr lang="en-US" sz="1100" b="0" i="1" u="none" strike="noStrike" cap="none" smtClean="0">
                        <a:solidFill>
                          <a:srgbClr val="000000"/>
                        </a:solidFill>
                        <a:latin typeface="Cambria Math" panose="02040503050406030204" pitchFamily="18" charset="0"/>
                        <a:ea typeface="Arial"/>
                        <a:cs typeface="Arial"/>
                        <a:sym typeface="Arial"/>
                      </a:rPr>
                      <m:t> </m:t>
                    </m:r>
                  </m:oMath>
                </a14:m>
                <a:r>
                  <a:rPr lang="en-IN" dirty="0"/>
                  <a:t>is the "total sum of squares," which measures the total variance in the data (the sum of the squared differences between the actual values and the mean of the dependent variable). </a:t>
                </a:r>
              </a:p>
              <a:p>
                <a:r>
                  <a:rPr lang="en-US" sz="1100" b="1" i="0" u="none" strike="noStrike" cap="none" dirty="0">
                    <a:solidFill>
                      <a:srgbClr val="000000"/>
                    </a:solidFill>
                    <a:effectLst/>
                    <a:latin typeface="Arial"/>
                    <a:ea typeface="Arial"/>
                    <a:cs typeface="Arial"/>
                    <a:sym typeface="Arial"/>
                  </a:rPr>
                  <a:t>High R²:</a:t>
                </a:r>
                <a:r>
                  <a:rPr lang="en-US" sz="1100" b="0" i="0" u="none" strike="noStrike" cap="none" dirty="0">
                    <a:solidFill>
                      <a:srgbClr val="000000"/>
                    </a:solidFill>
                    <a:effectLst/>
                    <a:latin typeface="Arial"/>
                    <a:ea typeface="Arial"/>
                    <a:cs typeface="Arial"/>
                    <a:sym typeface="Arial"/>
                  </a:rPr>
                  <a:t> A high R² value, closer to 1, indicates that a large portion of the variance in the dependent variable can be explained by the independent variables in the model.</a:t>
                </a:r>
              </a:p>
              <a:p>
                <a:r>
                  <a:rPr lang="en-US" sz="1100" b="1" i="0" u="none" strike="noStrike" cap="none" dirty="0">
                    <a:solidFill>
                      <a:srgbClr val="000000"/>
                    </a:solidFill>
                    <a:effectLst/>
                    <a:latin typeface="Arial"/>
                    <a:ea typeface="Arial"/>
                    <a:cs typeface="Arial"/>
                    <a:sym typeface="Arial"/>
                  </a:rPr>
                  <a:t>Low R²:</a:t>
                </a:r>
                <a:r>
                  <a:rPr lang="en-US" sz="1100" b="0" i="0" u="none" strike="noStrike" cap="none" dirty="0">
                    <a:solidFill>
                      <a:srgbClr val="000000"/>
                    </a:solidFill>
                    <a:effectLst/>
                    <a:latin typeface="Arial"/>
                    <a:ea typeface="Arial"/>
                    <a:cs typeface="Arial"/>
                    <a:sym typeface="Arial"/>
                  </a:rPr>
                  <a:t> A low R² value, closer to 0, suggests that the model's predictions don't fit the data well and much of the variance is due to other factors not included in the model.</a:t>
                </a:r>
              </a:p>
              <a:p>
                <a:r>
                  <a:rPr lang="en-US" sz="1100" b="1" i="0" u="none" strike="noStrike" cap="none" dirty="0">
                    <a:solidFill>
                      <a:srgbClr val="000000"/>
                    </a:solidFill>
                    <a:effectLst/>
                    <a:latin typeface="Arial"/>
                    <a:ea typeface="Arial"/>
                    <a:cs typeface="Arial"/>
                    <a:sym typeface="Arial"/>
                  </a:rPr>
                  <a:t>Context is key:</a:t>
                </a:r>
                <a:r>
                  <a:rPr lang="en-US" sz="1100" b="0" i="0" u="none" strike="noStrike" cap="none" dirty="0">
                    <a:solidFill>
                      <a:srgbClr val="000000"/>
                    </a:solidFill>
                    <a:effectLst/>
                    <a:latin typeface="Arial"/>
                    <a:ea typeface="Arial"/>
                    <a:cs typeface="Arial"/>
                    <a:sym typeface="Arial"/>
                  </a:rPr>
                  <a:t> While a higher R² is often better, the interpretation of a "good" score depends on the field of study. For example, a high R² in physics might be 0.99, but in social sciences, an R² of 0.5 might be considered strong</a:t>
                </a:r>
              </a:p>
              <a:p>
                <a:endParaRPr dirty="0"/>
              </a:p>
            </p:txBody>
          </p:sp>
        </mc:Choice>
        <mc:Fallback>
          <p:sp>
            <p:nvSpPr>
              <p:cNvPr id="748" name="Google Shape;748;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R² (R-squared) score in linear regression is </a:t>
                </a:r>
                <a:r>
                  <a:rPr lang="en-US" dirty="0"/>
                  <a:t>a statistical measure that represents the </a:t>
                </a:r>
                <a:r>
                  <a:rPr lang="en-US" b="1" dirty="0">
                    <a:effectLst/>
                  </a:rPr>
                  <a:t>proportion of the variance in the dependent variable that is predictable from the independent variable(s)</a:t>
                </a:r>
                <a:r>
                  <a:rPr lang="en-US" sz="1100" b="0" i="0" u="none" strike="noStrike" cap="none" dirty="0">
                    <a:solidFill>
                      <a:srgbClr val="000000"/>
                    </a:solidFill>
                    <a:effectLst/>
                    <a:latin typeface="Arial"/>
                    <a:ea typeface="Arial"/>
                    <a:cs typeface="Arial"/>
                    <a:sym typeface="Arial"/>
                  </a:rPr>
                  <a:t>. It's often called the </a:t>
                </a:r>
                <a:r>
                  <a:rPr lang="en-US" sz="1100" b="1" i="0" u="none" strike="noStrike" cap="none" dirty="0">
                    <a:solidFill>
                      <a:srgbClr val="000000"/>
                    </a:solidFill>
                    <a:effectLst/>
                    <a:latin typeface="Arial"/>
                    <a:ea typeface="Arial"/>
                    <a:cs typeface="Arial"/>
                    <a:sym typeface="Arial"/>
                  </a:rPr>
                  <a:t>coefficient of determination</a:t>
                </a:r>
                <a:r>
                  <a:rPr lang="en-US" sz="1100" b="0" i="0" u="none" strike="noStrike" cap="none" dirty="0">
                    <a:solidFill>
                      <a:srgbClr val="000000"/>
                    </a:solidFill>
                    <a:effectLst/>
                    <a:latin typeface="Arial"/>
                    <a:ea typeface="Arial"/>
                    <a:cs typeface="Arial"/>
                    <a:sym typeface="Arial"/>
                  </a:rPr>
                  <a:t> and indicates how well the regression model's predictions fit the actual data. A score of 1 (or 100%) means the model perfectly predicts the data, while a score of 0 means the model is no better than simply predicting the average value. </a:t>
                </a:r>
              </a:p>
              <a:p>
                <a:pPr rtl="0"/>
                <a:r>
                  <a:rPr lang="ar-AE" sz="1100" b="0" i="0" u="none" strike="noStrike" cap="none">
                    <a:solidFill>
                      <a:srgbClr val="000000"/>
                    </a:solidFill>
                    <a:latin typeface="Arial"/>
                    <a:ea typeface="Arial"/>
                    <a:cs typeface="Arial"/>
                    <a:sym typeface="Arial"/>
                  </a:rPr>
                  <a:t>𝑆𝑆_𝑟𝑒𝑠</a:t>
                </a:r>
                <a:r>
                  <a:rPr lang="en-US" dirty="0">
                    <a:effectLst/>
                  </a:rPr>
                  <a:t> </a:t>
                </a:r>
                <a:r>
                  <a:rPr lang="en-IN" dirty="0"/>
                  <a:t>is the "residual sum of squares," which measures the variance around the regression line (the sum of the squared differences between the actual and predicted values).</a:t>
                </a:r>
              </a:p>
              <a:p>
                <a:pPr rtl="0"/>
                <a:r>
                  <a:rPr lang="en-IN" sz="1100" b="0" i="0" u="none" strike="noStrike" cap="none">
                    <a:solidFill>
                      <a:srgbClr val="000000"/>
                    </a:solidFill>
                    <a:latin typeface="Arial"/>
                    <a:ea typeface="Arial"/>
                    <a:cs typeface="Arial"/>
                    <a:sym typeface="Arial"/>
                  </a:rPr>
                  <a:t>𝑆</a:t>
                </a:r>
                <a:r>
                  <a:rPr lang="ar-AE" sz="1100" b="0" i="0" u="none" strike="noStrike" cap="none">
                    <a:solidFill>
                      <a:srgbClr val="000000"/>
                    </a:solidFill>
                    <a:latin typeface="Arial"/>
                    <a:ea typeface="Arial"/>
                    <a:cs typeface="Arial"/>
                    <a:sym typeface="Arial"/>
                  </a:rPr>
                  <a:t>𝑆_𝑡𝑜𝑡</a:t>
                </a:r>
                <a:r>
                  <a:rPr lang="en-US" sz="1100" b="0" i="0" u="none" strike="noStrike" cap="none">
                    <a:solidFill>
                      <a:srgbClr val="000000"/>
                    </a:solidFill>
                    <a:latin typeface="Cambria Math" panose="02040503050406030204" pitchFamily="18" charset="0"/>
                    <a:ea typeface="Arial"/>
                    <a:cs typeface="Arial"/>
                    <a:sym typeface="Arial"/>
                  </a:rPr>
                  <a:t>  </a:t>
                </a:r>
                <a:r>
                  <a:rPr lang="en-IN" dirty="0"/>
                  <a:t>is the "total sum of squares," which measures the total variance in the data (the sum of the squared differences between the actual values and the mean of the dependent variable). </a:t>
                </a:r>
              </a:p>
              <a:p>
                <a:r>
                  <a:rPr lang="en-US" sz="1100" b="1" i="0" u="none" strike="noStrike" cap="none" dirty="0">
                    <a:solidFill>
                      <a:srgbClr val="000000"/>
                    </a:solidFill>
                    <a:effectLst/>
                    <a:latin typeface="Arial"/>
                    <a:ea typeface="Arial"/>
                    <a:cs typeface="Arial"/>
                    <a:sym typeface="Arial"/>
                  </a:rPr>
                  <a:t>High R²:</a:t>
                </a:r>
                <a:r>
                  <a:rPr lang="en-US" sz="1100" b="0" i="0" u="none" strike="noStrike" cap="none" dirty="0">
                    <a:solidFill>
                      <a:srgbClr val="000000"/>
                    </a:solidFill>
                    <a:effectLst/>
                    <a:latin typeface="Arial"/>
                    <a:ea typeface="Arial"/>
                    <a:cs typeface="Arial"/>
                    <a:sym typeface="Arial"/>
                  </a:rPr>
                  <a:t> A high R² value, closer to 1, indicates that a large portion of the variance in the dependent variable can be explained by the independent variables in the model.</a:t>
                </a:r>
              </a:p>
              <a:p>
                <a:r>
                  <a:rPr lang="en-US" sz="1100" b="1" i="0" u="none" strike="noStrike" cap="none" dirty="0">
                    <a:solidFill>
                      <a:srgbClr val="000000"/>
                    </a:solidFill>
                    <a:effectLst/>
                    <a:latin typeface="Arial"/>
                    <a:ea typeface="Arial"/>
                    <a:cs typeface="Arial"/>
                    <a:sym typeface="Arial"/>
                  </a:rPr>
                  <a:t>Low R²:</a:t>
                </a:r>
                <a:r>
                  <a:rPr lang="en-US" sz="1100" b="0" i="0" u="none" strike="noStrike" cap="none" dirty="0">
                    <a:solidFill>
                      <a:srgbClr val="000000"/>
                    </a:solidFill>
                    <a:effectLst/>
                    <a:latin typeface="Arial"/>
                    <a:ea typeface="Arial"/>
                    <a:cs typeface="Arial"/>
                    <a:sym typeface="Arial"/>
                  </a:rPr>
                  <a:t> A low R² value, closer to 0, suggests that the model's predictions don't fit the data well and much of the variance is due to other factors not included in the model.</a:t>
                </a:r>
              </a:p>
              <a:p>
                <a:r>
                  <a:rPr lang="en-US" sz="1100" b="1" i="0" u="none" strike="noStrike" cap="none" dirty="0">
                    <a:solidFill>
                      <a:srgbClr val="000000"/>
                    </a:solidFill>
                    <a:effectLst/>
                    <a:latin typeface="Arial"/>
                    <a:ea typeface="Arial"/>
                    <a:cs typeface="Arial"/>
                    <a:sym typeface="Arial"/>
                  </a:rPr>
                  <a:t>Context is key:</a:t>
                </a:r>
                <a:r>
                  <a:rPr lang="en-US" sz="1100" b="0" i="0" u="none" strike="noStrike" cap="none" dirty="0">
                    <a:solidFill>
                      <a:srgbClr val="000000"/>
                    </a:solidFill>
                    <a:effectLst/>
                    <a:latin typeface="Arial"/>
                    <a:ea typeface="Arial"/>
                    <a:cs typeface="Arial"/>
                    <a:sym typeface="Arial"/>
                  </a:rPr>
                  <a:t> While a higher R² is often better, the interpretation of a "good" score depends on the field of study. For example, a high R² in physics might be 0.99, but in social sciences, an R² of 0.5 might be considered strong</a:t>
                </a:r>
              </a:p>
              <a:p>
                <a:endParaRPr dirty="0"/>
              </a:p>
            </p:txBody>
          </p:sp>
        </mc:Fallback>
      </mc:AlternateContent>
      <p:sp>
        <p:nvSpPr>
          <p:cNvPr id="749" name="Google Shape;749;p3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3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2" name="Google Shape;762;p3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3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1" name="Google Shape;791;p3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3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5" name="Google Shape;805;p3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4" name="Google Shape;834;p3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4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7" name="Google Shape;847;p4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6" name="Google Shape;856;p4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4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9" name="Google Shape;869;p4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97" name="Google Shape;89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 Data &amp; Initialization:</a:t>
                </a:r>
                <a:r>
                  <a:rPr lang="en-IN" dirty="0"/>
                  <a:t> The process begins with a dataset </a:t>
                </a:r>
                <a14:m>
                  <m:oMath xmlns:m="http://schemas.openxmlformats.org/officeDocument/2006/math">
                    <m:r>
                      <a:rPr lang="en-IN" sz="1100" b="0" i="1" u="none" strike="noStrike" cap="none">
                        <a:solidFill>
                          <a:srgbClr val="000000"/>
                        </a:solidFill>
                        <a:latin typeface="Arial"/>
                        <a:ea typeface="Arial"/>
                        <a:cs typeface="Arial"/>
                        <a:sym typeface="Arial"/>
                      </a:rPr>
                      <m:t>𝐷</m:t>
                    </m:r>
                    <m:r>
                      <a:rPr lang="en-IN" sz="1100" b="0" i="0" u="none" strike="noStrike" cap="none">
                        <a:solidFill>
                          <a:srgbClr val="000000"/>
                        </a:solidFill>
                        <a:latin typeface="Arial"/>
                        <a:ea typeface="Arial"/>
                        <a:cs typeface="Arial"/>
                        <a:sym typeface="Arial"/>
                      </a:rPr>
                      <m:t>=</m:t>
                    </m:r>
                    <m:d>
                      <m:dPr>
                        <m:begChr m:val="{"/>
                        <m:endChr m:val="}"/>
                        <m:ctrlPr>
                          <a:rPr lang="ar-AE" sz="1100" b="0" i="1" u="none" strike="noStrike" cap="none">
                            <a:solidFill>
                              <a:srgbClr val="000000"/>
                            </a:solidFill>
                            <a:latin typeface="Arial"/>
                            <a:ea typeface="Arial"/>
                            <a:cs typeface="Arial"/>
                            <a:sym typeface="Arial"/>
                          </a:rPr>
                        </m:ctrlPr>
                      </m:dPr>
                      <m:e>
                        <m:d>
                          <m:dPr>
                            <m:sepChr m:val=","/>
                            <m:ctrlPr>
                              <a:rPr lang="ar-AE" sz="1100" b="0" i="1" u="none" strike="noStrike" cap="none">
                                <a:solidFill>
                                  <a:srgbClr val="000000"/>
                                </a:solidFill>
                                <a:latin typeface="Arial"/>
                                <a:ea typeface="Arial"/>
                                <a:cs typeface="Arial"/>
                                <a:sym typeface="Arial"/>
                              </a:rPr>
                            </m:ctrlPr>
                          </m:dPr>
                          <m:e>
                            <m:sSup>
                              <m:sSupPr>
                                <m:ctrlPr>
                                  <a:rPr lang="ar-AE" sz="1100" b="0" i="1" u="none" strike="noStrike" cap="none">
                                    <a:solidFill>
                                      <a:srgbClr val="000000"/>
                                    </a:solidFill>
                                    <a:latin typeface="Arial"/>
                                    <a:ea typeface="Arial"/>
                                    <a:cs typeface="Arial"/>
                                    <a:sym typeface="Arial"/>
                                  </a:rPr>
                                </m:ctrlPr>
                              </m:sSupPr>
                              <m:e>
                                <m:r>
                                  <a:rPr lang="ar-AE" sz="1100" b="0" i="1" u="none" strike="noStrike" cap="none">
                                    <a:solidFill>
                                      <a:srgbClr val="000000"/>
                                    </a:solidFill>
                                    <a:latin typeface="Arial"/>
                                    <a:ea typeface="Arial"/>
                                    <a:cs typeface="Arial"/>
                                    <a:sym typeface="Arial"/>
                                  </a:rPr>
                                  <m:t>𝑥</m:t>
                                </m:r>
                              </m:e>
                              <m:sup>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𝑖</m:t>
                                    </m:r>
                                  </m:e>
                                </m:d>
                              </m:sup>
                            </m:sSup>
                          </m:e>
                          <m:e>
                            <m:sSup>
                              <m:sSupPr>
                                <m:ctrlPr>
                                  <a:rPr lang="ar-AE" sz="1100" b="0" i="1" u="none" strike="noStrike" cap="none">
                                    <a:solidFill>
                                      <a:srgbClr val="000000"/>
                                    </a:solidFill>
                                    <a:latin typeface="Arial"/>
                                    <a:ea typeface="Arial"/>
                                    <a:cs typeface="Arial"/>
                                    <a:sym typeface="Arial"/>
                                  </a:rPr>
                                </m:ctrlPr>
                              </m:sSupPr>
                              <m:e>
                                <m:r>
                                  <a:rPr lang="ar-AE" sz="1100" b="0" i="1" u="none" strike="noStrike" cap="none">
                                    <a:solidFill>
                                      <a:srgbClr val="000000"/>
                                    </a:solidFill>
                                    <a:latin typeface="Arial"/>
                                    <a:ea typeface="Arial"/>
                                    <a:cs typeface="Arial"/>
                                    <a:sym typeface="Arial"/>
                                  </a:rPr>
                                  <m:t>𝑦</m:t>
                                </m:r>
                              </m:e>
                              <m:sup>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𝑖</m:t>
                                    </m:r>
                                  </m:e>
                                </m:d>
                              </m:sup>
                            </m:sSup>
                          </m:e>
                        </m:d>
                      </m:e>
                    </m:d>
                  </m:oMath>
                </a14:m>
                <a:r>
                  <a:rPr lang="en-US" dirty="0">
                    <a:effectLst/>
                  </a:rPr>
                  <a:t> </a:t>
                </a:r>
                <a:r>
                  <a:rPr lang="en-IN" dirty="0"/>
                  <a:t>consisting of input-output pairs. The model's weight vector </a:t>
                </a:r>
                <a14:m>
                  <m:oMath xmlns:m="http://schemas.openxmlformats.org/officeDocument/2006/math">
                    <m:r>
                      <a:rPr lang="en-IN" sz="1100" b="0" i="1" u="none" strike="noStrike" cap="none">
                        <a:solidFill>
                          <a:srgbClr val="000000"/>
                        </a:solidFill>
                        <a:latin typeface="Arial"/>
                        <a:ea typeface="Arial"/>
                        <a:cs typeface="Arial"/>
                        <a:sym typeface="Arial"/>
                      </a:rPr>
                      <m:t>𝑤</m:t>
                    </m:r>
                  </m:oMath>
                </a14:m>
                <a:r>
                  <a:rPr lang="en-IN" dirty="0"/>
                  <a:t> is initialized, often to zero (</a:t>
                </a:r>
                <a14:m>
                  <m:oMath xmlns:m="http://schemas.openxmlformats.org/officeDocument/2006/math">
                    <m:sSup>
                      <m:sSupPr>
                        <m:ctrlPr>
                          <a:rPr lang="ar-AE" sz="1100" b="0" i="0" u="none" strike="noStrike" cap="none">
                            <a:solidFill>
                              <a:srgbClr val="000000"/>
                            </a:solidFill>
                            <a:latin typeface="Arial"/>
                            <a:ea typeface="Arial"/>
                            <a:cs typeface="Arial"/>
                            <a:sym typeface="Arial"/>
                          </a:rPr>
                        </m:ctrlPr>
                      </m:sSupPr>
                      <m:e>
                        <m:r>
                          <a:rPr lang="ar-AE" sz="1100" b="0" i="1" u="none" strike="noStrike" cap="none">
                            <a:solidFill>
                              <a:srgbClr val="000000"/>
                            </a:solidFill>
                            <a:latin typeface="Arial"/>
                            <a:ea typeface="Arial"/>
                            <a:cs typeface="Arial"/>
                            <a:sym typeface="Arial"/>
                          </a:rPr>
                          <m:t>𝑤</m:t>
                        </m:r>
                      </m:e>
                      <m:sup>
                        <m:d>
                          <m:dPr>
                            <m:ctrlPr>
                              <a:rPr lang="ar-AE" sz="1100" b="0" i="1" u="none" strike="noStrike" cap="none">
                                <a:solidFill>
                                  <a:srgbClr val="000000"/>
                                </a:solidFill>
                                <a:latin typeface="Arial"/>
                                <a:ea typeface="Arial"/>
                                <a:cs typeface="Arial"/>
                                <a:sym typeface="Arial"/>
                              </a:rPr>
                            </m:ctrlPr>
                          </m:dPr>
                          <m:e>
                            <m:r>
                              <a:rPr lang="ar-AE" sz="1100" b="0" i="0" u="none" strike="noStrike" cap="none">
                                <a:solidFill>
                                  <a:srgbClr val="000000"/>
                                </a:solidFill>
                                <a:latin typeface="Arial"/>
                                <a:ea typeface="Arial"/>
                                <a:cs typeface="Arial"/>
                                <a:sym typeface="Arial"/>
                              </a:rPr>
                              <m:t>0</m:t>
                            </m:r>
                          </m:e>
                        </m:d>
                      </m:sup>
                    </m:sSup>
                    <m:r>
                      <a:rPr lang="ar-AE" sz="1100" b="0" i="0" u="none" strike="noStrike" cap="none">
                        <a:solidFill>
                          <a:srgbClr val="000000"/>
                        </a:solidFill>
                        <a:latin typeface="Arial"/>
                        <a:ea typeface="Arial"/>
                        <a:cs typeface="Arial"/>
                        <a:sym typeface="Arial"/>
                      </a:rPr>
                      <m:t>=</m:t>
                    </m:r>
                    <m:r>
                      <a:rPr lang="ar-AE" sz="1100" b="0" i="0" u="none" strike="noStrike" cap="none">
                        <a:solidFill>
                          <a:srgbClr val="000000"/>
                        </a:solidFill>
                        <a:latin typeface="Arial"/>
                        <a:ea typeface="Arial"/>
                        <a:cs typeface="Arial"/>
                        <a:sym typeface="Arial"/>
                      </a:rPr>
                      <m:t>0</m:t>
                    </m:r>
                    <m:r>
                      <a:rPr lang="en-US" sz="1100" b="0" i="0" u="none" strike="noStrike" cap="none" smtClean="0">
                        <a:solidFill>
                          <a:srgbClr val="000000"/>
                        </a:solidFill>
                        <a:latin typeface="Cambria Math" panose="02040503050406030204" pitchFamily="18" charset="0"/>
                        <a:ea typeface="Arial"/>
                        <a:cs typeface="Arial"/>
                        <a:sym typeface="Arial"/>
                      </a:rPr>
                      <m:t> </m:t>
                    </m:r>
                  </m:oMath>
                </a14:m>
                <a:endParaRPr lang="en-US" b="1" dirty="0"/>
              </a:p>
              <a:p>
                <a:r>
                  <a:rPr lang="en-US" b="1" dirty="0"/>
                  <a:t>2. </a:t>
                </a:r>
                <a:r>
                  <a:rPr lang="ar-AE" b="1" dirty="0"/>
                  <a:t> </a:t>
                </a:r>
                <a:r>
                  <a:rPr lang="en-IN" b="1" dirty="0"/>
                  <a:t>Model:</a:t>
                </a:r>
                <a:r>
                  <a:rPr lang="en-IN" dirty="0"/>
                  <a:t> The initialized weights are used in a linear activation function to make a prediction </a:t>
                </a:r>
                <a14:m>
                  <m:oMath xmlns:m="http://schemas.openxmlformats.org/officeDocument/2006/math">
                    <m:r>
                      <a:rPr lang="en-IN" sz="1100" b="0" i="1" u="none" strike="noStrike" cap="none">
                        <a:solidFill>
                          <a:srgbClr val="000000"/>
                        </a:solidFill>
                        <a:latin typeface="Arial"/>
                        <a:ea typeface="Arial"/>
                        <a:cs typeface="Arial"/>
                        <a:sym typeface="Arial"/>
                      </a:rPr>
                      <m:t>𝑦</m:t>
                    </m:r>
                  </m:oMath>
                </a14:m>
                <a:r>
                  <a:rPr lang="en-IN" dirty="0"/>
                  <a:t> based on the input features </a:t>
                </a:r>
                <a14:m>
                  <m:oMath xmlns:m="http://schemas.openxmlformats.org/officeDocument/2006/math">
                    <m:sSub>
                      <m:sSubPr>
                        <m:ctrlPr>
                          <a:rPr lang="ar-AE" sz="1100" b="0" i="0" u="none" strike="noStrike" cap="none">
                            <a:solidFill>
                              <a:srgbClr val="000000"/>
                            </a:solidFill>
                            <a:latin typeface="Arial"/>
                            <a:ea typeface="Arial"/>
                            <a:cs typeface="Arial"/>
                            <a:sym typeface="Arial"/>
                          </a:rPr>
                        </m:ctrlPr>
                      </m:sSubPr>
                      <m:e>
                        <m:r>
                          <a:rPr lang="ar-AE" sz="1100" b="0" i="1" u="none" strike="noStrike" cap="none">
                            <a:solidFill>
                              <a:srgbClr val="000000"/>
                            </a:solidFill>
                            <a:latin typeface="Arial"/>
                            <a:ea typeface="Arial"/>
                            <a:cs typeface="Arial"/>
                            <a:sym typeface="Arial"/>
                          </a:rPr>
                          <m:t>𝑥</m:t>
                        </m:r>
                      </m:e>
                      <m:sub>
                        <m:r>
                          <a:rPr lang="ar-AE" sz="1100" b="0" i="0" u="none" strike="noStrike" cap="none">
                            <a:solidFill>
                              <a:srgbClr val="000000"/>
                            </a:solidFill>
                            <a:latin typeface="Arial"/>
                            <a:ea typeface="Arial"/>
                            <a:cs typeface="Arial"/>
                            <a:sym typeface="Arial"/>
                          </a:rPr>
                          <m:t>1</m:t>
                        </m:r>
                      </m:sub>
                    </m:sSub>
                    <m:r>
                      <a:rPr lang="ar-AE" sz="1100" b="0" i="0" u="none" strike="noStrike" cap="none">
                        <a:solidFill>
                          <a:srgbClr val="000000"/>
                        </a:solidFill>
                        <a:latin typeface="Arial"/>
                        <a:ea typeface="Arial"/>
                        <a:cs typeface="Arial"/>
                        <a:sym typeface="Arial"/>
                      </a:rPr>
                      <m:t>,</m:t>
                    </m:r>
                    <m:sSub>
                      <m:sSubPr>
                        <m:ctrlPr>
                          <a:rPr lang="ar-AE" sz="1100" b="0" i="1" u="none" strike="noStrike" cap="none">
                            <a:solidFill>
                              <a:srgbClr val="000000"/>
                            </a:solidFill>
                            <a:latin typeface="Arial"/>
                            <a:ea typeface="Arial"/>
                            <a:cs typeface="Arial"/>
                            <a:sym typeface="Arial"/>
                          </a:rPr>
                        </m:ctrlPr>
                      </m:sSubPr>
                      <m:e>
                        <m:r>
                          <a:rPr lang="ar-AE" sz="1100" b="0" i="1" u="none" strike="noStrike" cap="none">
                            <a:solidFill>
                              <a:srgbClr val="000000"/>
                            </a:solidFill>
                            <a:latin typeface="Arial"/>
                            <a:ea typeface="Arial"/>
                            <a:cs typeface="Arial"/>
                            <a:sym typeface="Arial"/>
                          </a:rPr>
                          <m:t>𝑥</m:t>
                        </m:r>
                      </m:e>
                      <m:sub>
                        <m:r>
                          <a:rPr lang="ar-AE" sz="1100" b="0" i="0" u="none" strike="noStrike" cap="none">
                            <a:solidFill>
                              <a:srgbClr val="000000"/>
                            </a:solidFill>
                            <a:latin typeface="Arial"/>
                            <a:ea typeface="Arial"/>
                            <a:cs typeface="Arial"/>
                            <a:sym typeface="Arial"/>
                          </a:rPr>
                          <m:t>2</m:t>
                        </m:r>
                      </m:sub>
                    </m:sSub>
                    <m:r>
                      <a:rPr lang="ar-AE" sz="1100" b="0" i="0" u="none" strike="noStrike" cap="none">
                        <a:solidFill>
                          <a:srgbClr val="000000"/>
                        </a:solidFill>
                        <a:latin typeface="Arial"/>
                        <a:ea typeface="Arial"/>
                        <a:cs typeface="Arial"/>
                        <a:sym typeface="Arial"/>
                      </a:rPr>
                      <m:t>,…,</m:t>
                    </m:r>
                    <m:sSub>
                      <m:sSubPr>
                        <m:ctrlPr>
                          <a:rPr lang="ar-AE" sz="1100" b="0" i="1" u="none" strike="noStrike" cap="none">
                            <a:solidFill>
                              <a:srgbClr val="000000"/>
                            </a:solidFill>
                            <a:latin typeface="Arial"/>
                            <a:ea typeface="Arial"/>
                            <a:cs typeface="Arial"/>
                            <a:sym typeface="Arial"/>
                          </a:rPr>
                        </m:ctrlPr>
                      </m:sSubPr>
                      <m:e>
                        <m:r>
                          <a:rPr lang="ar-AE" sz="1100" b="0" i="1" u="none" strike="noStrike" cap="none">
                            <a:solidFill>
                              <a:srgbClr val="000000"/>
                            </a:solidFill>
                            <a:latin typeface="Arial"/>
                            <a:ea typeface="Arial"/>
                            <a:cs typeface="Arial"/>
                            <a:sym typeface="Arial"/>
                          </a:rPr>
                          <m:t>𝑥</m:t>
                        </m:r>
                      </m:e>
                      <m:sub>
                        <m:r>
                          <a:rPr lang="ar-AE" sz="1100" b="0" i="1" u="none" strike="noStrike" cap="none">
                            <a:solidFill>
                              <a:srgbClr val="000000"/>
                            </a:solidFill>
                            <a:latin typeface="Arial"/>
                            <a:ea typeface="Arial"/>
                            <a:cs typeface="Arial"/>
                            <a:sym typeface="Arial"/>
                          </a:rPr>
                          <m:t>𝑑</m:t>
                        </m:r>
                      </m:sub>
                    </m:sSub>
                    <m:r>
                      <a:rPr lang="en-US" sz="1100" b="0" i="0" u="none" strike="noStrike" cap="none" smtClean="0">
                        <a:solidFill>
                          <a:srgbClr val="000000"/>
                        </a:solidFill>
                        <a:latin typeface="Cambria Math" panose="02040503050406030204" pitchFamily="18" charset="0"/>
                        <a:ea typeface="Arial"/>
                        <a:cs typeface="Arial"/>
                        <a:sym typeface="Arial"/>
                      </a:rPr>
                      <m:t> </m:t>
                    </m:r>
                  </m:oMath>
                </a14:m>
                <a:r>
                  <a:rPr lang="en-IN" dirty="0"/>
                  <a:t>.This is the "forward" pass. </a:t>
                </a:r>
              </a:p>
              <a:p>
                <a:r>
                  <a:rPr lang="en-IN" b="1" dirty="0"/>
                  <a:t>3. Objective:</a:t>
                </a:r>
                <a:r>
                  <a:rPr lang="en-IN" dirty="0"/>
                  <a:t> The predicted output from the model is compared to the actual data using an objective function, specifically the Mean Squared Error (MSE) Loss Function </a:t>
                </a:r>
                <a14:m>
                  <m:oMath xmlns:m="http://schemas.openxmlformats.org/officeDocument/2006/math">
                    <m:r>
                      <a:rPr lang="en-IN" sz="1100" b="0" i="1" u="none" strike="noStrike" cap="none">
                        <a:solidFill>
                          <a:srgbClr val="000000"/>
                        </a:solidFill>
                        <a:latin typeface="Arial"/>
                        <a:ea typeface="Arial"/>
                        <a:cs typeface="Arial"/>
                        <a:sym typeface="Arial"/>
                      </a:rPr>
                      <m:t>𝐽</m:t>
                    </m:r>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𝑤</m:t>
                        </m:r>
                      </m:e>
                    </m:d>
                  </m:oMath>
                </a14:m>
                <a:r>
                  <a:rPr lang="en-IN" dirty="0"/>
                  <a:t>. </a:t>
                </a:r>
              </a:p>
              <a:p>
                <a:pPr marL="158750" indent="0">
                  <a:buNone/>
                </a:pPr>
                <a:r>
                  <a:rPr lang="en-IN" dirty="0"/>
                  <a:t>The goal is to find the minimum point of this function, which corresponds to the best-fitting model weights. </a:t>
                </a:r>
              </a:p>
              <a:p>
                <a:pPr marL="158750" indent="0">
                  <a:buNone/>
                </a:pPr>
                <a:r>
                  <a:rPr lang="en-IN" b="1" dirty="0"/>
                  <a:t>4. Learning:</a:t>
                </a:r>
                <a:r>
                  <a:rPr lang="en-IN" dirty="0"/>
                  <a:t> The model iteratively updates the weights using a gradient-based optimization method. The negative gradient ( </a:t>
                </a:r>
                <a14:m>
                  <m:oMath xmlns:m="http://schemas.openxmlformats.org/officeDocument/2006/math">
                    <m:r>
                      <a:rPr lang="en-IN" sz="1100" b="0" i="0" u="none" strike="noStrike" cap="none">
                        <a:solidFill>
                          <a:srgbClr val="000000"/>
                        </a:solidFill>
                        <a:latin typeface="Arial"/>
                        <a:ea typeface="Arial"/>
                        <a:cs typeface="Arial"/>
                        <a:sym typeface="Arial"/>
                      </a:rPr>
                      <m:t>−</m:t>
                    </m:r>
                    <m:r>
                      <a:rPr lang="en-IN" sz="1100" b="0" i="1" u="none" strike="noStrike" cap="none">
                        <a:solidFill>
                          <a:srgbClr val="000000"/>
                        </a:solidFill>
                        <a:latin typeface="Arial"/>
                        <a:ea typeface="Arial"/>
                        <a:cs typeface="Arial"/>
                        <a:sym typeface="Arial"/>
                      </a:rPr>
                      <m:t>𝜂</m:t>
                    </m:r>
                    <m:r>
                      <m:rPr>
                        <m:sty m:val="p"/>
                      </m:rPr>
                      <a:rPr lang="en-IN" sz="1100" b="0" i="0" u="none" strike="noStrike" cap="none">
                        <a:solidFill>
                          <a:srgbClr val="000000"/>
                        </a:solidFill>
                        <a:latin typeface="Arial"/>
                        <a:ea typeface="Arial"/>
                        <a:cs typeface="Arial"/>
                        <a:sym typeface="Arial"/>
                      </a:rPr>
                      <m:t>∇</m:t>
                    </m:r>
                    <m:r>
                      <a:rPr lang="en-IN" sz="1100" b="0" i="1" u="none" strike="noStrike" cap="none">
                        <a:solidFill>
                          <a:srgbClr val="000000"/>
                        </a:solidFill>
                        <a:latin typeface="Arial"/>
                        <a:ea typeface="Arial"/>
                        <a:cs typeface="Arial"/>
                        <a:sym typeface="Arial"/>
                      </a:rPr>
                      <m:t>𝐽</m:t>
                    </m:r>
                  </m:oMath>
                </a14:m>
                <a:r>
                  <a:rPr lang="en-IN" dirty="0">
                    <a:effectLst/>
                  </a:rPr>
                  <a:t>)</a:t>
                </a:r>
                <a:r>
                  <a:rPr lang="en-IN" dirty="0"/>
                  <a:t> which indicates the direction of the steepest descent towards the minimum loss, is used to update the current weights </a:t>
                </a:r>
                <a14:m>
                  <m:oMath xmlns:m="http://schemas.openxmlformats.org/officeDocument/2006/math">
                    <m:sSup>
                      <m:sSupPr>
                        <m:ctrlPr>
                          <a:rPr lang="ar-AE" sz="1100" b="0" i="0" u="none" strike="noStrike" cap="none">
                            <a:solidFill>
                              <a:srgbClr val="000000"/>
                            </a:solidFill>
                            <a:latin typeface="Arial"/>
                            <a:ea typeface="Arial"/>
                            <a:cs typeface="Arial"/>
                            <a:sym typeface="Arial"/>
                          </a:rPr>
                        </m:ctrlPr>
                      </m:sSupPr>
                      <m:e>
                        <m:r>
                          <a:rPr lang="ar-AE" sz="1100" b="0" i="1" u="none" strike="noStrike" cap="none">
                            <a:solidFill>
                              <a:srgbClr val="000000"/>
                            </a:solidFill>
                            <a:latin typeface="Arial"/>
                            <a:ea typeface="Arial"/>
                            <a:cs typeface="Arial"/>
                            <a:sym typeface="Arial"/>
                          </a:rPr>
                          <m:t>𝑤</m:t>
                        </m:r>
                      </m:e>
                      <m:sup>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𝑡</m:t>
                            </m:r>
                          </m:e>
                        </m:d>
                      </m:sup>
                    </m:sSup>
                  </m:oMath>
                </a14:m>
                <a:r>
                  <a:rPr lang="en-US" dirty="0">
                    <a:effectLst/>
                  </a:rPr>
                  <a:t> </a:t>
                </a:r>
                <a:r>
                  <a:rPr lang="en-IN" dirty="0"/>
                  <a:t>to new weights </a:t>
                </a:r>
                <a14:m>
                  <m:oMath xmlns:m="http://schemas.openxmlformats.org/officeDocument/2006/math">
                    <m:sSup>
                      <m:sSupPr>
                        <m:ctrlPr>
                          <a:rPr lang="ar-AE" sz="1100" b="0" i="0" u="none" strike="noStrike" cap="none">
                            <a:solidFill>
                              <a:srgbClr val="000000"/>
                            </a:solidFill>
                            <a:latin typeface="Arial"/>
                            <a:ea typeface="Arial"/>
                            <a:cs typeface="Arial"/>
                            <a:sym typeface="Arial"/>
                          </a:rPr>
                        </m:ctrlPr>
                      </m:sSupPr>
                      <m:e>
                        <m:r>
                          <a:rPr lang="ar-AE" sz="1100" b="0" i="1" u="none" strike="noStrike" cap="none">
                            <a:solidFill>
                              <a:srgbClr val="000000"/>
                            </a:solidFill>
                            <a:latin typeface="Arial"/>
                            <a:ea typeface="Arial"/>
                            <a:cs typeface="Arial"/>
                            <a:sym typeface="Arial"/>
                          </a:rPr>
                          <m:t>𝑤</m:t>
                        </m:r>
                      </m:e>
                      <m:sup>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𝑡</m:t>
                            </m:r>
                            <m:r>
                              <a:rPr lang="ar-AE" sz="1100" b="0" i="0" u="none" strike="noStrike" cap="none">
                                <a:solidFill>
                                  <a:srgbClr val="000000"/>
                                </a:solidFill>
                                <a:latin typeface="Arial"/>
                                <a:ea typeface="Arial"/>
                                <a:cs typeface="Arial"/>
                                <a:sym typeface="Arial"/>
                              </a:rPr>
                              <m:t>+</m:t>
                            </m:r>
                            <m:r>
                              <a:rPr lang="ar-AE" sz="1100" b="0" i="0" u="none" strike="noStrike" cap="none">
                                <a:solidFill>
                                  <a:srgbClr val="000000"/>
                                </a:solidFill>
                                <a:latin typeface="Arial"/>
                                <a:ea typeface="Arial"/>
                                <a:cs typeface="Arial"/>
                                <a:sym typeface="Arial"/>
                              </a:rPr>
                              <m:t>1</m:t>
                            </m:r>
                          </m:e>
                        </m:d>
                      </m:sup>
                    </m:sSup>
                  </m:oMath>
                </a14:m>
                <a:r>
                  <a:rPr lang="ar-AE" dirty="0"/>
                  <a:t>. </a:t>
                </a:r>
                <a:r>
                  <a:rPr lang="en-IN" dirty="0"/>
                  <a:t>This "iterate" step repeats until the model converges to a minimum loss.</a:t>
                </a:r>
              </a:p>
              <a:p>
                <a:pPr marL="158750" indent="0">
                  <a:buNone/>
                </a:pPr>
                <a:endParaRPr dirty="0"/>
              </a:p>
            </p:txBody>
          </p:sp>
        </mc:Choice>
        <mc:Fallback>
          <p:sp>
            <p:nvSpPr>
              <p:cNvPr id="897" name="Google Shape;89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 Data &amp; Initialization:</a:t>
                </a:r>
                <a:r>
                  <a:rPr lang="en-IN" dirty="0"/>
                  <a:t> The process begins with a dataset </a:t>
                </a:r>
                <a:r>
                  <a:rPr lang="en-IN" sz="1100" b="0" i="0" u="none" strike="noStrike" cap="none">
                    <a:solidFill>
                      <a:srgbClr val="000000"/>
                    </a:solidFill>
                    <a:latin typeface="Arial"/>
                    <a:ea typeface="Arial"/>
                    <a:cs typeface="Arial"/>
                    <a:sym typeface="Arial"/>
                  </a:rPr>
                  <a:t>𝐷=</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𝑥^((𝑖) )ⓜ,𝑦^((𝑖) ) )}</a:t>
                </a:r>
                <a:r>
                  <a:rPr lang="en-US" dirty="0">
                    <a:effectLst/>
                  </a:rPr>
                  <a:t> </a:t>
                </a:r>
                <a:r>
                  <a:rPr lang="en-IN" dirty="0"/>
                  <a:t>consisting of input-output pairs. The model's weight vector </a:t>
                </a:r>
                <a:r>
                  <a:rPr lang="en-IN" sz="1100" b="0" i="0" u="none" strike="noStrike" cap="none">
                    <a:solidFill>
                      <a:srgbClr val="000000"/>
                    </a:solidFill>
                    <a:latin typeface="Arial"/>
                    <a:ea typeface="Arial"/>
                    <a:cs typeface="Arial"/>
                    <a:sym typeface="Arial"/>
                  </a:rPr>
                  <a:t>𝑤</a:t>
                </a:r>
                <a:r>
                  <a:rPr lang="en-IN" dirty="0"/>
                  <a:t> is initialized, often to zero (</a:t>
                </a:r>
                <a:r>
                  <a:rPr lang="ar-AE" sz="1100" b="0" i="0" u="none" strike="noStrike" cap="none">
                    <a:solidFill>
                      <a:srgbClr val="000000"/>
                    </a:solidFill>
                    <a:latin typeface="Arial"/>
                    <a:ea typeface="Arial"/>
                    <a:cs typeface="Arial"/>
                    <a:sym typeface="Arial"/>
                  </a:rPr>
                  <a:t>𝑤^((0) )=0</a:t>
                </a:r>
                <a:r>
                  <a:rPr lang="en-US" sz="1100" b="0" i="0" u="none" strike="noStrike" cap="none">
                    <a:solidFill>
                      <a:srgbClr val="000000"/>
                    </a:solidFill>
                    <a:latin typeface="Cambria Math" panose="02040503050406030204" pitchFamily="18" charset="0"/>
                    <a:ea typeface="Arial"/>
                    <a:cs typeface="Arial"/>
                    <a:sym typeface="Arial"/>
                  </a:rPr>
                  <a:t> </a:t>
                </a:r>
                <a:endParaRPr lang="en-US" b="1" dirty="0"/>
              </a:p>
              <a:p>
                <a:r>
                  <a:rPr lang="en-US" b="1" dirty="0"/>
                  <a:t>2. </a:t>
                </a:r>
                <a:r>
                  <a:rPr lang="ar-AE" b="1" dirty="0"/>
                  <a:t> </a:t>
                </a:r>
                <a:r>
                  <a:rPr lang="en-IN" b="1" dirty="0"/>
                  <a:t>Model:</a:t>
                </a:r>
                <a:r>
                  <a:rPr lang="en-IN" dirty="0"/>
                  <a:t> The initialized weights are used in a linear activation function to make a prediction </a:t>
                </a:r>
                <a:r>
                  <a:rPr lang="en-IN" sz="1100" b="0" i="0" u="none" strike="noStrike" cap="none">
                    <a:solidFill>
                      <a:srgbClr val="000000"/>
                    </a:solidFill>
                    <a:latin typeface="Arial"/>
                    <a:ea typeface="Arial"/>
                    <a:cs typeface="Arial"/>
                    <a:sym typeface="Arial"/>
                  </a:rPr>
                  <a:t>𝑦</a:t>
                </a:r>
                <a:r>
                  <a:rPr lang="en-IN" dirty="0"/>
                  <a:t> based on the input features </a:t>
                </a:r>
                <a:r>
                  <a:rPr lang="ar-AE" sz="1100" b="0" i="0" u="none" strike="noStrike" cap="none">
                    <a:solidFill>
                      <a:srgbClr val="000000"/>
                    </a:solidFill>
                    <a:latin typeface="Arial"/>
                    <a:ea typeface="Arial"/>
                    <a:cs typeface="Arial"/>
                    <a:sym typeface="Arial"/>
                  </a:rPr>
                  <a:t>𝑥_1,𝑥_2,…,𝑥_𝑑</a:t>
                </a:r>
                <a:r>
                  <a:rPr lang="en-US" sz="1100" b="0" i="0" u="none" strike="noStrike" cap="none">
                    <a:solidFill>
                      <a:srgbClr val="000000"/>
                    </a:solidFill>
                    <a:latin typeface="Cambria Math" panose="02040503050406030204" pitchFamily="18" charset="0"/>
                    <a:ea typeface="Arial"/>
                    <a:cs typeface="Arial"/>
                    <a:sym typeface="Arial"/>
                  </a:rPr>
                  <a:t>  </a:t>
                </a:r>
                <a:r>
                  <a:rPr lang="en-IN" dirty="0"/>
                  <a:t>.This is the "forward" pass. </a:t>
                </a:r>
              </a:p>
              <a:p>
                <a:r>
                  <a:rPr lang="en-IN" b="1" dirty="0"/>
                  <a:t>3. Objective:</a:t>
                </a:r>
                <a:r>
                  <a:rPr lang="en-IN" dirty="0"/>
                  <a:t> The predicted output from the model is compared to the actual data using an objective function, specifically the Mean Squared Error (MSE) Loss Function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 </a:t>
                </a:r>
              </a:p>
              <a:p>
                <a:pPr marL="158750" indent="0">
                  <a:buNone/>
                </a:pPr>
                <a:r>
                  <a:rPr lang="en-IN" dirty="0"/>
                  <a:t>The goal is to find the minimum point of this function, which corresponds to the best-fitting model weights. </a:t>
                </a:r>
              </a:p>
              <a:p>
                <a:pPr marL="158750" indent="0">
                  <a:buNone/>
                </a:pPr>
                <a:r>
                  <a:rPr lang="en-IN" b="1" dirty="0"/>
                  <a:t>4. Learning:</a:t>
                </a:r>
                <a:r>
                  <a:rPr lang="en-IN" dirty="0"/>
                  <a:t> The model iteratively updates the weights using a gradient-based optimization method. The negative gradient ( </a:t>
                </a:r>
                <a:r>
                  <a:rPr lang="en-IN" sz="1100" b="0" i="0" u="none" strike="noStrike" cap="none">
                    <a:solidFill>
                      <a:srgbClr val="000000"/>
                    </a:solidFill>
                    <a:latin typeface="Arial"/>
                    <a:ea typeface="Arial"/>
                    <a:cs typeface="Arial"/>
                    <a:sym typeface="Arial"/>
                  </a:rPr>
                  <a:t>−𝜂∇𝐽</a:t>
                </a:r>
                <a:r>
                  <a:rPr lang="en-IN" dirty="0">
                    <a:effectLst/>
                  </a:rPr>
                  <a:t>)</a:t>
                </a:r>
                <a:r>
                  <a:rPr lang="en-IN" dirty="0"/>
                  <a:t> which indicates the direction of the steepest descent towards the minimum loss, is used to update the current weights </a:t>
                </a:r>
                <a:r>
                  <a:rPr lang="ar-AE" sz="1100" b="0" i="0" u="none" strike="noStrike" cap="none">
                    <a:solidFill>
                      <a:srgbClr val="000000"/>
                    </a:solidFill>
                    <a:latin typeface="Arial"/>
                    <a:ea typeface="Arial"/>
                    <a:cs typeface="Arial"/>
                    <a:sym typeface="Arial"/>
                  </a:rPr>
                  <a:t>𝑤^((𝑡) )</a:t>
                </a:r>
                <a:r>
                  <a:rPr lang="en-US" dirty="0">
                    <a:effectLst/>
                  </a:rPr>
                  <a:t> </a:t>
                </a:r>
                <a:r>
                  <a:rPr lang="en-IN" dirty="0"/>
                  <a:t>to new weights </a:t>
                </a:r>
                <a:r>
                  <a:rPr lang="ar-AE" sz="1100" b="0" i="0" u="none" strike="noStrike" cap="none">
                    <a:solidFill>
                      <a:srgbClr val="000000"/>
                    </a:solidFill>
                    <a:latin typeface="Arial"/>
                    <a:ea typeface="Arial"/>
                    <a:cs typeface="Arial"/>
                    <a:sym typeface="Arial"/>
                  </a:rPr>
                  <a:t>𝑤^((𝑡+1) )</a:t>
                </a:r>
                <a:r>
                  <a:rPr lang="ar-AE" dirty="0"/>
                  <a:t>. </a:t>
                </a:r>
                <a:r>
                  <a:rPr lang="en-IN" dirty="0"/>
                  <a:t>This "iterate" step repeats until the model converges to a minimum loss.</a:t>
                </a:r>
              </a:p>
              <a:p>
                <a:pPr marL="158750" indent="0">
                  <a:buNone/>
                </a:pPr>
                <a:endParaRPr dirty="0"/>
              </a:p>
            </p:txBody>
          </p:sp>
        </mc:Fallback>
      </mc:AlternateContent>
      <p:sp>
        <p:nvSpPr>
          <p:cNvPr id="898" name="Google Shape;898;p4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4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4" name="Google Shape;964;p4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4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7" name="Google Shape;977;p4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4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0" name="Google Shape;990;p4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rgbClr val="1B1472"/>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95300" y="109545"/>
            <a:ext cx="3342004"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50" b="0" i="0">
                <a:solidFill>
                  <a:srgbClr val="1B147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7">
            <a:alphaModFix/>
          </a:blip>
          <a:srcRect/>
          <a:stretch/>
        </p:blipFill>
        <p:spPr>
          <a:xfrm>
            <a:off x="126" y="80250"/>
            <a:ext cx="5759866" cy="3159748"/>
          </a:xfrm>
          <a:prstGeom prst="rect">
            <a:avLst/>
          </a:prstGeom>
          <a:noFill/>
          <a:ln>
            <a:noFill/>
          </a:ln>
        </p:spPr>
      </p:pic>
      <p:sp>
        <p:nvSpPr>
          <p:cNvPr id="7" name="Google Shape;7;p1"/>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rgbClr val="1B1472"/>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hyperlink" Target="http://ppt/slides/ppt/slides/slide1.xml" TargetMode="External"/><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6.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22.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1.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hyperlink" Target="http://ppt/slides/ppt/slides/slide1.xml" TargetMode="External"/><Relationship Id="rId4" Type="http://schemas.openxmlformats.org/officeDocument/2006/relationships/image" Target="../media/image23.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ppt/slides/ppt/slides/slide1.xml"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0.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33.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hyperlink" Target="http://ppt/slides/ppt/slides/slide1.x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hyperlink" Target="http://ppt/slides/ppt/slides/slide1.x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42.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ppt/slides/ppt/slides/slide1.xml"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hyperlink" Target="http://ppt/slides/ppt/slides/slide1.x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4.png"/><Relationship Id="rId7" Type="http://schemas.openxmlformats.org/officeDocument/2006/relationships/hyperlink" Target="http://ppt/slides/ppt/slides/slide1.x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ppt/slides/ppt/slides/slide1.x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http://ppt/slides/ppt/slides/slide1.x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ppt/slides/ppt/slides/slide1.xml"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25.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ttp://ppt/slides/ppt/slides/slide1.xml"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1.png"/><Relationship Id="rId7" Type="http://schemas.openxmlformats.org/officeDocument/2006/relationships/image" Target="../media/image72.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2.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3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6.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hyperlink" Target="http://ppt/slides/ppt/slides/slide1.xml" TargetMode="External"/><Relationship Id="rId4" Type="http://schemas.openxmlformats.org/officeDocument/2006/relationships/hyperlink" Target="https://colab.research.google.com/drive/10whoZYodz1H02mbVwsmTudwxaU18ukaI?usp=sharing" TargetMode="External"/></Relationships>
</file>

<file path=ppt/slides/_rels/slide3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8.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78.png"/><Relationship Id="rId14" Type="http://schemas.openxmlformats.org/officeDocument/2006/relationships/hyperlink" Target="http://ppt/slides/ppt/slides/slide25.xml"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4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4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4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42.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82.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hyperlink" Target="http://ppt/slides/ppt/slides/slide1.xml"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4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46.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hyperlink" Target="http://ppt/slides/ppt/slides/slide1.x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7"/>
          <p:cNvGrpSpPr/>
          <p:nvPr/>
        </p:nvGrpSpPr>
        <p:grpSpPr>
          <a:xfrm>
            <a:off x="0" y="7"/>
            <a:ext cx="5759866" cy="3239902"/>
            <a:chOff x="0" y="7"/>
            <a:chExt cx="5759866" cy="3239902"/>
          </a:xfrm>
        </p:grpSpPr>
        <p:pic>
          <p:nvPicPr>
            <p:cNvPr id="45" name="Google Shape;45;p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7"/>
            <p:cNvSpPr/>
            <p:nvPr/>
          </p:nvSpPr>
          <p:spPr>
            <a:xfrm>
              <a:off x="1982523" y="1293502"/>
              <a:ext cx="3325495" cy="721995"/>
            </a:xfrm>
            <a:custGeom>
              <a:avLst/>
              <a:gdLst/>
              <a:ahLst/>
              <a:cxnLst/>
              <a:rect l="l" t="t" r="r" b="b"/>
              <a:pathLst>
                <a:path w="3325495" h="721994" extrusionOk="0">
                  <a:moveTo>
                    <a:pt x="0" y="721869"/>
                  </a:moveTo>
                  <a:lnTo>
                    <a:pt x="0" y="0"/>
                  </a:lnTo>
                  <a:lnTo>
                    <a:pt x="3324982" y="0"/>
                  </a:lnTo>
                  <a:lnTo>
                    <a:pt x="3324982"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7"/>
          <p:cNvSpPr txBox="1"/>
          <p:nvPr/>
        </p:nvSpPr>
        <p:spPr>
          <a:xfrm>
            <a:off x="1982523" y="1293502"/>
            <a:ext cx="3325495" cy="721995"/>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429894" marR="422275" lvl="0" indent="-634" algn="ctr" rtl="0">
              <a:lnSpc>
                <a:spcPct val="84500"/>
              </a:lnSpc>
              <a:spcBef>
                <a:spcPts val="0"/>
              </a:spcBef>
              <a:spcAft>
                <a:spcPts val="0"/>
              </a:spcAft>
              <a:buNone/>
            </a:pPr>
            <a:r>
              <a:rPr lang="en-US" sz="1700">
                <a:latin typeface="Cambria"/>
                <a:ea typeface="Cambria"/>
                <a:cs typeface="Cambria"/>
                <a:sym typeface="Cambria"/>
              </a:rPr>
              <a:t>D</a:t>
            </a:r>
            <a:r>
              <a:rPr lang="en-US" sz="1350">
                <a:latin typeface="Cambria"/>
                <a:ea typeface="Cambria"/>
                <a:cs typeface="Cambria"/>
                <a:sym typeface="Cambria"/>
              </a:rPr>
              <a:t>EEP </a:t>
            </a:r>
            <a:r>
              <a:rPr lang="en-US" sz="1700">
                <a:latin typeface="Cambria"/>
                <a:ea typeface="Cambria"/>
                <a:cs typeface="Cambria"/>
                <a:sym typeface="Cambria"/>
              </a:rPr>
              <a:t>N</a:t>
            </a:r>
            <a:r>
              <a:rPr lang="en-US" sz="1350">
                <a:latin typeface="Cambria"/>
                <a:ea typeface="Cambria"/>
                <a:cs typeface="Cambria"/>
                <a:sym typeface="Cambria"/>
              </a:rPr>
              <a:t>EURAL </a:t>
            </a:r>
            <a:r>
              <a:rPr lang="en-US" sz="1700">
                <a:latin typeface="Cambria"/>
                <a:ea typeface="Cambria"/>
                <a:cs typeface="Cambria"/>
                <a:sym typeface="Cambria"/>
              </a:rPr>
              <a:t>N</a:t>
            </a:r>
            <a:r>
              <a:rPr lang="en-US" sz="1350">
                <a:latin typeface="Cambria"/>
                <a:ea typeface="Cambria"/>
                <a:cs typeface="Cambria"/>
                <a:sym typeface="Cambria"/>
              </a:rPr>
              <a:t>ETWORK </a:t>
            </a:r>
            <a:r>
              <a:rPr lang="en-US" sz="1400">
                <a:latin typeface="Cambria"/>
                <a:ea typeface="Cambria"/>
                <a:cs typeface="Cambria"/>
                <a:sym typeface="Cambria"/>
              </a:rPr>
              <a:t>M</a:t>
            </a:r>
            <a:r>
              <a:rPr lang="en-US" sz="1150">
                <a:latin typeface="Cambria"/>
                <a:ea typeface="Cambria"/>
                <a:cs typeface="Cambria"/>
                <a:sym typeface="Cambria"/>
              </a:rPr>
              <a:t>ODULE </a:t>
            </a:r>
            <a:r>
              <a:rPr lang="en-US" sz="1400">
                <a:latin typeface="Cambria"/>
                <a:ea typeface="Cambria"/>
                <a:cs typeface="Cambria"/>
                <a:sym typeface="Cambria"/>
              </a:rPr>
              <a:t># 3 : L</a:t>
            </a:r>
            <a:r>
              <a:rPr lang="en-US" sz="1150">
                <a:latin typeface="Cambria"/>
                <a:ea typeface="Cambria"/>
                <a:cs typeface="Cambria"/>
                <a:sym typeface="Cambria"/>
              </a:rPr>
              <a:t>INEAR </a:t>
            </a:r>
            <a:r>
              <a:rPr lang="en-US" sz="1400">
                <a:latin typeface="Cambria"/>
                <a:ea typeface="Cambria"/>
                <a:cs typeface="Cambria"/>
                <a:sym typeface="Cambria"/>
              </a:rPr>
              <a:t>N</a:t>
            </a:r>
            <a:r>
              <a:rPr lang="en-US" sz="1150">
                <a:latin typeface="Cambria"/>
                <a:ea typeface="Cambria"/>
                <a:cs typeface="Cambria"/>
                <a:sym typeface="Cambria"/>
              </a:rPr>
              <a:t>EURAL </a:t>
            </a:r>
            <a:r>
              <a:rPr lang="en-US" sz="1400">
                <a:latin typeface="Cambria"/>
                <a:ea typeface="Cambria"/>
                <a:cs typeface="Cambria"/>
                <a:sym typeface="Cambria"/>
              </a:rPr>
              <a:t>N</a:t>
            </a:r>
            <a:r>
              <a:rPr lang="en-US" sz="1150">
                <a:latin typeface="Cambria"/>
                <a:ea typeface="Cambria"/>
                <a:cs typeface="Cambria"/>
                <a:sym typeface="Cambria"/>
              </a:rPr>
              <a:t>ETWORKS FOR </a:t>
            </a:r>
            <a:r>
              <a:rPr lang="en-US" sz="1400">
                <a:latin typeface="Cambria"/>
                <a:ea typeface="Cambria"/>
                <a:cs typeface="Cambria"/>
                <a:sym typeface="Cambria"/>
              </a:rPr>
              <a:t>R</a:t>
            </a:r>
            <a:r>
              <a:rPr lang="en-US" sz="1150">
                <a:latin typeface="Cambria"/>
                <a:ea typeface="Cambria"/>
                <a:cs typeface="Cambria"/>
                <a:sym typeface="Cambria"/>
              </a:rPr>
              <a:t>EGRESSION</a:t>
            </a:r>
            <a:endParaRPr sz="1150">
              <a:latin typeface="Cambria"/>
              <a:ea typeface="Cambria"/>
              <a:cs typeface="Cambria"/>
              <a:sym typeface="Cambria"/>
            </a:endParaRPr>
          </a:p>
        </p:txBody>
      </p:sp>
      <p:sp>
        <p:nvSpPr>
          <p:cNvPr id="48" name="Google Shape;48;p7"/>
          <p:cNvSpPr txBox="1"/>
          <p:nvPr/>
        </p:nvSpPr>
        <p:spPr>
          <a:xfrm>
            <a:off x="4132173" y="2325276"/>
            <a:ext cx="1280795" cy="39243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DNN Team</a:t>
            </a:r>
            <a:endParaRPr sz="950">
              <a:latin typeface="Arial"/>
              <a:ea typeface="Arial"/>
              <a:cs typeface="Arial"/>
              <a:sym typeface="Arial"/>
            </a:endParaRPr>
          </a:p>
          <a:p>
            <a:pPr marL="311150" marR="5080" lvl="0" indent="-299085" algn="l" rtl="0">
              <a:lnSpc>
                <a:spcPct val="126699"/>
              </a:lnSpc>
              <a:spcBef>
                <a:spcPts val="90"/>
              </a:spcBef>
              <a:spcAft>
                <a:spcPts val="0"/>
              </a:spcAft>
              <a:buNone/>
            </a:pPr>
            <a:r>
              <a:rPr lang="en-US" sz="950">
                <a:solidFill>
                  <a:srgbClr val="1B1472"/>
                </a:solidFill>
                <a:latin typeface="Arial"/>
                <a:ea typeface="Arial"/>
                <a:cs typeface="Arial"/>
                <a:sym typeface="Arial"/>
              </a:rPr>
              <a:t>BITS Pilani WILP</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8"/>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4" name="Google Shape;54;p8"/>
          <p:cNvGrpSpPr/>
          <p:nvPr/>
        </p:nvGrpSpPr>
        <p:grpSpPr>
          <a:xfrm>
            <a:off x="0" y="3141936"/>
            <a:ext cx="5760261" cy="92075"/>
            <a:chOff x="0" y="3141936"/>
            <a:chExt cx="5760261" cy="92075"/>
          </a:xfrm>
        </p:grpSpPr>
        <p:sp>
          <p:nvSpPr>
            <p:cNvPr id="55" name="Google Shape;55;p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 name="Google Shape;56;p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 name="Google Shape;58;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 name="Google Shape;59;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 name="Google Shape;60;p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r>
              <a:rPr lang="en-US"/>
              <a:t>2/ 46</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6" name="Google Shape;66;p9"/>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7" name="Google Shape;67;p9"/>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1</a:t>
            </a:r>
            <a:endParaRPr sz="800">
              <a:latin typeface="Calibri"/>
              <a:ea typeface="Calibri"/>
              <a:cs typeface="Calibri"/>
              <a:sym typeface="Calibri"/>
            </a:endParaRPr>
          </a:p>
        </p:txBody>
      </p:sp>
      <p:pic>
        <p:nvPicPr>
          <p:cNvPr id="68" name="Google Shape;68;p9"/>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69" name="Google Shape;69;p9"/>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 name="Google Shape;70;p9"/>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1" name="Google Shape;71;p9"/>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2" name="Google Shape;72;p9"/>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3" name="Google Shape;73;p9"/>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4" name="Google Shape;74;p9"/>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5" name="Google Shape;75;p9"/>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6" name="Google Shape;76;p9"/>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 name="Google Shape;77;p9"/>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8" name="Google Shape;78;p9"/>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9" name="Google Shape;79;p9"/>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0" name="Google Shape;80;p9"/>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1" name="Google Shape;81;p9"/>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 name="Google Shape;82;p9"/>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3" name="Google Shape;83;p9"/>
          <p:cNvGrpSpPr/>
          <p:nvPr/>
        </p:nvGrpSpPr>
        <p:grpSpPr>
          <a:xfrm>
            <a:off x="0" y="3109250"/>
            <a:ext cx="5760261" cy="92075"/>
            <a:chOff x="0" y="3109250"/>
            <a:chExt cx="5760261" cy="92075"/>
          </a:xfrm>
        </p:grpSpPr>
        <p:sp>
          <p:nvSpPr>
            <p:cNvPr id="84" name="Google Shape;84;p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5" name="Google Shape;85;p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 name="Google Shape;86;p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7" name="Google Shape;87;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8" name="Google Shape;88;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 name="Google Shape;89;p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3</a:t>
            </a:fld>
            <a:r>
              <a:rPr lang="en-US"/>
              <a:t>/ 46</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95" name="Google Shape;95;p10"/>
          <p:cNvGrpSpPr/>
          <p:nvPr/>
        </p:nvGrpSpPr>
        <p:grpSpPr>
          <a:xfrm>
            <a:off x="309193" y="889786"/>
            <a:ext cx="5192466" cy="1586764"/>
            <a:chOff x="309193" y="889786"/>
            <a:chExt cx="5192466" cy="1586764"/>
          </a:xfrm>
        </p:grpSpPr>
        <p:sp>
          <p:nvSpPr>
            <p:cNvPr id="96" name="Google Shape;96;p10"/>
            <p:cNvSpPr/>
            <p:nvPr/>
          </p:nvSpPr>
          <p:spPr>
            <a:xfrm>
              <a:off x="309193" y="889786"/>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97" name="Google Shape;97;p10"/>
            <p:cNvPicPr preferRelativeResize="0"/>
            <p:nvPr/>
          </p:nvPicPr>
          <p:blipFill rotWithShape="1">
            <a:blip r:embed="rId3">
              <a:alphaModFix/>
            </a:blip>
            <a:srcRect/>
            <a:stretch/>
          </p:blipFill>
          <p:spPr>
            <a:xfrm>
              <a:off x="309193" y="1084021"/>
              <a:ext cx="5141666" cy="50609"/>
            </a:xfrm>
            <a:prstGeom prst="rect">
              <a:avLst/>
            </a:prstGeom>
            <a:noFill/>
            <a:ln>
              <a:noFill/>
            </a:ln>
          </p:spPr>
        </p:pic>
        <p:pic>
          <p:nvPicPr>
            <p:cNvPr id="98" name="Google Shape;98;p10"/>
            <p:cNvPicPr preferRelativeResize="0"/>
            <p:nvPr/>
          </p:nvPicPr>
          <p:blipFill rotWithShape="1">
            <a:blip r:embed="rId4">
              <a:alphaModFix/>
            </a:blip>
            <a:srcRect/>
            <a:stretch/>
          </p:blipFill>
          <p:spPr>
            <a:xfrm>
              <a:off x="359994" y="1457909"/>
              <a:ext cx="101600" cy="101600"/>
            </a:xfrm>
            <a:prstGeom prst="rect">
              <a:avLst/>
            </a:prstGeom>
            <a:noFill/>
            <a:ln>
              <a:noFill/>
            </a:ln>
          </p:spPr>
        </p:pic>
        <p:pic>
          <p:nvPicPr>
            <p:cNvPr id="99" name="Google Shape;99;p10"/>
            <p:cNvPicPr preferRelativeResize="0"/>
            <p:nvPr/>
          </p:nvPicPr>
          <p:blipFill rotWithShape="1">
            <a:blip r:embed="rId5">
              <a:alphaModFix/>
            </a:blip>
            <a:srcRect/>
            <a:stretch/>
          </p:blipFill>
          <p:spPr>
            <a:xfrm>
              <a:off x="410794" y="1445209"/>
              <a:ext cx="5090865" cy="114301"/>
            </a:xfrm>
            <a:prstGeom prst="rect">
              <a:avLst/>
            </a:prstGeom>
            <a:noFill/>
            <a:ln>
              <a:noFill/>
            </a:ln>
          </p:spPr>
        </p:pic>
        <p:pic>
          <p:nvPicPr>
            <p:cNvPr id="100" name="Google Shape;100;p10"/>
            <p:cNvPicPr preferRelativeResize="0"/>
            <p:nvPr/>
          </p:nvPicPr>
          <p:blipFill rotWithShape="1">
            <a:blip r:embed="rId6">
              <a:alphaModFix/>
            </a:blip>
            <a:srcRect/>
            <a:stretch/>
          </p:blipFill>
          <p:spPr>
            <a:xfrm>
              <a:off x="5450859" y="934021"/>
              <a:ext cx="50800" cy="523887"/>
            </a:xfrm>
            <a:prstGeom prst="rect">
              <a:avLst/>
            </a:prstGeom>
            <a:noFill/>
            <a:ln>
              <a:noFill/>
            </a:ln>
          </p:spPr>
        </p:pic>
        <p:sp>
          <p:nvSpPr>
            <p:cNvPr id="101" name="Google Shape;101;p10"/>
            <p:cNvSpPr/>
            <p:nvPr/>
          </p:nvSpPr>
          <p:spPr>
            <a:xfrm>
              <a:off x="309193" y="1128295"/>
              <a:ext cx="5142230" cy="381000"/>
            </a:xfrm>
            <a:custGeom>
              <a:avLst/>
              <a:gdLst/>
              <a:ahLst/>
              <a:cxnLst/>
              <a:rect l="l" t="t" r="r" b="b"/>
              <a:pathLst>
                <a:path w="5142230" h="381000" extrusionOk="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 name="Google Shape;102;p10"/>
            <p:cNvSpPr/>
            <p:nvPr/>
          </p:nvSpPr>
          <p:spPr>
            <a:xfrm>
              <a:off x="5450859" y="972113"/>
              <a:ext cx="0" cy="505459"/>
            </a:xfrm>
            <a:custGeom>
              <a:avLst/>
              <a:gdLst/>
              <a:ahLst/>
              <a:cxnLst/>
              <a:rect l="l" t="t" r="r" b="b"/>
              <a:pathLst>
                <a:path w="120000" h="505459" extrusionOk="0">
                  <a:moveTo>
                    <a:pt x="0" y="504845"/>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 name="Google Shape;103;p10"/>
            <p:cNvSpPr/>
            <p:nvPr/>
          </p:nvSpPr>
          <p:spPr>
            <a:xfrm>
              <a:off x="5450859" y="959413"/>
              <a:ext cx="0" cy="12700"/>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4" name="Google Shape;104;p10"/>
            <p:cNvSpPr/>
            <p:nvPr/>
          </p:nvSpPr>
          <p:spPr>
            <a:xfrm>
              <a:off x="5450859" y="946713"/>
              <a:ext cx="0" cy="12700"/>
            </a:xfrm>
            <a:custGeom>
              <a:avLst/>
              <a:gdLst/>
              <a:ahLst/>
              <a:cxnLst/>
              <a:rect l="l" t="t" r="r" b="b"/>
              <a:pathLst>
                <a:path w="120000" h="12700" extrusionOk="0">
                  <a:moveTo>
                    <a:pt x="0" y="12699"/>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 name="Google Shape;105;p10"/>
            <p:cNvSpPr/>
            <p:nvPr/>
          </p:nvSpPr>
          <p:spPr>
            <a:xfrm>
              <a:off x="5450859" y="934013"/>
              <a:ext cx="0" cy="12700"/>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 name="Google Shape;106;p10"/>
            <p:cNvSpPr/>
            <p:nvPr/>
          </p:nvSpPr>
          <p:spPr>
            <a:xfrm>
              <a:off x="5450859" y="914963"/>
              <a:ext cx="0" cy="19050"/>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7" name="Google Shape;107;p10"/>
            <p:cNvPicPr preferRelativeResize="0"/>
            <p:nvPr/>
          </p:nvPicPr>
          <p:blipFill rotWithShape="1">
            <a:blip r:embed="rId7">
              <a:alphaModFix/>
            </a:blip>
            <a:srcRect/>
            <a:stretch/>
          </p:blipFill>
          <p:spPr>
            <a:xfrm>
              <a:off x="513702" y="1964423"/>
              <a:ext cx="69291" cy="69291"/>
            </a:xfrm>
            <a:prstGeom prst="rect">
              <a:avLst/>
            </a:prstGeom>
            <a:noFill/>
            <a:ln>
              <a:noFill/>
            </a:ln>
          </p:spPr>
        </p:pic>
        <p:pic>
          <p:nvPicPr>
            <p:cNvPr id="108" name="Google Shape;108;p10"/>
            <p:cNvPicPr preferRelativeResize="0"/>
            <p:nvPr/>
          </p:nvPicPr>
          <p:blipFill rotWithShape="1">
            <a:blip r:embed="rId8">
              <a:alphaModFix/>
            </a:blip>
            <a:srcRect/>
            <a:stretch/>
          </p:blipFill>
          <p:spPr>
            <a:xfrm>
              <a:off x="513702" y="2185847"/>
              <a:ext cx="69291" cy="69291"/>
            </a:xfrm>
            <a:prstGeom prst="rect">
              <a:avLst/>
            </a:prstGeom>
            <a:noFill/>
            <a:ln>
              <a:noFill/>
            </a:ln>
          </p:spPr>
        </p:pic>
        <p:pic>
          <p:nvPicPr>
            <p:cNvPr id="109" name="Google Shape;109;p10"/>
            <p:cNvPicPr preferRelativeResize="0"/>
            <p:nvPr/>
          </p:nvPicPr>
          <p:blipFill rotWithShape="1">
            <a:blip r:embed="rId9">
              <a:alphaModFix/>
            </a:blip>
            <a:srcRect/>
            <a:stretch/>
          </p:blipFill>
          <p:spPr>
            <a:xfrm>
              <a:off x="513702" y="2407259"/>
              <a:ext cx="69291" cy="69291"/>
            </a:xfrm>
            <a:prstGeom prst="rect">
              <a:avLst/>
            </a:prstGeom>
            <a:noFill/>
            <a:ln>
              <a:noFill/>
            </a:ln>
          </p:spPr>
        </p:pic>
      </p:grpSp>
      <p:sp>
        <p:nvSpPr>
          <p:cNvPr id="110" name="Google Shape;110;p10"/>
          <p:cNvSpPr txBox="1"/>
          <p:nvPr/>
        </p:nvSpPr>
        <p:spPr>
          <a:xfrm>
            <a:off x="309194" y="821671"/>
            <a:ext cx="4991735" cy="1700530"/>
          </a:xfrm>
          <a:prstGeom prst="rect">
            <a:avLst/>
          </a:prstGeom>
          <a:noFill/>
          <a:ln>
            <a:noFill/>
          </a:ln>
        </p:spPr>
        <p:txBody>
          <a:bodyPr spcFirstLastPara="1" wrap="square" lIns="0" tIns="52700" rIns="0" bIns="0" anchor="t" anchorCtr="0">
            <a:spAutoFit/>
          </a:bodyPr>
          <a:lstStyle/>
          <a:p>
            <a:pPr marL="50800" lvl="0" indent="0" algn="l" rtl="0">
              <a:lnSpc>
                <a:spcPct val="100000"/>
              </a:lnSpc>
              <a:spcBef>
                <a:spcPts val="0"/>
              </a:spcBef>
              <a:spcAft>
                <a:spcPts val="0"/>
              </a:spcAft>
              <a:buNone/>
            </a:pPr>
            <a:r>
              <a:rPr lang="en-US" sz="1400">
                <a:solidFill>
                  <a:srgbClr val="3333B2"/>
                </a:solidFill>
                <a:latin typeface="Calibri"/>
                <a:ea typeface="Calibri"/>
                <a:cs typeface="Calibri"/>
                <a:sym typeface="Calibri"/>
              </a:rPr>
              <a:t>D</a:t>
            </a:r>
            <a:r>
              <a:rPr lang="en-US" sz="1400" cap="small">
                <a:solidFill>
                  <a:srgbClr val="3333B2"/>
                </a:solidFill>
                <a:latin typeface="Calibri"/>
                <a:ea typeface="Calibri"/>
                <a:cs typeface="Calibri"/>
                <a:sym typeface="Calibri"/>
              </a:rPr>
              <a:t>efinition</a:t>
            </a:r>
            <a:endParaRPr sz="1400">
              <a:latin typeface="Calibri"/>
              <a:ea typeface="Calibri"/>
              <a:cs typeface="Calibri"/>
              <a:sym typeface="Calibri"/>
            </a:endParaRPr>
          </a:p>
          <a:p>
            <a:pPr marL="50800" marR="17780" lvl="0" indent="0" algn="l" rtl="0">
              <a:lnSpc>
                <a:spcPct val="114700"/>
              </a:lnSpc>
              <a:spcBef>
                <a:spcPts val="60"/>
              </a:spcBef>
              <a:spcAft>
                <a:spcPts val="0"/>
              </a:spcAft>
              <a:buNone/>
            </a:pPr>
            <a:r>
              <a:rPr lang="en-US" sz="1050">
                <a:latin typeface="Arial"/>
                <a:ea typeface="Arial"/>
                <a:cs typeface="Arial"/>
                <a:sym typeface="Arial"/>
              </a:rPr>
              <a:t>Regression is a supervised learning task that predicts a continuous-valued output based on input features.</a:t>
            </a:r>
            <a:endParaRPr sz="1050">
              <a:latin typeface="Arial"/>
              <a:ea typeface="Arial"/>
              <a:cs typeface="Arial"/>
              <a:sym typeface="Arial"/>
            </a:endParaRPr>
          </a:p>
          <a:p>
            <a:pPr marL="0" lvl="0" indent="0" algn="l" rtl="0">
              <a:lnSpc>
                <a:spcPct val="100000"/>
              </a:lnSpc>
              <a:spcBef>
                <a:spcPts val="515"/>
              </a:spcBef>
              <a:spcAft>
                <a:spcPts val="0"/>
              </a:spcAft>
              <a:buNone/>
            </a:pPr>
            <a:endParaRPr sz="1050">
              <a:latin typeface="Arial"/>
              <a:ea typeface="Arial"/>
              <a:cs typeface="Arial"/>
              <a:sym typeface="Arial"/>
            </a:endParaRPr>
          </a:p>
          <a:p>
            <a:pPr marL="50800" lvl="0" indent="0" algn="l" rtl="0">
              <a:lnSpc>
                <a:spcPct val="100000"/>
              </a:lnSpc>
              <a:spcBef>
                <a:spcPts val="0"/>
              </a:spcBef>
              <a:spcAft>
                <a:spcPts val="0"/>
              </a:spcAft>
              <a:buNone/>
            </a:pPr>
            <a:r>
              <a:rPr lang="en-US" sz="1050">
                <a:solidFill>
                  <a:srgbClr val="1B1472"/>
                </a:solidFill>
                <a:latin typeface="Arial"/>
                <a:ea typeface="Arial"/>
                <a:cs typeface="Arial"/>
                <a:sym typeface="Arial"/>
              </a:rPr>
              <a:t>Key Characteristics:</a:t>
            </a:r>
            <a:endParaRPr sz="1050">
              <a:latin typeface="Arial"/>
              <a:ea typeface="Arial"/>
              <a:cs typeface="Arial"/>
              <a:sym typeface="Arial"/>
            </a:endParaRPr>
          </a:p>
          <a:p>
            <a:pPr marL="347980" lvl="0" indent="0" algn="l" rtl="0">
              <a:lnSpc>
                <a:spcPct val="100000"/>
              </a:lnSpc>
              <a:spcBef>
                <a:spcPts val="335"/>
              </a:spcBef>
              <a:spcAft>
                <a:spcPts val="0"/>
              </a:spcAft>
              <a:buNone/>
            </a:pPr>
            <a:r>
              <a:rPr lang="en-US" sz="1050">
                <a:latin typeface="Arial"/>
                <a:ea typeface="Arial"/>
                <a:cs typeface="Arial"/>
                <a:sym typeface="Arial"/>
              </a:rPr>
              <a:t>Input: Feature vector </a:t>
            </a:r>
            <a:r>
              <a:rPr lang="en-US" sz="1050" b="1">
                <a:latin typeface="Arial"/>
                <a:ea typeface="Arial"/>
                <a:cs typeface="Arial"/>
                <a:sym typeface="Arial"/>
              </a:rPr>
              <a:t>x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d</a:t>
            </a:r>
            <a:endParaRPr sz="1050" baseline="30000">
              <a:latin typeface="Arial"/>
              <a:ea typeface="Arial"/>
              <a:cs typeface="Arial"/>
              <a:sym typeface="Arial"/>
            </a:endParaRPr>
          </a:p>
          <a:p>
            <a:pPr marL="347980" lvl="0" indent="0" algn="l" rtl="0">
              <a:lnSpc>
                <a:spcPct val="100000"/>
              </a:lnSpc>
              <a:spcBef>
                <a:spcPts val="305"/>
              </a:spcBef>
              <a:spcAft>
                <a:spcPts val="0"/>
              </a:spcAft>
              <a:buNone/>
            </a:pPr>
            <a:r>
              <a:rPr lang="en-US" sz="1050">
                <a:latin typeface="Arial"/>
                <a:ea typeface="Arial"/>
                <a:cs typeface="Arial"/>
                <a:sym typeface="Arial"/>
              </a:rPr>
              <a:t>Output: Real-valued target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200">
                <a:latin typeface="Arial"/>
                <a:ea typeface="Arial"/>
                <a:cs typeface="Arial"/>
                <a:sym typeface="Arial"/>
              </a:rPr>
              <a:t>R</a:t>
            </a:r>
            <a:endParaRPr sz="1200">
              <a:latin typeface="Arial"/>
              <a:ea typeface="Arial"/>
              <a:cs typeface="Arial"/>
              <a:sym typeface="Arial"/>
            </a:endParaRPr>
          </a:p>
          <a:p>
            <a:pPr marL="347980" lvl="0" indent="0" algn="l" rtl="0">
              <a:lnSpc>
                <a:spcPct val="100000"/>
              </a:lnSpc>
              <a:spcBef>
                <a:spcPts val="300"/>
              </a:spcBef>
              <a:spcAft>
                <a:spcPts val="0"/>
              </a:spcAft>
              <a:buNone/>
            </a:pPr>
            <a:r>
              <a:rPr lang="en-US" sz="1050">
                <a:latin typeface="Arial"/>
                <a:ea typeface="Arial"/>
                <a:cs typeface="Arial"/>
                <a:sym typeface="Arial"/>
              </a:rPr>
              <a:t>Goal: Learn a function </a:t>
            </a:r>
            <a:r>
              <a:rPr lang="en-US" sz="1050" i="1">
                <a:latin typeface="Arial"/>
                <a:ea typeface="Arial"/>
                <a:cs typeface="Arial"/>
                <a:sym typeface="Arial"/>
              </a:rPr>
              <a:t>f </a:t>
            </a:r>
            <a:r>
              <a:rPr lang="en-US" sz="1200">
                <a:latin typeface="Tahoma"/>
                <a:ea typeface="Tahoma"/>
                <a:cs typeface="Tahoma"/>
                <a:sym typeface="Tahoma"/>
              </a:rPr>
              <a:t>: </a:t>
            </a:r>
            <a:r>
              <a:rPr lang="en-US" sz="1200">
                <a:latin typeface="Arial"/>
                <a:ea typeface="Arial"/>
                <a:cs typeface="Arial"/>
                <a:sym typeface="Arial"/>
              </a:rPr>
              <a:t>R</a:t>
            </a:r>
            <a:r>
              <a:rPr lang="en-US" sz="1050" i="1" baseline="30000">
                <a:latin typeface="Arial"/>
                <a:ea typeface="Arial"/>
                <a:cs typeface="Arial"/>
                <a:sym typeface="Arial"/>
              </a:rPr>
              <a:t>d </a:t>
            </a:r>
            <a:r>
              <a:rPr lang="en-US" sz="1200">
                <a:latin typeface="Lucida Sans"/>
                <a:ea typeface="Lucida Sans"/>
                <a:cs typeface="Lucida Sans"/>
                <a:sym typeface="Lucida Sans"/>
              </a:rPr>
              <a:t>→ </a:t>
            </a:r>
            <a:r>
              <a:rPr lang="en-US" sz="1200">
                <a:latin typeface="Arial"/>
                <a:ea typeface="Arial"/>
                <a:cs typeface="Arial"/>
                <a:sym typeface="Arial"/>
              </a:rPr>
              <a:t>R </a:t>
            </a:r>
            <a:r>
              <a:rPr lang="en-US" sz="1050">
                <a:latin typeface="Arial"/>
                <a:ea typeface="Arial"/>
                <a:cs typeface="Arial"/>
                <a:sym typeface="Arial"/>
              </a:rPr>
              <a:t>such that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i="1">
                <a:latin typeface="Arial"/>
                <a:ea typeface="Arial"/>
                <a:cs typeface="Arial"/>
                <a:sym typeface="Arial"/>
              </a:rPr>
              <a:t>f </a:t>
            </a:r>
            <a:r>
              <a:rPr lang="en-US" sz="1200">
                <a:latin typeface="Tahoma"/>
                <a:ea typeface="Tahoma"/>
                <a:cs typeface="Tahoma"/>
                <a:sym typeface="Tahoma"/>
              </a:rPr>
              <a:t>(</a:t>
            </a:r>
            <a:r>
              <a:rPr lang="en-US" sz="1050" b="1">
                <a:latin typeface="Arial"/>
                <a:ea typeface="Arial"/>
                <a:cs typeface="Arial"/>
                <a:sym typeface="Arial"/>
              </a:rPr>
              <a:t>x</a:t>
            </a:r>
            <a:r>
              <a:rPr lang="en-US" sz="1200">
                <a:latin typeface="Tahoma"/>
                <a:ea typeface="Tahoma"/>
                <a:cs typeface="Tahoma"/>
                <a:sym typeface="Tahoma"/>
              </a:rPr>
              <a:t>)</a:t>
            </a:r>
            <a:endParaRPr sz="1200">
              <a:latin typeface="Tahoma"/>
              <a:ea typeface="Tahoma"/>
              <a:cs typeface="Tahoma"/>
              <a:sym typeface="Tahoma"/>
            </a:endParaRPr>
          </a:p>
        </p:txBody>
      </p:sp>
      <p:grpSp>
        <p:nvGrpSpPr>
          <p:cNvPr id="111" name="Google Shape;111;p10"/>
          <p:cNvGrpSpPr/>
          <p:nvPr/>
        </p:nvGrpSpPr>
        <p:grpSpPr>
          <a:xfrm>
            <a:off x="0" y="3109250"/>
            <a:ext cx="5760261" cy="92075"/>
            <a:chOff x="0" y="3109250"/>
            <a:chExt cx="5760261" cy="92075"/>
          </a:xfrm>
        </p:grpSpPr>
        <p:sp>
          <p:nvSpPr>
            <p:cNvPr id="112" name="Google Shape;112;p1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 name="Google Shape;113;p1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4" name="Google Shape;114;p1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5" name="Google Shape;115;p1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6" name="Google Shape;116;p1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0"/>
              </a:rPr>
              <a:t>D</a:t>
            </a:r>
            <a:r>
              <a:rPr lang="en-US" sz="600" u="sng" cap="small">
                <a:solidFill>
                  <a:schemeClr val="hlink"/>
                </a:solidFill>
                <a:latin typeface="Calibri"/>
                <a:ea typeface="Calibri"/>
                <a:cs typeface="Calibri"/>
                <a:sym typeface="Calibri"/>
                <a:hlinkClick r:id="rId10"/>
              </a:rPr>
              <a:t>eep</a:t>
            </a:r>
            <a:r>
              <a:rPr lang="en-US" sz="600" u="sng">
                <a:solidFill>
                  <a:schemeClr val="hlink"/>
                </a:solidFill>
                <a:latin typeface="Calibri"/>
                <a:ea typeface="Calibri"/>
                <a:cs typeface="Calibri"/>
                <a:sym typeface="Calibri"/>
                <a:hlinkClick r:id="rId10"/>
              </a:rPr>
              <a:t> L</a:t>
            </a:r>
            <a:r>
              <a:rPr lang="en-US" sz="600" u="sng" cap="small">
                <a:solidFill>
                  <a:schemeClr val="hlink"/>
                </a:solidFill>
                <a:latin typeface="Calibri"/>
                <a:ea typeface="Calibri"/>
                <a:cs typeface="Calibri"/>
                <a:sym typeface="Calibri"/>
                <a:hlinkClick r:id="rId10"/>
              </a:rPr>
              <a:t>earning</a:t>
            </a:r>
            <a:endParaRPr sz="600">
              <a:latin typeface="Calibri"/>
              <a:ea typeface="Calibri"/>
              <a:cs typeface="Calibri"/>
              <a:sym typeface="Calibri"/>
            </a:endParaRPr>
          </a:p>
        </p:txBody>
      </p:sp>
      <p:sp>
        <p:nvSpPr>
          <p:cNvPr id="117" name="Google Shape;117;p1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r>
              <a:rPr lang="en-US"/>
              <a:t>4/ 46</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R</a:t>
            </a:r>
            <a:r>
              <a:rPr lang="en-US" cap="small">
                <a:solidFill>
                  <a:srgbClr val="FFFFFF"/>
                </a:solidFill>
              </a:rPr>
              <a:t>egression</a:t>
            </a:r>
            <a:r>
              <a:rPr lang="en-US">
                <a:solidFill>
                  <a:srgbClr val="FFFFFF"/>
                </a:solidFill>
              </a:rPr>
              <a:t> P</a:t>
            </a:r>
            <a:r>
              <a:rPr lang="en-US" cap="small">
                <a:solidFill>
                  <a:srgbClr val="FFFFFF"/>
                </a:solidFill>
              </a:rPr>
              <a:t>roblems</a:t>
            </a:r>
            <a:endParaRPr/>
          </a:p>
        </p:txBody>
      </p:sp>
      <p:pic>
        <p:nvPicPr>
          <p:cNvPr id="123" name="Google Shape;123;p11"/>
          <p:cNvPicPr preferRelativeResize="0"/>
          <p:nvPr/>
        </p:nvPicPr>
        <p:blipFill rotWithShape="1">
          <a:blip r:embed="rId3">
            <a:alphaModFix/>
          </a:blip>
          <a:srcRect/>
          <a:stretch/>
        </p:blipFill>
        <p:spPr>
          <a:xfrm>
            <a:off x="456996" y="881049"/>
            <a:ext cx="121259" cy="121259"/>
          </a:xfrm>
          <a:prstGeom prst="rect">
            <a:avLst/>
          </a:prstGeom>
          <a:noFill/>
          <a:ln>
            <a:noFill/>
          </a:ln>
        </p:spPr>
      </p:pic>
      <p:sp>
        <p:nvSpPr>
          <p:cNvPr id="124" name="Google Shape;124;p11"/>
          <p:cNvSpPr txBox="1"/>
          <p:nvPr/>
        </p:nvSpPr>
        <p:spPr>
          <a:xfrm>
            <a:off x="483946" y="871199"/>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pic>
        <p:nvPicPr>
          <p:cNvPr id="125" name="Google Shape;125;p11"/>
          <p:cNvPicPr preferRelativeResize="0"/>
          <p:nvPr/>
        </p:nvPicPr>
        <p:blipFill rotWithShape="1">
          <a:blip r:embed="rId4">
            <a:alphaModFix/>
          </a:blip>
          <a:srcRect/>
          <a:stretch/>
        </p:blipFill>
        <p:spPr>
          <a:xfrm>
            <a:off x="456996" y="1460537"/>
            <a:ext cx="121259" cy="121259"/>
          </a:xfrm>
          <a:prstGeom prst="rect">
            <a:avLst/>
          </a:prstGeom>
          <a:noFill/>
          <a:ln>
            <a:noFill/>
          </a:ln>
        </p:spPr>
      </p:pic>
      <p:sp>
        <p:nvSpPr>
          <p:cNvPr id="126" name="Google Shape;126;p11"/>
          <p:cNvSpPr txBox="1"/>
          <p:nvPr/>
        </p:nvSpPr>
        <p:spPr>
          <a:xfrm>
            <a:off x="483946" y="1450688"/>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pic>
        <p:nvPicPr>
          <p:cNvPr id="127" name="Google Shape;127;p11"/>
          <p:cNvPicPr preferRelativeResize="0"/>
          <p:nvPr/>
        </p:nvPicPr>
        <p:blipFill rotWithShape="1">
          <a:blip r:embed="rId5">
            <a:alphaModFix/>
          </a:blip>
          <a:srcRect/>
          <a:stretch/>
        </p:blipFill>
        <p:spPr>
          <a:xfrm>
            <a:off x="456996" y="2040026"/>
            <a:ext cx="121259" cy="121259"/>
          </a:xfrm>
          <a:prstGeom prst="rect">
            <a:avLst/>
          </a:prstGeom>
          <a:noFill/>
          <a:ln>
            <a:noFill/>
          </a:ln>
        </p:spPr>
      </p:pic>
      <p:sp>
        <p:nvSpPr>
          <p:cNvPr id="128" name="Google Shape;128;p11"/>
          <p:cNvSpPr txBox="1"/>
          <p:nvPr/>
        </p:nvSpPr>
        <p:spPr>
          <a:xfrm>
            <a:off x="483946" y="2030176"/>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sp>
        <p:nvSpPr>
          <p:cNvPr id="129" name="Google Shape;129;p11"/>
          <p:cNvSpPr txBox="1"/>
          <p:nvPr/>
        </p:nvSpPr>
        <p:spPr>
          <a:xfrm>
            <a:off x="619226" y="785112"/>
            <a:ext cx="3509010" cy="1765300"/>
          </a:xfrm>
          <a:prstGeom prst="rect">
            <a:avLst/>
          </a:prstGeom>
          <a:noFill/>
          <a:ln>
            <a:noFill/>
          </a:ln>
        </p:spPr>
        <p:txBody>
          <a:bodyPr spcFirstLastPara="1" wrap="square" lIns="0" tIns="65400"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House Price Prediction</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Size, location, number of rooms</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Price in dollars</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Temperature Forecasting</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Historical weather data, season, humidity</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Temperature in degrees</a:t>
            </a:r>
            <a:endParaRPr sz="950">
              <a:latin typeface="Arial"/>
              <a:ea typeface="Arial"/>
              <a:cs typeface="Arial"/>
              <a:sym typeface="Arial"/>
            </a:endParaRPr>
          </a:p>
          <a:p>
            <a:pPr marL="38100" lvl="0" indent="0" algn="l" rtl="0">
              <a:lnSpc>
                <a:spcPct val="100000"/>
              </a:lnSpc>
              <a:spcBef>
                <a:spcPts val="409"/>
              </a:spcBef>
              <a:spcAft>
                <a:spcPts val="0"/>
              </a:spcAft>
              <a:buNone/>
            </a:pPr>
            <a:r>
              <a:rPr lang="en-US" sz="1050">
                <a:solidFill>
                  <a:srgbClr val="1B1472"/>
                </a:solidFill>
                <a:latin typeface="Arial"/>
                <a:ea typeface="Arial"/>
                <a:cs typeface="Arial"/>
                <a:sym typeface="Arial"/>
              </a:rPr>
              <a:t>Stock Price Prediction</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Historical prices, trading volume, market indicators</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Future stock price</a:t>
            </a:r>
            <a:endParaRPr sz="950">
              <a:latin typeface="Arial"/>
              <a:ea typeface="Arial"/>
              <a:cs typeface="Arial"/>
              <a:sym typeface="Arial"/>
            </a:endParaRPr>
          </a:p>
        </p:txBody>
      </p:sp>
      <p:grpSp>
        <p:nvGrpSpPr>
          <p:cNvPr id="130" name="Google Shape;130;p11"/>
          <p:cNvGrpSpPr/>
          <p:nvPr/>
        </p:nvGrpSpPr>
        <p:grpSpPr>
          <a:xfrm>
            <a:off x="0" y="3109250"/>
            <a:ext cx="5760261" cy="92075"/>
            <a:chOff x="0" y="3109250"/>
            <a:chExt cx="5760261" cy="92075"/>
          </a:xfrm>
        </p:grpSpPr>
        <p:sp>
          <p:nvSpPr>
            <p:cNvPr id="131" name="Google Shape;131;p1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2" name="Google Shape;132;p1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3" name="Google Shape;133;p1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4" name="Google Shape;134;p1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5" name="Google Shape;135;p1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136" name="Google Shape;136;p1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5/ 46</a:t>
            </a:r>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42" name="Google Shape;142;p12"/>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143" name="Google Shape;143;p12"/>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144" name="Google Shape;144;p12"/>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145" name="Google Shape;145;p12"/>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2</a:t>
            </a:r>
            <a:endParaRPr sz="800">
              <a:latin typeface="Calibri"/>
              <a:ea typeface="Calibri"/>
              <a:cs typeface="Calibri"/>
              <a:sym typeface="Calibri"/>
            </a:endParaRPr>
          </a:p>
        </p:txBody>
      </p:sp>
      <p:pic>
        <p:nvPicPr>
          <p:cNvPr id="146" name="Google Shape;146;p12"/>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147" name="Google Shape;147;p12"/>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148" name="Google Shape;148;p12"/>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149" name="Google Shape;149;p12"/>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150" name="Google Shape;150;p12"/>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151" name="Google Shape;151;p12"/>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152" name="Google Shape;152;p12"/>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153" name="Google Shape;153;p12"/>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154" name="Google Shape;154;p12"/>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155" name="Google Shape;155;p12"/>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156" name="Google Shape;156;p12"/>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157" name="Google Shape;157;p12"/>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158" name="Google Shape;158;p12"/>
          <p:cNvSpPr txBox="1"/>
          <p:nvPr/>
        </p:nvSpPr>
        <p:spPr>
          <a:xfrm>
            <a:off x="563029" y="537830"/>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b="1" u="sng">
                <a:solidFill>
                  <a:schemeClr val="hlink"/>
                </a:solidFill>
                <a:latin typeface="Calibri"/>
                <a:ea typeface="Calibri"/>
                <a:cs typeface="Calibri"/>
                <a:sym typeface="Calibri"/>
                <a:hlinkClick r:id="rId12"/>
              </a:rPr>
              <a:t>L</a:t>
            </a:r>
            <a:r>
              <a:rPr lang="en-US" sz="1400" b="1" u="sng" cap="small">
                <a:solidFill>
                  <a:schemeClr val="hlink"/>
                </a:solidFill>
                <a:latin typeface="Calibri"/>
                <a:ea typeface="Calibri"/>
                <a:cs typeface="Calibri"/>
                <a:sym typeface="Calibri"/>
                <a:hlinkClick r:id="rId12"/>
              </a:rPr>
              <a:t>inear</a:t>
            </a:r>
            <a:r>
              <a:rPr lang="en-US" sz="1400" b="1" u="sng">
                <a:solidFill>
                  <a:schemeClr val="hlink"/>
                </a:solidFill>
                <a:latin typeface="Calibri"/>
                <a:ea typeface="Calibri"/>
                <a:cs typeface="Calibri"/>
                <a:sym typeface="Calibri"/>
                <a:hlinkClick r:id="rId12"/>
              </a:rPr>
              <a:t> R</a:t>
            </a:r>
            <a:r>
              <a:rPr lang="en-US" sz="1400" b="1"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3"/>
              </a:rPr>
              <a:t>T</a:t>
            </a:r>
            <a:r>
              <a:rPr lang="en-US" sz="1400" b="0" u="sng" cap="small">
                <a:solidFill>
                  <a:schemeClr val="hlink"/>
                </a:solidFill>
                <a:latin typeface="Calibri"/>
                <a:ea typeface="Calibri"/>
                <a:cs typeface="Calibri"/>
                <a:sym typeface="Calibri"/>
                <a:hlinkClick r:id="rId13"/>
              </a:rPr>
              <a:t>he</a:t>
            </a:r>
            <a:r>
              <a:rPr lang="en-US" sz="1400" b="0" u="sng">
                <a:solidFill>
                  <a:schemeClr val="hlink"/>
                </a:solidFill>
                <a:latin typeface="Calibri"/>
                <a:ea typeface="Calibri"/>
                <a:cs typeface="Calibri"/>
                <a:sym typeface="Calibri"/>
                <a:hlinkClick r:id="rId13"/>
              </a:rPr>
              <a:t> L</a:t>
            </a:r>
            <a:r>
              <a:rPr lang="en-US" sz="1400" b="0" u="sng" cap="small">
                <a:solidFill>
                  <a:schemeClr val="hlink"/>
                </a:solidFill>
                <a:latin typeface="Calibri"/>
                <a:ea typeface="Calibri"/>
                <a:cs typeface="Calibri"/>
                <a:sym typeface="Calibri"/>
                <a:hlinkClick r:id="rId13"/>
              </a:rPr>
              <a:t>inear</a:t>
            </a:r>
            <a:r>
              <a:rPr lang="en-US" sz="1400" b="0" u="sng">
                <a:solidFill>
                  <a:schemeClr val="hlink"/>
                </a:solidFill>
                <a:latin typeface="Calibri"/>
                <a:ea typeface="Calibri"/>
                <a:cs typeface="Calibri"/>
                <a:sym typeface="Calibri"/>
                <a:hlinkClick r:id="rId13"/>
              </a:rPr>
              <a:t> M</a:t>
            </a:r>
            <a:r>
              <a:rPr lang="en-US" sz="1400" b="0" u="sng" cap="small">
                <a:solidFill>
                  <a:schemeClr val="hlink"/>
                </a:solidFill>
                <a:latin typeface="Calibri"/>
                <a:ea typeface="Calibri"/>
                <a:cs typeface="Calibri"/>
                <a:sym typeface="Calibri"/>
                <a:hlinkClick r:id="rId13"/>
              </a:rPr>
              <a:t>odel</a:t>
            </a:r>
            <a:r>
              <a:rPr lang="en-US" sz="1400" b="0" u="sng">
                <a:solidFill>
                  <a:schemeClr val="hlink"/>
                </a:solidFill>
                <a:latin typeface="Calibri"/>
                <a:ea typeface="Calibri"/>
                <a:cs typeface="Calibri"/>
                <a:sym typeface="Calibri"/>
                <a:hlinkClick r:id="rId13"/>
              </a:rPr>
              <a:t>: S</a:t>
            </a:r>
            <a:r>
              <a:rPr lang="en-US" sz="1400" b="0" u="sng" cap="small">
                <a:solidFill>
                  <a:schemeClr val="hlink"/>
                </a:solidFill>
                <a:latin typeface="Calibri"/>
                <a:ea typeface="Calibri"/>
                <a:cs typeface="Calibri"/>
                <a:sym typeface="Calibri"/>
                <a:hlinkClick r:id="rId13"/>
              </a:rPr>
              <a:t>ingle</a:t>
            </a:r>
            <a:r>
              <a:rPr lang="en-US" sz="1400" b="0" u="sng">
                <a:solidFill>
                  <a:schemeClr val="hlink"/>
                </a:solidFill>
                <a:latin typeface="Calibri"/>
                <a:ea typeface="Calibri"/>
                <a:cs typeface="Calibri"/>
                <a:sym typeface="Calibri"/>
                <a:hlinkClick r:id="rId13"/>
              </a:rPr>
              <a:t> N</a:t>
            </a:r>
            <a:r>
              <a:rPr lang="en-US" sz="1400" b="0" u="sng" cap="small">
                <a:solidFill>
                  <a:schemeClr val="hlink"/>
                </a:solidFill>
                <a:latin typeface="Calibri"/>
                <a:ea typeface="Calibri"/>
                <a:cs typeface="Calibri"/>
                <a:sym typeface="Calibri"/>
                <a:hlinkClick r:id="rId13"/>
              </a:rPr>
              <a:t>euron</a:t>
            </a:r>
            <a:r>
              <a:rPr lang="en-US" sz="1400" b="0">
                <a:solidFill>
                  <a:srgbClr val="D6D6EF"/>
                </a:solidFill>
                <a:latin typeface="Calibri"/>
                <a:ea typeface="Calibri"/>
                <a:cs typeface="Calibri"/>
                <a:sym typeface="Calibri"/>
              </a:rPr>
              <a:t> </a:t>
            </a:r>
            <a:endParaRPr sz="1400" b="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4"/>
              </a:rPr>
              <a:t>W</a:t>
            </a:r>
            <a:r>
              <a:rPr lang="en-US" sz="1400" b="0" u="sng" cap="small">
                <a:solidFill>
                  <a:schemeClr val="hlink"/>
                </a:solidFill>
                <a:latin typeface="Calibri"/>
                <a:ea typeface="Calibri"/>
                <a:cs typeface="Calibri"/>
                <a:sym typeface="Calibri"/>
                <a:hlinkClick r:id="rId14"/>
              </a:rPr>
              <a:t>orked</a:t>
            </a:r>
            <a:r>
              <a:rPr lang="en-US" sz="1400" b="0" u="sng">
                <a:solidFill>
                  <a:schemeClr val="hlink"/>
                </a:solidFill>
                <a:latin typeface="Calibri"/>
                <a:ea typeface="Calibri"/>
                <a:cs typeface="Calibri"/>
                <a:sym typeface="Calibri"/>
                <a:hlinkClick r:id="rId14"/>
              </a:rPr>
              <a:t> E</a:t>
            </a:r>
            <a:r>
              <a:rPr lang="en-US" sz="1400" b="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b="0" u="sng">
                <a:solidFill>
                  <a:schemeClr val="hlink"/>
                </a:solidFill>
                <a:latin typeface="Calibri"/>
                <a:ea typeface="Calibri"/>
                <a:cs typeface="Calibri"/>
                <a:sym typeface="Calibri"/>
                <a:hlinkClick r:id="rId15"/>
              </a:rPr>
              <a:t>E</a:t>
            </a:r>
            <a:r>
              <a:rPr lang="en-US" sz="1400" b="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6"/>
              </a:rPr>
              <a:t>P</a:t>
            </a:r>
            <a:r>
              <a:rPr lang="en-US" sz="1400" b="0" u="sng" cap="small">
                <a:solidFill>
                  <a:schemeClr val="hlink"/>
                </a:solidFill>
                <a:latin typeface="Calibri"/>
                <a:ea typeface="Calibri"/>
                <a:cs typeface="Calibri"/>
                <a:sym typeface="Calibri"/>
                <a:hlinkClick r:id="rId16"/>
              </a:rPr>
              <a:t>ython</a:t>
            </a:r>
            <a:r>
              <a:rPr lang="en-US" sz="1400" b="0" u="sng">
                <a:solidFill>
                  <a:schemeClr val="hlink"/>
                </a:solidFill>
                <a:latin typeface="Calibri"/>
                <a:ea typeface="Calibri"/>
                <a:cs typeface="Calibri"/>
                <a:sym typeface="Calibri"/>
                <a:hlinkClick r:id="rId16"/>
              </a:rPr>
              <a:t> I</a:t>
            </a:r>
            <a:r>
              <a:rPr lang="en-US" sz="1400" b="0" u="sng" cap="small">
                <a:solidFill>
                  <a:schemeClr val="hlink"/>
                </a:solidFill>
                <a:latin typeface="Calibri"/>
                <a:ea typeface="Calibri"/>
                <a:cs typeface="Calibri"/>
                <a:sym typeface="Calibri"/>
                <a:hlinkClick r:id="rId16"/>
              </a:rPr>
              <a:t>mplementation</a:t>
            </a:r>
            <a:r>
              <a:rPr lang="en-US" sz="1400" b="0">
                <a:solidFill>
                  <a:srgbClr val="D6D6EF"/>
                </a:solidFill>
                <a:latin typeface="Calibri"/>
                <a:ea typeface="Calibri"/>
                <a:cs typeface="Calibri"/>
                <a:sym typeface="Calibri"/>
              </a:rPr>
              <a:t> </a:t>
            </a:r>
            <a:r>
              <a:rPr lang="en-US" sz="1400" b="0" u="sng">
                <a:solidFill>
                  <a:schemeClr val="hlink"/>
                </a:solidFill>
                <a:latin typeface="Calibri"/>
                <a:ea typeface="Calibri"/>
                <a:cs typeface="Calibri"/>
                <a:sym typeface="Calibri"/>
                <a:hlinkClick r:id="rId17"/>
              </a:rPr>
              <a:t>I</a:t>
            </a:r>
            <a:r>
              <a:rPr lang="en-US" sz="1400" b="0" u="sng" cap="small">
                <a:solidFill>
                  <a:schemeClr val="hlink"/>
                </a:solidFill>
                <a:latin typeface="Calibri"/>
                <a:ea typeface="Calibri"/>
                <a:cs typeface="Calibri"/>
                <a:sym typeface="Calibri"/>
                <a:hlinkClick r:id="rId17"/>
              </a:rPr>
              <a:t>mplementation</a:t>
            </a:r>
            <a:r>
              <a:rPr lang="en-US" sz="1400" b="0" u="sng">
                <a:solidFill>
                  <a:schemeClr val="hlink"/>
                </a:solidFill>
                <a:latin typeface="Calibri"/>
                <a:ea typeface="Calibri"/>
                <a:cs typeface="Calibri"/>
                <a:sym typeface="Calibri"/>
                <a:hlinkClick r:id="rId17"/>
              </a:rPr>
              <a:t> T</a:t>
            </a:r>
            <a:r>
              <a:rPr lang="en-US" sz="1400" b="0" u="sng" cap="small">
                <a:solidFill>
                  <a:schemeClr val="hlink"/>
                </a:solidFill>
                <a:latin typeface="Calibri"/>
                <a:ea typeface="Calibri"/>
                <a:cs typeface="Calibri"/>
                <a:sym typeface="Calibri"/>
                <a:hlinkClick r:id="rId17"/>
              </a:rPr>
              <a:t>ips</a:t>
            </a:r>
            <a:r>
              <a:rPr lang="en-US" sz="1400" b="0">
                <a:solidFill>
                  <a:srgbClr val="D6D6EF"/>
                </a:solidFill>
                <a:latin typeface="Calibri"/>
                <a:ea typeface="Calibri"/>
                <a:cs typeface="Calibri"/>
                <a:sym typeface="Calibri"/>
              </a:rPr>
              <a:t> </a:t>
            </a:r>
            <a:endParaRPr sz="1400" b="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8"/>
              </a:rPr>
              <a:t>S</a:t>
            </a:r>
            <a:r>
              <a:rPr lang="en-US" sz="1400" b="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159" name="Google Shape;159;p12"/>
          <p:cNvGrpSpPr/>
          <p:nvPr/>
        </p:nvGrpSpPr>
        <p:grpSpPr>
          <a:xfrm>
            <a:off x="0" y="3109250"/>
            <a:ext cx="5760261" cy="92075"/>
            <a:chOff x="0" y="3109250"/>
            <a:chExt cx="5760261" cy="92075"/>
          </a:xfrm>
        </p:grpSpPr>
        <p:sp>
          <p:nvSpPr>
            <p:cNvPr id="160" name="Google Shape;160;p1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1" name="Google Shape;161;p1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2" name="Google Shape;162;p1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3" name="Google Shape;163;p1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4" name="Google Shape;164;p1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165" name="Google Shape;165;p12"/>
          <p:cNvSpPr txBox="1">
            <a:spLocks noGrp="1"/>
          </p:cNvSpPr>
          <p:nvPr>
            <p:ph type="sldNum" idx="12"/>
          </p:nvPr>
        </p:nvSpPr>
        <p:spPr>
          <a:xfrm>
            <a:off x="4661184" y="3109097"/>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6 / 46</a:t>
            </a:r>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L</a:t>
            </a:r>
            <a:r>
              <a:rPr lang="en-US" cap="small">
                <a:solidFill>
                  <a:srgbClr val="FFFFFF"/>
                </a:solidFill>
              </a:rPr>
              <a:t>inear</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171" name="Google Shape;171;p13"/>
          <p:cNvGrpSpPr/>
          <p:nvPr/>
        </p:nvGrpSpPr>
        <p:grpSpPr>
          <a:xfrm>
            <a:off x="309193" y="699198"/>
            <a:ext cx="5192466" cy="489281"/>
            <a:chOff x="309193" y="699198"/>
            <a:chExt cx="5192466" cy="489281"/>
          </a:xfrm>
        </p:grpSpPr>
        <p:sp>
          <p:nvSpPr>
            <p:cNvPr id="172" name="Google Shape;172;p13"/>
            <p:cNvSpPr/>
            <p:nvPr/>
          </p:nvSpPr>
          <p:spPr>
            <a:xfrm>
              <a:off x="309193" y="699198"/>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73" name="Google Shape;173;p13"/>
            <p:cNvPicPr preferRelativeResize="0"/>
            <p:nvPr/>
          </p:nvPicPr>
          <p:blipFill rotWithShape="1">
            <a:blip r:embed="rId3">
              <a:alphaModFix/>
            </a:blip>
            <a:srcRect/>
            <a:stretch/>
          </p:blipFill>
          <p:spPr>
            <a:xfrm>
              <a:off x="309193" y="893432"/>
              <a:ext cx="5141666" cy="50609"/>
            </a:xfrm>
            <a:prstGeom prst="rect">
              <a:avLst/>
            </a:prstGeom>
            <a:noFill/>
            <a:ln>
              <a:noFill/>
            </a:ln>
          </p:spPr>
        </p:pic>
        <p:pic>
          <p:nvPicPr>
            <p:cNvPr id="174" name="Google Shape;174;p13"/>
            <p:cNvPicPr preferRelativeResize="0"/>
            <p:nvPr/>
          </p:nvPicPr>
          <p:blipFill rotWithShape="1">
            <a:blip r:embed="rId4">
              <a:alphaModFix/>
            </a:blip>
            <a:srcRect/>
            <a:stretch/>
          </p:blipFill>
          <p:spPr>
            <a:xfrm>
              <a:off x="359994" y="1086878"/>
              <a:ext cx="101600" cy="101600"/>
            </a:xfrm>
            <a:prstGeom prst="rect">
              <a:avLst/>
            </a:prstGeom>
            <a:noFill/>
            <a:ln>
              <a:noFill/>
            </a:ln>
          </p:spPr>
        </p:pic>
        <p:pic>
          <p:nvPicPr>
            <p:cNvPr id="175" name="Google Shape;175;p13"/>
            <p:cNvPicPr preferRelativeResize="0"/>
            <p:nvPr/>
          </p:nvPicPr>
          <p:blipFill rotWithShape="1">
            <a:blip r:embed="rId5">
              <a:alphaModFix/>
            </a:blip>
            <a:srcRect/>
            <a:stretch/>
          </p:blipFill>
          <p:spPr>
            <a:xfrm>
              <a:off x="410794" y="1074178"/>
              <a:ext cx="5090865" cy="114301"/>
            </a:xfrm>
            <a:prstGeom prst="rect">
              <a:avLst/>
            </a:prstGeom>
            <a:noFill/>
            <a:ln>
              <a:noFill/>
            </a:ln>
          </p:spPr>
        </p:pic>
        <p:pic>
          <p:nvPicPr>
            <p:cNvPr id="176" name="Google Shape;176;p13"/>
            <p:cNvPicPr preferRelativeResize="0"/>
            <p:nvPr/>
          </p:nvPicPr>
          <p:blipFill rotWithShape="1">
            <a:blip r:embed="rId6">
              <a:alphaModFix/>
            </a:blip>
            <a:srcRect/>
            <a:stretch/>
          </p:blipFill>
          <p:spPr>
            <a:xfrm>
              <a:off x="5450859" y="743445"/>
              <a:ext cx="50800" cy="343433"/>
            </a:xfrm>
            <a:prstGeom prst="rect">
              <a:avLst/>
            </a:prstGeom>
            <a:noFill/>
            <a:ln>
              <a:noFill/>
            </a:ln>
          </p:spPr>
        </p:pic>
        <p:sp>
          <p:nvSpPr>
            <p:cNvPr id="177" name="Google Shape;177;p13"/>
            <p:cNvSpPr/>
            <p:nvPr/>
          </p:nvSpPr>
          <p:spPr>
            <a:xfrm>
              <a:off x="309193" y="937722"/>
              <a:ext cx="5142230" cy="200025"/>
            </a:xfrm>
            <a:custGeom>
              <a:avLst/>
              <a:gdLst/>
              <a:ahLst/>
              <a:cxnLst/>
              <a:rect l="l" t="t" r="r" b="b"/>
              <a:pathLst>
                <a:path w="5142230" h="200025" extrusionOk="0">
                  <a:moveTo>
                    <a:pt x="5141666" y="0"/>
                  </a:moveTo>
                  <a:lnTo>
                    <a:pt x="0" y="0"/>
                  </a:lnTo>
                  <a:lnTo>
                    <a:pt x="0" y="149156"/>
                  </a:lnTo>
                  <a:lnTo>
                    <a:pt x="4008" y="168880"/>
                  </a:lnTo>
                  <a:lnTo>
                    <a:pt x="14922" y="185033"/>
                  </a:lnTo>
                  <a:lnTo>
                    <a:pt x="31075" y="195947"/>
                  </a:lnTo>
                  <a:lnTo>
                    <a:pt x="50800" y="199956"/>
                  </a:lnTo>
                  <a:lnTo>
                    <a:pt x="5090865" y="199956"/>
                  </a:lnTo>
                  <a:lnTo>
                    <a:pt x="5110590" y="195947"/>
                  </a:lnTo>
                  <a:lnTo>
                    <a:pt x="5126743" y="185033"/>
                  </a:lnTo>
                  <a:lnTo>
                    <a:pt x="5137657" y="168880"/>
                  </a:lnTo>
                  <a:lnTo>
                    <a:pt x="5141666" y="149156"/>
                  </a:lnTo>
                  <a:lnTo>
                    <a:pt x="5141666"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8" name="Google Shape;178;p13"/>
            <p:cNvSpPr/>
            <p:nvPr/>
          </p:nvSpPr>
          <p:spPr>
            <a:xfrm>
              <a:off x="5450859" y="781541"/>
              <a:ext cx="0" cy="324485"/>
            </a:xfrm>
            <a:custGeom>
              <a:avLst/>
              <a:gdLst/>
              <a:ahLst/>
              <a:cxnLst/>
              <a:rect l="l" t="t" r="r" b="b"/>
              <a:pathLst>
                <a:path w="120000" h="324484" extrusionOk="0">
                  <a:moveTo>
                    <a:pt x="0" y="324387"/>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9" name="Google Shape;179;p13"/>
            <p:cNvSpPr/>
            <p:nvPr/>
          </p:nvSpPr>
          <p:spPr>
            <a:xfrm>
              <a:off x="5450859" y="768841"/>
              <a:ext cx="0" cy="12700"/>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0" name="Google Shape;180;p13"/>
            <p:cNvSpPr/>
            <p:nvPr/>
          </p:nvSpPr>
          <p:spPr>
            <a:xfrm>
              <a:off x="5450859" y="756140"/>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1" name="Google Shape;181;p13"/>
            <p:cNvSpPr/>
            <p:nvPr/>
          </p:nvSpPr>
          <p:spPr>
            <a:xfrm>
              <a:off x="5450859" y="743440"/>
              <a:ext cx="0" cy="12700"/>
            </a:xfrm>
            <a:custGeom>
              <a:avLst/>
              <a:gdLst/>
              <a:ahLst/>
              <a:cxnLst/>
              <a:rect l="l" t="t" r="r" b="b"/>
              <a:pathLst>
                <a:path w="120000" h="12700" extrusionOk="0">
                  <a:moveTo>
                    <a:pt x="0" y="12699"/>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2" name="Google Shape;182;p13"/>
            <p:cNvSpPr/>
            <p:nvPr/>
          </p:nvSpPr>
          <p:spPr>
            <a:xfrm>
              <a:off x="5450859" y="724390"/>
              <a:ext cx="0" cy="1905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3" name="Google Shape;183;p13"/>
          <p:cNvSpPr txBox="1"/>
          <p:nvPr/>
        </p:nvSpPr>
        <p:spPr>
          <a:xfrm>
            <a:off x="347294" y="629639"/>
            <a:ext cx="4985385" cy="854710"/>
          </a:xfrm>
          <a:prstGeom prst="rect">
            <a:avLst/>
          </a:prstGeom>
          <a:noFill/>
          <a:ln>
            <a:noFill/>
          </a:ln>
        </p:spPr>
        <p:txBody>
          <a:bodyPr spcFirstLastPara="1" wrap="square" lIns="0" tIns="53975" rIns="0" bIns="0" anchor="t" anchorCtr="0">
            <a:spAutoFit/>
          </a:bodyPr>
          <a:lstStyle/>
          <a:p>
            <a:pPr marL="12700" lvl="0" indent="0" algn="l" rtl="0">
              <a:lnSpc>
                <a:spcPct val="100000"/>
              </a:lnSpc>
              <a:spcBef>
                <a:spcPts val="0"/>
              </a:spcBef>
              <a:spcAft>
                <a:spcPts val="0"/>
              </a:spcAft>
              <a:buNone/>
            </a:pPr>
            <a:r>
              <a:rPr lang="en-US" sz="1400">
                <a:solidFill>
                  <a:srgbClr val="3333B2"/>
                </a:solidFill>
                <a:latin typeface="Calibri"/>
                <a:ea typeface="Calibri"/>
                <a:cs typeface="Calibri"/>
                <a:sym typeface="Calibri"/>
              </a:rPr>
              <a:t>D</a:t>
            </a:r>
            <a:r>
              <a:rPr lang="en-US" sz="1400" cap="small">
                <a:solidFill>
                  <a:srgbClr val="3333B2"/>
                </a:solidFill>
                <a:latin typeface="Calibri"/>
                <a:ea typeface="Calibri"/>
                <a:cs typeface="Calibri"/>
                <a:sym typeface="Calibri"/>
              </a:rPr>
              <a:t>efinition</a:t>
            </a:r>
            <a:endParaRPr sz="1400">
              <a:latin typeface="Calibri"/>
              <a:ea typeface="Calibri"/>
              <a:cs typeface="Calibri"/>
              <a:sym typeface="Calibri"/>
            </a:endParaRPr>
          </a:p>
          <a:p>
            <a:pPr marL="12700" lvl="0" indent="0" algn="l" rtl="0">
              <a:lnSpc>
                <a:spcPct val="100000"/>
              </a:lnSpc>
              <a:spcBef>
                <a:spcPts val="254"/>
              </a:spcBef>
              <a:spcAft>
                <a:spcPts val="0"/>
              </a:spcAft>
              <a:buNone/>
            </a:pPr>
            <a:r>
              <a:rPr lang="en-US" sz="1050">
                <a:latin typeface="Arial"/>
                <a:ea typeface="Arial"/>
                <a:cs typeface="Arial"/>
                <a:sym typeface="Arial"/>
              </a:rPr>
              <a:t>Linear regression assumes the output is a linear combination of the input features.</a:t>
            </a:r>
            <a:endParaRPr sz="1050">
              <a:latin typeface="Arial"/>
              <a:ea typeface="Arial"/>
              <a:cs typeface="Arial"/>
              <a:sym typeface="Arial"/>
            </a:endParaRPr>
          </a:p>
          <a:p>
            <a:pPr marL="0" lvl="0" indent="0" algn="l" rtl="0">
              <a:lnSpc>
                <a:spcPct val="100000"/>
              </a:lnSpc>
              <a:spcBef>
                <a:spcPts val="530"/>
              </a:spcBef>
              <a:spcAft>
                <a:spcPts val="0"/>
              </a:spcAft>
              <a:buNone/>
            </a:pPr>
            <a:endParaRPr sz="1050">
              <a:latin typeface="Arial"/>
              <a:ea typeface="Arial"/>
              <a:cs typeface="Arial"/>
              <a:sym typeface="Arial"/>
            </a:endParaRPr>
          </a:p>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Mathematical Form:</a:t>
            </a:r>
            <a:endParaRPr sz="1050">
              <a:latin typeface="Arial"/>
              <a:ea typeface="Arial"/>
              <a:cs typeface="Arial"/>
              <a:sym typeface="Arial"/>
            </a:endParaRPr>
          </a:p>
        </p:txBody>
      </p:sp>
      <p:sp>
        <p:nvSpPr>
          <p:cNvPr id="184" name="Google Shape;184;p13"/>
          <p:cNvSpPr txBox="1"/>
          <p:nvPr/>
        </p:nvSpPr>
        <p:spPr>
          <a:xfrm>
            <a:off x="1738176" y="1614550"/>
            <a:ext cx="2736300" cy="1968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y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0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050" i="1">
                <a:latin typeface="Arial"/>
                <a:ea typeface="Arial"/>
                <a:cs typeface="Arial"/>
                <a:sym typeface="Arial"/>
              </a:rPr>
              <a:t>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050" i="1">
                <a:latin typeface="Arial"/>
                <a:ea typeface="Arial"/>
                <a:cs typeface="Arial"/>
                <a:sym typeface="Arial"/>
              </a:rPr>
              <a:t>x</a:t>
            </a:r>
            <a:r>
              <a:rPr lang="en-US" sz="1050" baseline="-25000">
                <a:latin typeface="Arial"/>
                <a:ea typeface="Arial"/>
                <a:cs typeface="Arial"/>
                <a:sym typeface="Arial"/>
              </a:rPr>
              <a:t>2 </a:t>
            </a:r>
            <a:r>
              <a:rPr lang="en-US" sz="1200">
                <a:latin typeface="Tahoma"/>
                <a:ea typeface="Tahoma"/>
                <a:cs typeface="Tahoma"/>
                <a:sym typeface="Tahoma"/>
              </a:rPr>
              <a:t>+ </a:t>
            </a:r>
            <a:r>
              <a:rPr lang="en-US" sz="1200">
                <a:latin typeface="Lucida Sans"/>
                <a:ea typeface="Lucida Sans"/>
                <a:cs typeface="Lucida Sans"/>
                <a:sym typeface="Lucida Sans"/>
              </a:rPr>
              <a:t>· · · </a:t>
            </a:r>
            <a:r>
              <a:rPr lang="en-US" sz="1200">
                <a:latin typeface="Tahoma"/>
                <a:ea typeface="Tahoma"/>
                <a:cs typeface="Tahoma"/>
                <a:sym typeface="Tahoma"/>
              </a:rPr>
              <a:t>+ </a:t>
            </a:r>
            <a:r>
              <a:rPr lang="en-US" sz="1050" i="1">
                <a:latin typeface="Arial"/>
                <a:ea typeface="Arial"/>
                <a:cs typeface="Arial"/>
                <a:sym typeface="Arial"/>
              </a:rPr>
              <a:t>w</a:t>
            </a:r>
            <a:r>
              <a:rPr lang="en-US" sz="1050" i="1" baseline="-25000">
                <a:latin typeface="Arial"/>
                <a:ea typeface="Arial"/>
                <a:cs typeface="Arial"/>
                <a:sym typeface="Arial"/>
              </a:rPr>
              <a:t>d</a:t>
            </a:r>
            <a:r>
              <a:rPr lang="en-US" sz="1050" i="1">
                <a:latin typeface="Arial"/>
                <a:ea typeface="Arial"/>
                <a:cs typeface="Arial"/>
                <a:sym typeface="Arial"/>
              </a:rPr>
              <a:t>x</a:t>
            </a:r>
            <a:r>
              <a:rPr lang="en-US" sz="1050" i="1" baseline="-25000">
                <a:latin typeface="Arial"/>
                <a:ea typeface="Arial"/>
                <a:cs typeface="Arial"/>
                <a:sym typeface="Arial"/>
              </a:rPr>
              <a:t>d</a:t>
            </a:r>
            <a:endParaRPr sz="1050" baseline="-25000">
              <a:latin typeface="Arial"/>
              <a:ea typeface="Arial"/>
              <a:cs typeface="Arial"/>
              <a:sym typeface="Arial"/>
            </a:endParaRPr>
          </a:p>
        </p:txBody>
      </p:sp>
      <p:sp>
        <p:nvSpPr>
          <p:cNvPr id="185" name="Google Shape;185;p13"/>
          <p:cNvSpPr txBox="1"/>
          <p:nvPr/>
        </p:nvSpPr>
        <p:spPr>
          <a:xfrm>
            <a:off x="5220322" y="1629732"/>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a:t>
            </a:r>
            <a:endParaRPr sz="1050">
              <a:latin typeface="Arial"/>
              <a:ea typeface="Arial"/>
              <a:cs typeface="Arial"/>
              <a:sym typeface="Arial"/>
            </a:endParaRPr>
          </a:p>
        </p:txBody>
      </p:sp>
      <p:grpSp>
        <p:nvGrpSpPr>
          <p:cNvPr id="186" name="Google Shape;186;p13"/>
          <p:cNvGrpSpPr/>
          <p:nvPr/>
        </p:nvGrpSpPr>
        <p:grpSpPr>
          <a:xfrm>
            <a:off x="513702" y="2263978"/>
            <a:ext cx="69291" cy="512127"/>
            <a:chOff x="513702" y="2263978"/>
            <a:chExt cx="69291" cy="512127"/>
          </a:xfrm>
        </p:grpSpPr>
        <p:pic>
          <p:nvPicPr>
            <p:cNvPr id="187" name="Google Shape;187;p13"/>
            <p:cNvPicPr preferRelativeResize="0"/>
            <p:nvPr/>
          </p:nvPicPr>
          <p:blipFill rotWithShape="1">
            <a:blip r:embed="rId7">
              <a:alphaModFix/>
            </a:blip>
            <a:srcRect/>
            <a:stretch/>
          </p:blipFill>
          <p:spPr>
            <a:xfrm>
              <a:off x="513702" y="2263978"/>
              <a:ext cx="69291" cy="69291"/>
            </a:xfrm>
            <a:prstGeom prst="rect">
              <a:avLst/>
            </a:prstGeom>
            <a:noFill/>
            <a:ln>
              <a:noFill/>
            </a:ln>
          </p:spPr>
        </p:pic>
        <p:pic>
          <p:nvPicPr>
            <p:cNvPr id="188" name="Google Shape;188;p13"/>
            <p:cNvPicPr preferRelativeResize="0"/>
            <p:nvPr/>
          </p:nvPicPr>
          <p:blipFill rotWithShape="1">
            <a:blip r:embed="rId8">
              <a:alphaModFix/>
            </a:blip>
            <a:srcRect/>
            <a:stretch/>
          </p:blipFill>
          <p:spPr>
            <a:xfrm>
              <a:off x="513702" y="2485390"/>
              <a:ext cx="69291" cy="69291"/>
            </a:xfrm>
            <a:prstGeom prst="rect">
              <a:avLst/>
            </a:prstGeom>
            <a:noFill/>
            <a:ln>
              <a:noFill/>
            </a:ln>
          </p:spPr>
        </p:pic>
        <p:pic>
          <p:nvPicPr>
            <p:cNvPr id="189" name="Google Shape;189;p13"/>
            <p:cNvPicPr preferRelativeResize="0"/>
            <p:nvPr/>
          </p:nvPicPr>
          <p:blipFill rotWithShape="1">
            <a:blip r:embed="rId9">
              <a:alphaModFix/>
            </a:blip>
            <a:srcRect/>
            <a:stretch/>
          </p:blipFill>
          <p:spPr>
            <a:xfrm>
              <a:off x="513702" y="2706814"/>
              <a:ext cx="69291" cy="69291"/>
            </a:xfrm>
            <a:prstGeom prst="rect">
              <a:avLst/>
            </a:prstGeom>
            <a:noFill/>
            <a:ln>
              <a:noFill/>
            </a:ln>
          </p:spPr>
        </p:pic>
      </p:grpSp>
      <p:sp>
        <p:nvSpPr>
          <p:cNvPr id="190" name="Google Shape;190;p13"/>
          <p:cNvSpPr txBox="1"/>
          <p:nvPr/>
        </p:nvSpPr>
        <p:spPr>
          <a:xfrm>
            <a:off x="321894" y="1926987"/>
            <a:ext cx="2919730" cy="892175"/>
          </a:xfrm>
          <a:prstGeom prst="rect">
            <a:avLst/>
          </a:prstGeom>
          <a:noFill/>
          <a:ln>
            <a:noFill/>
          </a:ln>
        </p:spPr>
        <p:txBody>
          <a:bodyPr spcFirstLastPara="1" wrap="square" lIns="0" tIns="53975"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where:</a:t>
            </a:r>
            <a:endParaRPr sz="1050">
              <a:latin typeface="Arial"/>
              <a:ea typeface="Arial"/>
              <a:cs typeface="Arial"/>
              <a:sym typeface="Arial"/>
            </a:endParaRPr>
          </a:p>
          <a:p>
            <a:pPr marL="335280" lvl="0" indent="0" algn="l" rtl="0">
              <a:lnSpc>
                <a:spcPct val="100000"/>
              </a:lnSpc>
              <a:spcBef>
                <a:spcPts val="330"/>
              </a:spcBef>
              <a:spcAft>
                <a:spcPts val="0"/>
              </a:spcAft>
              <a:buNone/>
            </a:pPr>
            <a:r>
              <a:rPr lang="en-US" sz="1050" b="1">
                <a:latin typeface="Arial"/>
                <a:ea typeface="Arial"/>
                <a:cs typeface="Arial"/>
                <a:sym typeface="Arial"/>
              </a:rPr>
              <a:t>x </a:t>
            </a:r>
            <a:r>
              <a:rPr lang="en-US" sz="1200">
                <a:latin typeface="Tahoma"/>
                <a:ea typeface="Tahoma"/>
                <a:cs typeface="Tahoma"/>
                <a:sym typeface="Tahoma"/>
              </a:rPr>
              <a:t>= [</a:t>
            </a:r>
            <a:r>
              <a:rPr lang="en-US" sz="1050" i="1">
                <a:latin typeface="Arial"/>
                <a:ea typeface="Arial"/>
                <a:cs typeface="Arial"/>
                <a:sym typeface="Arial"/>
              </a:rPr>
              <a:t>x</a:t>
            </a:r>
            <a:r>
              <a:rPr lang="en-US" sz="1050" baseline="-25000">
                <a:latin typeface="Arial"/>
                <a:ea typeface="Arial"/>
                <a:cs typeface="Arial"/>
                <a:sym typeface="Arial"/>
              </a:rPr>
              <a:t>1</a:t>
            </a:r>
            <a:r>
              <a:rPr lang="en-US" sz="1200" i="1">
                <a:latin typeface="Calibri"/>
                <a:ea typeface="Calibri"/>
                <a:cs typeface="Calibri"/>
                <a:sym typeface="Calibri"/>
              </a:rPr>
              <a:t>, </a:t>
            </a:r>
            <a:r>
              <a:rPr lang="en-US" sz="1050" i="1">
                <a:latin typeface="Arial"/>
                <a:ea typeface="Arial"/>
                <a:cs typeface="Arial"/>
                <a:sym typeface="Arial"/>
              </a:rPr>
              <a:t>x</a:t>
            </a:r>
            <a:r>
              <a:rPr lang="en-US" sz="1050" baseline="-25000">
                <a:latin typeface="Arial"/>
                <a:ea typeface="Arial"/>
                <a:cs typeface="Arial"/>
                <a:sym typeface="Arial"/>
              </a:rPr>
              <a:t>2</a:t>
            </a:r>
            <a:r>
              <a:rPr lang="en-US" sz="1200" i="1">
                <a:latin typeface="Calibri"/>
                <a:ea typeface="Calibri"/>
                <a:cs typeface="Calibri"/>
                <a:sym typeface="Calibri"/>
              </a:rPr>
              <a:t>, . . . , </a:t>
            </a:r>
            <a:r>
              <a:rPr lang="en-US" sz="1050" i="1">
                <a:latin typeface="Arial"/>
                <a:ea typeface="Arial"/>
                <a:cs typeface="Arial"/>
                <a:sym typeface="Arial"/>
              </a:rPr>
              <a:t>x</a:t>
            </a:r>
            <a:r>
              <a:rPr lang="en-US" sz="1050" i="1" baseline="-25000">
                <a:latin typeface="Arial"/>
                <a:ea typeface="Arial"/>
                <a:cs typeface="Arial"/>
                <a:sym typeface="Arial"/>
              </a:rPr>
              <a:t>d </a:t>
            </a:r>
            <a:r>
              <a:rPr lang="en-US" sz="1200">
                <a:latin typeface="Tahoma"/>
                <a:ea typeface="Tahoma"/>
                <a:cs typeface="Tahoma"/>
                <a:sym typeface="Tahoma"/>
              </a:rPr>
              <a:t>]</a:t>
            </a:r>
            <a:r>
              <a:rPr lang="en-US" sz="1050" i="1" baseline="30000">
                <a:latin typeface="Arial"/>
                <a:ea typeface="Arial"/>
                <a:cs typeface="Arial"/>
                <a:sym typeface="Arial"/>
              </a:rPr>
              <a:t>T </a:t>
            </a:r>
            <a:r>
              <a:rPr lang="en-US" sz="1050">
                <a:latin typeface="Arial"/>
                <a:ea typeface="Arial"/>
                <a:cs typeface="Arial"/>
                <a:sym typeface="Arial"/>
              </a:rPr>
              <a:t>are the input features</a:t>
            </a:r>
            <a:endParaRPr sz="1050">
              <a:latin typeface="Arial"/>
              <a:ea typeface="Arial"/>
              <a:cs typeface="Arial"/>
              <a:sym typeface="Arial"/>
            </a:endParaRPr>
          </a:p>
          <a:p>
            <a:pPr marL="335280" lvl="0" indent="0" algn="l" rtl="0">
              <a:lnSpc>
                <a:spcPct val="100000"/>
              </a:lnSpc>
              <a:spcBef>
                <a:spcPts val="305"/>
              </a:spcBef>
              <a:spcAft>
                <a:spcPts val="0"/>
              </a:spcAft>
              <a:buNone/>
            </a:pPr>
            <a:r>
              <a:rPr lang="en-US" sz="1050" b="1">
                <a:latin typeface="Arial"/>
                <a:ea typeface="Arial"/>
                <a:cs typeface="Arial"/>
                <a:sym typeface="Arial"/>
              </a:rPr>
              <a:t>w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200" i="1">
                <a:latin typeface="Calibri"/>
                <a:ea typeface="Calibri"/>
                <a:cs typeface="Calibri"/>
                <a:sym typeface="Calibri"/>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200" i="1">
                <a:latin typeface="Calibri"/>
                <a:ea typeface="Calibri"/>
                <a:cs typeface="Calibri"/>
                <a:sym typeface="Calibri"/>
              </a:rPr>
              <a:t>, . . . , </a:t>
            </a:r>
            <a:r>
              <a:rPr lang="en-US" sz="1050" i="1">
                <a:latin typeface="Arial"/>
                <a:ea typeface="Arial"/>
                <a:cs typeface="Arial"/>
                <a:sym typeface="Arial"/>
              </a:rPr>
              <a:t>w</a:t>
            </a:r>
            <a:r>
              <a:rPr lang="en-US" sz="1050" i="1" baseline="-25000">
                <a:latin typeface="Arial"/>
                <a:ea typeface="Arial"/>
                <a:cs typeface="Arial"/>
                <a:sym typeface="Arial"/>
              </a:rPr>
              <a:t>d </a:t>
            </a:r>
            <a:r>
              <a:rPr lang="en-US" sz="1200">
                <a:latin typeface="Tahoma"/>
                <a:ea typeface="Tahoma"/>
                <a:cs typeface="Tahoma"/>
                <a:sym typeface="Tahoma"/>
              </a:rPr>
              <a:t>]</a:t>
            </a:r>
            <a:r>
              <a:rPr lang="en-US" sz="1050" i="1" baseline="30000">
                <a:latin typeface="Arial"/>
                <a:ea typeface="Arial"/>
                <a:cs typeface="Arial"/>
                <a:sym typeface="Arial"/>
              </a:rPr>
              <a:t>T </a:t>
            </a:r>
            <a:r>
              <a:rPr lang="en-US" sz="1050">
                <a:latin typeface="Arial"/>
                <a:ea typeface="Arial"/>
                <a:cs typeface="Arial"/>
                <a:sym typeface="Arial"/>
              </a:rPr>
              <a:t>are the weights</a:t>
            </a:r>
            <a:endParaRPr sz="1050">
              <a:latin typeface="Arial"/>
              <a:ea typeface="Arial"/>
              <a:cs typeface="Arial"/>
              <a:sym typeface="Arial"/>
            </a:endParaRPr>
          </a:p>
          <a:p>
            <a:pPr marL="335280" lvl="0" indent="0" algn="l" rtl="0">
              <a:lnSpc>
                <a:spcPct val="100000"/>
              </a:lnSpc>
              <a:spcBef>
                <a:spcPts val="455"/>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0 </a:t>
            </a:r>
            <a:r>
              <a:rPr lang="en-US" sz="1050">
                <a:latin typeface="Arial"/>
                <a:ea typeface="Arial"/>
                <a:cs typeface="Arial"/>
                <a:sym typeface="Arial"/>
              </a:rPr>
              <a:t>is the bias term</a:t>
            </a:r>
            <a:endParaRPr sz="1050">
              <a:latin typeface="Arial"/>
              <a:ea typeface="Arial"/>
              <a:cs typeface="Arial"/>
              <a:sym typeface="Arial"/>
            </a:endParaRPr>
          </a:p>
        </p:txBody>
      </p:sp>
      <p:grpSp>
        <p:nvGrpSpPr>
          <p:cNvPr id="191" name="Google Shape;191;p13"/>
          <p:cNvGrpSpPr/>
          <p:nvPr/>
        </p:nvGrpSpPr>
        <p:grpSpPr>
          <a:xfrm>
            <a:off x="0" y="3109250"/>
            <a:ext cx="5760261" cy="92075"/>
            <a:chOff x="0" y="3109250"/>
            <a:chExt cx="5760261" cy="92075"/>
          </a:xfrm>
        </p:grpSpPr>
        <p:sp>
          <p:nvSpPr>
            <p:cNvPr id="192" name="Google Shape;192;p1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3" name="Google Shape;193;p1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 name="Google Shape;194;p1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5" name="Google Shape;195;p1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6" name="Google Shape;196;p1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0"/>
              </a:rPr>
              <a:t>D</a:t>
            </a:r>
            <a:r>
              <a:rPr lang="en-US" sz="600" u="sng" cap="small">
                <a:solidFill>
                  <a:schemeClr val="hlink"/>
                </a:solidFill>
                <a:latin typeface="Calibri"/>
                <a:ea typeface="Calibri"/>
                <a:cs typeface="Calibri"/>
                <a:sym typeface="Calibri"/>
                <a:hlinkClick r:id="rId10"/>
              </a:rPr>
              <a:t>eep</a:t>
            </a:r>
            <a:r>
              <a:rPr lang="en-US" sz="600" u="sng">
                <a:solidFill>
                  <a:schemeClr val="hlink"/>
                </a:solidFill>
                <a:latin typeface="Calibri"/>
                <a:ea typeface="Calibri"/>
                <a:cs typeface="Calibri"/>
                <a:sym typeface="Calibri"/>
                <a:hlinkClick r:id="rId10"/>
              </a:rPr>
              <a:t> L</a:t>
            </a:r>
            <a:r>
              <a:rPr lang="en-US" sz="600" u="sng" cap="small">
                <a:solidFill>
                  <a:schemeClr val="hlink"/>
                </a:solidFill>
                <a:latin typeface="Calibri"/>
                <a:ea typeface="Calibri"/>
                <a:cs typeface="Calibri"/>
                <a:sym typeface="Calibri"/>
                <a:hlinkClick r:id="rId10"/>
              </a:rPr>
              <a:t>earning</a:t>
            </a:r>
            <a:endParaRPr sz="600">
              <a:latin typeface="Calibri"/>
              <a:ea typeface="Calibri"/>
              <a:cs typeface="Calibri"/>
              <a:sym typeface="Calibri"/>
            </a:endParaRPr>
          </a:p>
        </p:txBody>
      </p:sp>
      <p:sp>
        <p:nvSpPr>
          <p:cNvPr id="197" name="Google Shape;197;p1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 7/ 46</a:t>
            </a:r>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L</a:t>
            </a:r>
            <a:r>
              <a:rPr lang="en-US" cap="small">
                <a:solidFill>
                  <a:srgbClr val="FFFFFF"/>
                </a:solidFill>
              </a:rPr>
              <a:t>inear</a:t>
            </a:r>
            <a:r>
              <a:rPr lang="en-US">
                <a:solidFill>
                  <a:srgbClr val="FFFFFF"/>
                </a:solidFill>
              </a:rPr>
              <a:t> R</a:t>
            </a:r>
            <a:r>
              <a:rPr lang="en-US" cap="small">
                <a:solidFill>
                  <a:srgbClr val="FFFFFF"/>
                </a:solidFill>
              </a:rPr>
              <a:t>egression</a:t>
            </a:r>
            <a:endParaRPr/>
          </a:p>
        </p:txBody>
      </p:sp>
      <p:pic>
        <p:nvPicPr>
          <p:cNvPr id="203" name="Google Shape;203;p14"/>
          <p:cNvPicPr preferRelativeResize="0"/>
          <p:nvPr/>
        </p:nvPicPr>
        <p:blipFill rotWithShape="1">
          <a:blip r:embed="rId3">
            <a:alphaModFix/>
          </a:blip>
          <a:srcRect/>
          <a:stretch/>
        </p:blipFill>
        <p:spPr>
          <a:xfrm>
            <a:off x="456996" y="984364"/>
            <a:ext cx="121259" cy="121259"/>
          </a:xfrm>
          <a:prstGeom prst="rect">
            <a:avLst/>
          </a:prstGeom>
          <a:noFill/>
          <a:ln>
            <a:noFill/>
          </a:ln>
        </p:spPr>
      </p:pic>
      <p:sp>
        <p:nvSpPr>
          <p:cNvPr id="204" name="Google Shape;204;p14"/>
          <p:cNvSpPr txBox="1"/>
          <p:nvPr/>
        </p:nvSpPr>
        <p:spPr>
          <a:xfrm>
            <a:off x="483946" y="974514"/>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sp>
        <p:nvSpPr>
          <p:cNvPr id="205" name="Google Shape;205;p14"/>
          <p:cNvSpPr txBox="1"/>
          <p:nvPr/>
        </p:nvSpPr>
        <p:spPr>
          <a:xfrm>
            <a:off x="644626" y="938141"/>
            <a:ext cx="106235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Salary Prediction</a:t>
            </a:r>
            <a:endParaRPr sz="1050">
              <a:latin typeface="Arial"/>
              <a:ea typeface="Arial"/>
              <a:cs typeface="Arial"/>
              <a:sym typeface="Arial"/>
            </a:endParaRPr>
          </a:p>
        </p:txBody>
      </p:sp>
      <p:sp>
        <p:nvSpPr>
          <p:cNvPr id="206" name="Google Shape;206;p14"/>
          <p:cNvSpPr txBox="1"/>
          <p:nvPr/>
        </p:nvSpPr>
        <p:spPr>
          <a:xfrm>
            <a:off x="774445" y="1133613"/>
            <a:ext cx="2496185" cy="191770"/>
          </a:xfrm>
          <a:prstGeom prst="rect">
            <a:avLst/>
          </a:prstGeom>
          <a:noFill/>
          <a:ln>
            <a:noFill/>
          </a:ln>
        </p:spPr>
        <p:txBody>
          <a:bodyPr spcFirstLastPara="1" wrap="square" lIns="0" tIns="11425" rIns="0" bIns="0" anchor="t" anchorCtr="0">
            <a:spAutoFit/>
          </a:bodyPr>
          <a:lstStyle/>
          <a:p>
            <a:pPr marL="38100"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Salary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Years of Experience</a:t>
            </a:r>
            <a:endParaRPr sz="950">
              <a:latin typeface="Arial"/>
              <a:ea typeface="Arial"/>
              <a:cs typeface="Arial"/>
              <a:sym typeface="Arial"/>
            </a:endParaRPr>
          </a:p>
        </p:txBody>
      </p:sp>
      <p:grpSp>
        <p:nvGrpSpPr>
          <p:cNvPr id="207" name="Google Shape;207;p14"/>
          <p:cNvGrpSpPr/>
          <p:nvPr/>
        </p:nvGrpSpPr>
        <p:grpSpPr>
          <a:xfrm>
            <a:off x="456996" y="1391780"/>
            <a:ext cx="121259" cy="528662"/>
            <a:chOff x="456996" y="1391780"/>
            <a:chExt cx="121259" cy="528662"/>
          </a:xfrm>
        </p:grpSpPr>
        <p:pic>
          <p:nvPicPr>
            <p:cNvPr id="208" name="Google Shape;208;p14"/>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209" name="Google Shape;209;p14"/>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210" name="Google Shape;210;p14"/>
          <p:cNvSpPr txBox="1"/>
          <p:nvPr/>
        </p:nvSpPr>
        <p:spPr>
          <a:xfrm>
            <a:off x="483946" y="138193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sp>
        <p:nvSpPr>
          <p:cNvPr id="211" name="Google Shape;211;p14"/>
          <p:cNvSpPr txBox="1"/>
          <p:nvPr/>
        </p:nvSpPr>
        <p:spPr>
          <a:xfrm>
            <a:off x="644626" y="1345544"/>
            <a:ext cx="130619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Crop Yield Prediction</a:t>
            </a:r>
            <a:endParaRPr sz="1050">
              <a:latin typeface="Arial"/>
              <a:ea typeface="Arial"/>
              <a:cs typeface="Arial"/>
              <a:sym typeface="Arial"/>
            </a:endParaRPr>
          </a:p>
        </p:txBody>
      </p:sp>
      <p:sp>
        <p:nvSpPr>
          <p:cNvPr id="212" name="Google Shape;212;p14"/>
          <p:cNvSpPr txBox="1"/>
          <p:nvPr/>
        </p:nvSpPr>
        <p:spPr>
          <a:xfrm>
            <a:off x="774445" y="1541029"/>
            <a:ext cx="2681605" cy="191770"/>
          </a:xfrm>
          <a:prstGeom prst="rect">
            <a:avLst/>
          </a:prstGeom>
          <a:noFill/>
          <a:ln>
            <a:noFill/>
          </a:ln>
        </p:spPr>
        <p:txBody>
          <a:bodyPr spcFirstLastPara="1" wrap="square" lIns="0" tIns="11425" rIns="0" bIns="0" anchor="t" anchorCtr="0">
            <a:spAutoFit/>
          </a:bodyPr>
          <a:lstStyle/>
          <a:p>
            <a:pPr marL="38100"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Yield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Rainfall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2 </a:t>
            </a:r>
            <a:r>
              <a:rPr lang="en-US" sz="1100">
                <a:latin typeface="Lucida Sans"/>
                <a:ea typeface="Lucida Sans"/>
                <a:cs typeface="Lucida Sans"/>
                <a:sym typeface="Lucida Sans"/>
              </a:rPr>
              <a:t>× </a:t>
            </a:r>
            <a:r>
              <a:rPr lang="en-US" sz="950">
                <a:latin typeface="Arial"/>
                <a:ea typeface="Arial"/>
                <a:cs typeface="Arial"/>
                <a:sym typeface="Arial"/>
              </a:rPr>
              <a:t>Fertilizer</a:t>
            </a:r>
            <a:endParaRPr sz="950">
              <a:latin typeface="Arial"/>
              <a:ea typeface="Arial"/>
              <a:cs typeface="Arial"/>
              <a:sym typeface="Arial"/>
            </a:endParaRPr>
          </a:p>
        </p:txBody>
      </p:sp>
      <p:sp>
        <p:nvSpPr>
          <p:cNvPr id="213" name="Google Shape;213;p14"/>
          <p:cNvSpPr txBox="1"/>
          <p:nvPr/>
        </p:nvSpPr>
        <p:spPr>
          <a:xfrm>
            <a:off x="483946" y="178933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sp>
        <p:nvSpPr>
          <p:cNvPr id="214" name="Google Shape;214;p14"/>
          <p:cNvSpPr txBox="1"/>
          <p:nvPr/>
        </p:nvSpPr>
        <p:spPr>
          <a:xfrm>
            <a:off x="644626" y="1752960"/>
            <a:ext cx="130175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Energy Consumption</a:t>
            </a:r>
            <a:endParaRPr sz="1050">
              <a:latin typeface="Arial"/>
              <a:ea typeface="Arial"/>
              <a:cs typeface="Arial"/>
              <a:sym typeface="Arial"/>
            </a:endParaRPr>
          </a:p>
        </p:txBody>
      </p:sp>
      <p:sp>
        <p:nvSpPr>
          <p:cNvPr id="215" name="Google Shape;215;p14"/>
          <p:cNvSpPr txBox="1"/>
          <p:nvPr/>
        </p:nvSpPr>
        <p:spPr>
          <a:xfrm>
            <a:off x="321894" y="1948445"/>
            <a:ext cx="4168775" cy="485140"/>
          </a:xfrm>
          <a:prstGeom prst="rect">
            <a:avLst/>
          </a:prstGeom>
          <a:noFill/>
          <a:ln>
            <a:noFill/>
          </a:ln>
        </p:spPr>
        <p:txBody>
          <a:bodyPr spcFirstLastPara="1" wrap="square" lIns="0" tIns="11425" rIns="0" bIns="0" anchor="t" anchorCtr="0">
            <a:spAutoFit/>
          </a:bodyPr>
          <a:lstStyle/>
          <a:p>
            <a:pPr marL="490219"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Energy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Temperature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2 </a:t>
            </a:r>
            <a:r>
              <a:rPr lang="en-US" sz="1100">
                <a:latin typeface="Lucida Sans"/>
                <a:ea typeface="Lucida Sans"/>
                <a:cs typeface="Lucida Sans"/>
                <a:sym typeface="Lucida Sans"/>
              </a:rPr>
              <a:t>× </a:t>
            </a:r>
            <a:r>
              <a:rPr lang="en-US" sz="950">
                <a:latin typeface="Arial"/>
                <a:ea typeface="Arial"/>
                <a:cs typeface="Arial"/>
                <a:sym typeface="Arial"/>
              </a:rPr>
              <a:t>Hour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3 </a:t>
            </a:r>
            <a:r>
              <a:rPr lang="en-US" sz="1100">
                <a:latin typeface="Lucida Sans"/>
                <a:ea typeface="Lucida Sans"/>
                <a:cs typeface="Lucida Sans"/>
                <a:sym typeface="Lucida Sans"/>
              </a:rPr>
              <a:t>× </a:t>
            </a:r>
            <a:r>
              <a:rPr lang="en-US" sz="950">
                <a:latin typeface="Arial"/>
                <a:ea typeface="Arial"/>
                <a:cs typeface="Arial"/>
                <a:sym typeface="Arial"/>
              </a:rPr>
              <a:t>Day</a:t>
            </a:r>
            <a:endParaRPr sz="950">
              <a:latin typeface="Arial"/>
              <a:ea typeface="Arial"/>
              <a:cs typeface="Arial"/>
              <a:sym typeface="Arial"/>
            </a:endParaRPr>
          </a:p>
          <a:p>
            <a:pPr marL="38100" lvl="0" indent="0" algn="l" rtl="0">
              <a:lnSpc>
                <a:spcPct val="100000"/>
              </a:lnSpc>
              <a:spcBef>
                <a:spcPts val="1040"/>
              </a:spcBef>
              <a:spcAft>
                <a:spcPts val="0"/>
              </a:spcAft>
              <a:buNone/>
            </a:pPr>
            <a:r>
              <a:rPr lang="en-US" sz="1050">
                <a:latin typeface="Arial"/>
                <a:ea typeface="Arial"/>
                <a:cs typeface="Arial"/>
                <a:sym typeface="Arial"/>
              </a:rPr>
              <a:t>The relationship between inputs and output is assumed to be </a:t>
            </a:r>
            <a:r>
              <a:rPr lang="en-US" sz="1050">
                <a:solidFill>
                  <a:srgbClr val="EC2027"/>
                </a:solidFill>
                <a:latin typeface="Arial"/>
                <a:ea typeface="Arial"/>
                <a:cs typeface="Arial"/>
                <a:sym typeface="Arial"/>
              </a:rPr>
              <a:t>linear</a:t>
            </a:r>
            <a:r>
              <a:rPr lang="en-US" sz="1050">
                <a:latin typeface="Arial"/>
                <a:ea typeface="Arial"/>
                <a:cs typeface="Arial"/>
                <a:sym typeface="Arial"/>
              </a:rPr>
              <a:t>.</a:t>
            </a:r>
            <a:endParaRPr sz="1050">
              <a:latin typeface="Arial"/>
              <a:ea typeface="Arial"/>
              <a:cs typeface="Arial"/>
              <a:sym typeface="Arial"/>
            </a:endParaRPr>
          </a:p>
        </p:txBody>
      </p:sp>
      <p:grpSp>
        <p:nvGrpSpPr>
          <p:cNvPr id="216" name="Google Shape;216;p14"/>
          <p:cNvGrpSpPr/>
          <p:nvPr/>
        </p:nvGrpSpPr>
        <p:grpSpPr>
          <a:xfrm>
            <a:off x="0" y="3109250"/>
            <a:ext cx="5760261" cy="92075"/>
            <a:chOff x="0" y="3109250"/>
            <a:chExt cx="5760261" cy="92075"/>
          </a:xfrm>
        </p:grpSpPr>
        <p:sp>
          <p:nvSpPr>
            <p:cNvPr id="217" name="Google Shape;217;p1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8" name="Google Shape;218;p1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9" name="Google Shape;219;p1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20" name="Google Shape;220;p1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21" name="Google Shape;221;p1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222" name="Google Shape;222;p1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8 / 46</a:t>
            </a:r>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5"/>
          <p:cNvSpPr txBox="1"/>
          <p:nvPr/>
        </p:nvSpPr>
        <p:spPr>
          <a:xfrm>
            <a:off x="95300" y="109545"/>
            <a:ext cx="439420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V</a:t>
            </a:r>
            <a:r>
              <a:rPr lang="en-US" sz="1700" cap="small">
                <a:solidFill>
                  <a:srgbClr val="FFFFFF"/>
                </a:solidFill>
                <a:latin typeface="Calibri"/>
                <a:ea typeface="Calibri"/>
                <a:cs typeface="Calibri"/>
                <a:sym typeface="Calibri"/>
              </a:rPr>
              <a:t>isual</a:t>
            </a:r>
            <a:r>
              <a:rPr lang="en-US" sz="1700">
                <a:solidFill>
                  <a:srgbClr val="FFFFFF"/>
                </a:solidFill>
                <a:latin typeface="Calibri"/>
                <a:ea typeface="Calibri"/>
                <a:cs typeface="Calibri"/>
                <a:sym typeface="Calibri"/>
              </a:rPr>
              <a:t> E</a:t>
            </a:r>
            <a:r>
              <a:rPr lang="en-US" sz="1700" cap="small">
                <a:solidFill>
                  <a:srgbClr val="FFFFFF"/>
                </a:solidFill>
                <a:latin typeface="Calibri"/>
                <a:ea typeface="Calibri"/>
                <a:cs typeface="Calibri"/>
                <a:sym typeface="Calibri"/>
              </a:rPr>
              <a:t>xample</a:t>
            </a:r>
            <a:r>
              <a:rPr lang="en-US" sz="1700">
                <a:solidFill>
                  <a:srgbClr val="FFFFFF"/>
                </a:solidFill>
                <a:latin typeface="Calibri"/>
                <a:ea typeface="Calibri"/>
                <a:cs typeface="Calibri"/>
                <a:sym typeface="Calibri"/>
              </a:rPr>
              <a:t>: 2D L</a:t>
            </a:r>
            <a:r>
              <a:rPr lang="en-US" sz="1700" cap="small">
                <a:solidFill>
                  <a:srgbClr val="FFFFFF"/>
                </a:solidFill>
                <a:latin typeface="Calibri"/>
                <a:ea typeface="Calibri"/>
                <a:cs typeface="Calibri"/>
                <a:sym typeface="Calibri"/>
              </a:rPr>
              <a:t>inear</a:t>
            </a:r>
            <a:r>
              <a:rPr lang="en-US" sz="1700">
                <a:solidFill>
                  <a:srgbClr val="FFFFFF"/>
                </a:solidFill>
                <a:latin typeface="Calibri"/>
                <a:ea typeface="Calibri"/>
                <a:cs typeface="Calibri"/>
                <a:sym typeface="Calibri"/>
              </a:rPr>
              <a:t> R</a:t>
            </a:r>
            <a:r>
              <a:rPr lang="en-US" sz="1700" cap="small">
                <a:solidFill>
                  <a:srgbClr val="FFFFFF"/>
                </a:solidFill>
                <a:latin typeface="Calibri"/>
                <a:ea typeface="Calibri"/>
                <a:cs typeface="Calibri"/>
                <a:sym typeface="Calibri"/>
              </a:rPr>
              <a:t>egression</a:t>
            </a:r>
            <a:endParaRPr sz="1700">
              <a:latin typeface="Calibri"/>
              <a:ea typeface="Calibri"/>
              <a:cs typeface="Calibri"/>
              <a:sym typeface="Calibri"/>
            </a:endParaRPr>
          </a:p>
        </p:txBody>
      </p:sp>
      <p:grpSp>
        <p:nvGrpSpPr>
          <p:cNvPr id="228" name="Google Shape;228;p15"/>
          <p:cNvGrpSpPr/>
          <p:nvPr/>
        </p:nvGrpSpPr>
        <p:grpSpPr>
          <a:xfrm>
            <a:off x="0" y="449040"/>
            <a:ext cx="5760261" cy="2752285"/>
            <a:chOff x="0" y="449040"/>
            <a:chExt cx="5760261" cy="2752285"/>
          </a:xfrm>
        </p:grpSpPr>
        <p:pic>
          <p:nvPicPr>
            <p:cNvPr id="229" name="Google Shape;229;p15"/>
            <p:cNvPicPr preferRelativeResize="0"/>
            <p:nvPr/>
          </p:nvPicPr>
          <p:blipFill rotWithShape="1">
            <a:blip r:embed="rId3">
              <a:alphaModFix/>
            </a:blip>
            <a:srcRect/>
            <a:stretch/>
          </p:blipFill>
          <p:spPr>
            <a:xfrm>
              <a:off x="612012" y="449040"/>
              <a:ext cx="4536172" cy="2684798"/>
            </a:xfrm>
            <a:prstGeom prst="rect">
              <a:avLst/>
            </a:prstGeom>
            <a:noFill/>
            <a:ln>
              <a:noFill/>
            </a:ln>
          </p:spPr>
        </p:pic>
        <p:sp>
          <p:nvSpPr>
            <p:cNvPr id="230" name="Google Shape;230;p1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1" name="Google Shape;231;p1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2" name="Google Shape;232;p1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3" name="Google Shape;233;p1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34" name="Google Shape;234;p1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235" name="Google Shape;235;p1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9 / 46</a:t>
            </a:r>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241" name="Google Shape;241;p16"/>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242" name="Google Shape;242;p16"/>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243" name="Google Shape;243;p16"/>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244" name="Google Shape;244;p16"/>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245" name="Google Shape;245;p16"/>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246" name="Google Shape;246;p16"/>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3</a:t>
            </a:r>
            <a:endParaRPr sz="800">
              <a:latin typeface="Calibri"/>
              <a:ea typeface="Calibri"/>
              <a:cs typeface="Calibri"/>
              <a:sym typeface="Calibri"/>
            </a:endParaRPr>
          </a:p>
        </p:txBody>
      </p:sp>
      <p:pic>
        <p:nvPicPr>
          <p:cNvPr id="247" name="Google Shape;247;p16"/>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248" name="Google Shape;248;p16"/>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249" name="Google Shape;249;p16"/>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250" name="Google Shape;250;p16"/>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251" name="Google Shape;251;p16"/>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252" name="Google Shape;252;p16"/>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253" name="Google Shape;253;p16"/>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254" name="Google Shape;254;p16"/>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255" name="Google Shape;255;p16"/>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256" name="Google Shape;256;p16"/>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257" name="Google Shape;257;p16"/>
          <p:cNvSpPr txBox="1"/>
          <p:nvPr/>
        </p:nvSpPr>
        <p:spPr>
          <a:xfrm>
            <a:off x="563029" y="556604"/>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258" name="Google Shape;258;p16"/>
          <p:cNvGrpSpPr/>
          <p:nvPr/>
        </p:nvGrpSpPr>
        <p:grpSpPr>
          <a:xfrm>
            <a:off x="0" y="3109250"/>
            <a:ext cx="5760261" cy="92075"/>
            <a:chOff x="0" y="3109250"/>
            <a:chExt cx="5760261" cy="92075"/>
          </a:xfrm>
        </p:grpSpPr>
        <p:sp>
          <p:nvSpPr>
            <p:cNvPr id="259" name="Google Shape;259;p1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0" name="Google Shape;260;p1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1" name="Google Shape;261;p1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62" name="Google Shape;262;p1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63" name="Google Shape;263;p1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264" name="Google Shape;264;p1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10 / 46</a:t>
            </a:r>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F</a:t>
            </a:r>
            <a:r>
              <a:rPr lang="en-US" cap="small">
                <a:solidFill>
                  <a:srgbClr val="FFFFFF"/>
                </a:solidFill>
              </a:rPr>
              <a:t>our</a:t>
            </a:r>
            <a:r>
              <a:rPr lang="en-US">
                <a:solidFill>
                  <a:srgbClr val="FFFFFF"/>
                </a:solidFill>
              </a:rPr>
              <a:t> C</a:t>
            </a:r>
            <a:r>
              <a:rPr lang="en-US" cap="small">
                <a:solidFill>
                  <a:srgbClr val="FFFFFF"/>
                </a:solidFill>
              </a:rPr>
              <a:t>omponents</a:t>
            </a:r>
            <a:endParaRPr/>
          </a:p>
        </p:txBody>
      </p:sp>
      <p:sp>
        <p:nvSpPr>
          <p:cNvPr id="270" name="Google Shape;270;p17"/>
          <p:cNvSpPr txBox="1"/>
          <p:nvPr/>
        </p:nvSpPr>
        <p:spPr>
          <a:xfrm>
            <a:off x="347294" y="1045418"/>
            <a:ext cx="298323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 complete machine learning system consists of:</a:t>
            </a:r>
            <a:endParaRPr sz="1050">
              <a:latin typeface="Arial"/>
              <a:ea typeface="Arial"/>
              <a:cs typeface="Arial"/>
              <a:sym typeface="Arial"/>
            </a:endParaRPr>
          </a:p>
        </p:txBody>
      </p:sp>
      <p:pic>
        <p:nvPicPr>
          <p:cNvPr id="271" name="Google Shape;271;p17"/>
          <p:cNvPicPr preferRelativeResize="0"/>
          <p:nvPr/>
        </p:nvPicPr>
        <p:blipFill rotWithShape="1">
          <a:blip r:embed="rId3">
            <a:alphaModFix/>
          </a:blip>
          <a:srcRect/>
          <a:stretch/>
        </p:blipFill>
        <p:spPr>
          <a:xfrm>
            <a:off x="456996" y="1385074"/>
            <a:ext cx="121259" cy="121259"/>
          </a:xfrm>
          <a:prstGeom prst="rect">
            <a:avLst/>
          </a:prstGeom>
          <a:noFill/>
          <a:ln>
            <a:noFill/>
          </a:ln>
        </p:spPr>
      </p:pic>
      <p:sp>
        <p:nvSpPr>
          <p:cNvPr id="272" name="Google Shape;272;p17"/>
          <p:cNvSpPr txBox="1"/>
          <p:nvPr/>
        </p:nvSpPr>
        <p:spPr>
          <a:xfrm>
            <a:off x="483946" y="1375224"/>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pic>
        <p:nvPicPr>
          <p:cNvPr id="273" name="Google Shape;273;p17"/>
          <p:cNvPicPr preferRelativeResize="0"/>
          <p:nvPr/>
        </p:nvPicPr>
        <p:blipFill rotWithShape="1">
          <a:blip r:embed="rId4">
            <a:alphaModFix/>
          </a:blip>
          <a:srcRect/>
          <a:stretch/>
        </p:blipFill>
        <p:spPr>
          <a:xfrm>
            <a:off x="456996" y="1606486"/>
            <a:ext cx="121259" cy="121259"/>
          </a:xfrm>
          <a:prstGeom prst="rect">
            <a:avLst/>
          </a:prstGeom>
          <a:noFill/>
          <a:ln>
            <a:noFill/>
          </a:ln>
        </p:spPr>
      </p:pic>
      <p:sp>
        <p:nvSpPr>
          <p:cNvPr id="274" name="Google Shape;274;p17"/>
          <p:cNvSpPr txBox="1"/>
          <p:nvPr/>
        </p:nvSpPr>
        <p:spPr>
          <a:xfrm>
            <a:off x="483946" y="1596636"/>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pic>
        <p:nvPicPr>
          <p:cNvPr id="275" name="Google Shape;275;p17"/>
          <p:cNvPicPr preferRelativeResize="0"/>
          <p:nvPr/>
        </p:nvPicPr>
        <p:blipFill rotWithShape="1">
          <a:blip r:embed="rId5">
            <a:alphaModFix/>
          </a:blip>
          <a:srcRect/>
          <a:stretch/>
        </p:blipFill>
        <p:spPr>
          <a:xfrm>
            <a:off x="456996" y="1827910"/>
            <a:ext cx="121259" cy="121259"/>
          </a:xfrm>
          <a:prstGeom prst="rect">
            <a:avLst/>
          </a:prstGeom>
          <a:noFill/>
          <a:ln>
            <a:noFill/>
          </a:ln>
        </p:spPr>
      </p:pic>
      <p:sp>
        <p:nvSpPr>
          <p:cNvPr id="276" name="Google Shape;276;p17"/>
          <p:cNvSpPr txBox="1"/>
          <p:nvPr/>
        </p:nvSpPr>
        <p:spPr>
          <a:xfrm>
            <a:off x="483946" y="181806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pic>
        <p:nvPicPr>
          <p:cNvPr id="277" name="Google Shape;277;p17"/>
          <p:cNvPicPr preferRelativeResize="0"/>
          <p:nvPr/>
        </p:nvPicPr>
        <p:blipFill rotWithShape="1">
          <a:blip r:embed="rId6">
            <a:alphaModFix/>
          </a:blip>
          <a:srcRect/>
          <a:stretch/>
        </p:blipFill>
        <p:spPr>
          <a:xfrm>
            <a:off x="456996" y="2049335"/>
            <a:ext cx="121259" cy="121259"/>
          </a:xfrm>
          <a:prstGeom prst="rect">
            <a:avLst/>
          </a:prstGeom>
          <a:noFill/>
          <a:ln>
            <a:noFill/>
          </a:ln>
        </p:spPr>
      </p:pic>
      <p:sp>
        <p:nvSpPr>
          <p:cNvPr id="278" name="Google Shape;278;p17"/>
          <p:cNvSpPr txBox="1"/>
          <p:nvPr/>
        </p:nvSpPr>
        <p:spPr>
          <a:xfrm>
            <a:off x="483946" y="2039472"/>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4</a:t>
            </a:r>
            <a:endParaRPr sz="600">
              <a:latin typeface="Calibri"/>
              <a:ea typeface="Calibri"/>
              <a:cs typeface="Calibri"/>
              <a:sym typeface="Calibri"/>
            </a:endParaRPr>
          </a:p>
        </p:txBody>
      </p:sp>
      <p:sp>
        <p:nvSpPr>
          <p:cNvPr id="279" name="Google Shape;279;p17"/>
          <p:cNvSpPr txBox="1"/>
          <p:nvPr/>
        </p:nvSpPr>
        <p:spPr>
          <a:xfrm>
            <a:off x="644626" y="1337713"/>
            <a:ext cx="3498900" cy="906300"/>
          </a:xfrm>
          <a:prstGeom prst="rect">
            <a:avLst/>
          </a:prstGeom>
          <a:noFill/>
          <a:ln>
            <a:noFill/>
          </a:ln>
        </p:spPr>
        <p:txBody>
          <a:bodyPr spcFirstLastPara="1" wrap="square" lIns="0" tIns="12050" rIns="0" bIns="0" anchor="t" anchorCtr="0">
            <a:spAutoFit/>
          </a:bodyPr>
          <a:lstStyle/>
          <a:p>
            <a:pPr marL="12700" marR="291465" lvl="0" indent="0" algn="l" rtl="0">
              <a:lnSpc>
                <a:spcPct val="138400"/>
              </a:lnSpc>
              <a:spcBef>
                <a:spcPts val="0"/>
              </a:spcBef>
              <a:spcAft>
                <a:spcPts val="0"/>
              </a:spcAft>
              <a:buNone/>
            </a:pPr>
            <a:r>
              <a:rPr lang="en-US" sz="1050">
                <a:solidFill>
                  <a:srgbClr val="1B1472"/>
                </a:solidFill>
                <a:latin typeface="Arial"/>
                <a:ea typeface="Arial"/>
                <a:cs typeface="Arial"/>
                <a:sym typeface="Arial"/>
              </a:rPr>
              <a:t>Data: </a:t>
            </a:r>
            <a:r>
              <a:rPr lang="en-US" sz="1050" i="1">
                <a:latin typeface="Arial"/>
                <a:ea typeface="Arial"/>
                <a:cs typeface="Arial"/>
                <a:sym typeface="Arial"/>
              </a:rPr>
              <a:t>d </a:t>
            </a:r>
            <a:r>
              <a:rPr lang="en-US" sz="1050">
                <a:latin typeface="Arial"/>
                <a:ea typeface="Arial"/>
                <a:cs typeface="Arial"/>
                <a:sym typeface="Arial"/>
              </a:rPr>
              <a:t>-dimensional input vectors and target outputs </a:t>
            </a:r>
            <a:r>
              <a:rPr lang="en-US" sz="1050">
                <a:solidFill>
                  <a:srgbClr val="1B1472"/>
                </a:solidFill>
                <a:latin typeface="Arial"/>
                <a:ea typeface="Arial"/>
                <a:cs typeface="Arial"/>
                <a:sym typeface="Arial"/>
              </a:rPr>
              <a:t>Model: </a:t>
            </a:r>
            <a:r>
              <a:rPr lang="en-US" sz="1050">
                <a:latin typeface="Arial"/>
                <a:ea typeface="Arial"/>
                <a:cs typeface="Arial"/>
                <a:sym typeface="Arial"/>
              </a:rPr>
              <a:t>Single neuron implementing linear function </a:t>
            </a:r>
            <a:r>
              <a:rPr lang="en-US" sz="1050">
                <a:solidFill>
                  <a:srgbClr val="1B1472"/>
                </a:solidFill>
                <a:latin typeface="Arial"/>
                <a:ea typeface="Arial"/>
                <a:cs typeface="Arial"/>
                <a:sym typeface="Arial"/>
              </a:rPr>
              <a:t>Objective Function: </a:t>
            </a:r>
            <a:r>
              <a:rPr lang="en-US" sz="1050">
                <a:latin typeface="Arial"/>
                <a:ea typeface="Arial"/>
                <a:cs typeface="Arial"/>
                <a:sym typeface="Arial"/>
              </a:rPr>
              <a:t>Measures prediction error</a:t>
            </a:r>
            <a:endParaRPr sz="1050">
              <a:latin typeface="Arial"/>
              <a:ea typeface="Arial"/>
              <a:cs typeface="Arial"/>
              <a:sym typeface="Arial"/>
            </a:endParaRPr>
          </a:p>
          <a:p>
            <a:pPr marL="12700" lvl="0" indent="0" algn="l" rtl="0">
              <a:lnSpc>
                <a:spcPct val="100000"/>
              </a:lnSpc>
              <a:spcBef>
                <a:spcPts val="480"/>
              </a:spcBef>
              <a:spcAft>
                <a:spcPts val="0"/>
              </a:spcAft>
              <a:buNone/>
            </a:pPr>
            <a:r>
              <a:rPr lang="en-US" sz="1050">
                <a:solidFill>
                  <a:srgbClr val="1B1472"/>
                </a:solidFill>
                <a:latin typeface="Arial"/>
                <a:ea typeface="Arial"/>
                <a:cs typeface="Arial"/>
                <a:sym typeface="Arial"/>
              </a:rPr>
              <a:t>Learning Algorithm: </a:t>
            </a:r>
            <a:r>
              <a:rPr lang="en-US" sz="1050">
                <a:latin typeface="Arial"/>
                <a:ea typeface="Arial"/>
                <a:cs typeface="Arial"/>
                <a:sym typeface="Arial"/>
              </a:rPr>
              <a:t>Gradient descent to optimize weights</a:t>
            </a:r>
            <a:endParaRPr sz="1050">
              <a:latin typeface="Arial"/>
              <a:ea typeface="Arial"/>
              <a:cs typeface="Arial"/>
              <a:sym typeface="Arial"/>
            </a:endParaRPr>
          </a:p>
        </p:txBody>
      </p:sp>
      <p:grpSp>
        <p:nvGrpSpPr>
          <p:cNvPr id="280" name="Google Shape;280;p17"/>
          <p:cNvGrpSpPr/>
          <p:nvPr/>
        </p:nvGrpSpPr>
        <p:grpSpPr>
          <a:xfrm>
            <a:off x="0" y="3141936"/>
            <a:ext cx="5760261" cy="92075"/>
            <a:chOff x="0" y="3141936"/>
            <a:chExt cx="5760261" cy="92075"/>
          </a:xfrm>
        </p:grpSpPr>
        <p:sp>
          <p:nvSpPr>
            <p:cNvPr id="281" name="Google Shape;281;p17"/>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2" name="Google Shape;282;p17"/>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3" name="Google Shape;283;p17"/>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84" name="Google Shape;284;p1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85" name="Google Shape;285;p1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286" name="Google Shape;286;p1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11 / 46</a:t>
            </a:r>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atrix</a:t>
            </a:r>
            <a:r>
              <a:rPr lang="en-US">
                <a:solidFill>
                  <a:srgbClr val="FFFFFF"/>
                </a:solidFill>
              </a:rPr>
              <a:t> F</a:t>
            </a:r>
            <a:r>
              <a:rPr lang="en-US" cap="small">
                <a:solidFill>
                  <a:srgbClr val="FFFFFF"/>
                </a:solidFill>
              </a:rPr>
              <a:t>orm</a:t>
            </a:r>
            <a:r>
              <a:rPr lang="en-US">
                <a:solidFill>
                  <a:srgbClr val="FFFFFF"/>
                </a:solidFill>
              </a:rPr>
              <a:t> </a:t>
            </a:r>
            <a:r>
              <a:rPr lang="en-US" cap="small">
                <a:solidFill>
                  <a:srgbClr val="FFFFFF"/>
                </a:solidFill>
              </a:rPr>
              <a:t>of</a:t>
            </a:r>
            <a:r>
              <a:rPr lang="en-US">
                <a:solidFill>
                  <a:srgbClr val="FFFFFF"/>
                </a:solidFill>
              </a:rPr>
              <a:t> D</a:t>
            </a:r>
            <a:r>
              <a:rPr lang="en-US" cap="small">
                <a:solidFill>
                  <a:srgbClr val="FFFFFF"/>
                </a:solidFill>
              </a:rPr>
              <a:t>ata</a:t>
            </a:r>
            <a:endParaRPr/>
          </a:p>
        </p:txBody>
      </p:sp>
      <p:grpSp>
        <p:nvGrpSpPr>
          <p:cNvPr id="292" name="Google Shape;292;p18"/>
          <p:cNvGrpSpPr/>
          <p:nvPr/>
        </p:nvGrpSpPr>
        <p:grpSpPr>
          <a:xfrm>
            <a:off x="0" y="3141936"/>
            <a:ext cx="5760261" cy="92075"/>
            <a:chOff x="0" y="3141936"/>
            <a:chExt cx="5760261" cy="92075"/>
          </a:xfrm>
        </p:grpSpPr>
        <p:sp>
          <p:nvSpPr>
            <p:cNvPr id="293" name="Google Shape;293;p1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4" name="Google Shape;294;p1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5" name="Google Shape;295;p1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96" name="Google Shape;296;p1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97" name="Google Shape;297;p1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298" name="Google Shape;298;p1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12</a:t>
            </a:fld>
            <a:r>
              <a:rPr lang="en-US"/>
              <a:t> / 46</a:t>
            </a:r>
            <a:endParaRPr/>
          </a:p>
        </p:txBody>
      </p:sp>
      <p:pic>
        <p:nvPicPr>
          <p:cNvPr id="299" name="Google Shape;299;p18"/>
          <p:cNvPicPr preferRelativeResize="0"/>
          <p:nvPr/>
        </p:nvPicPr>
        <p:blipFill>
          <a:blip r:embed="rId4">
            <a:alphaModFix/>
          </a:blip>
          <a:stretch>
            <a:fillRect/>
          </a:stretch>
        </p:blipFill>
        <p:spPr>
          <a:xfrm>
            <a:off x="152400" y="550235"/>
            <a:ext cx="5146496" cy="2435036"/>
          </a:xfrm>
          <a:prstGeom prst="rect">
            <a:avLst/>
          </a:prstGeom>
          <a:noFill/>
          <a:ln>
            <a:noFill/>
          </a:ln>
        </p:spPr>
      </p:pic>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a:t>
            </a:r>
            <a:r>
              <a:rPr lang="en-US">
                <a:solidFill>
                  <a:srgbClr val="FFFFFF"/>
                </a:solidFill>
              </a:rPr>
              <a:t> </a:t>
            </a:r>
            <a:r>
              <a:rPr lang="en-US" cap="small">
                <a:solidFill>
                  <a:srgbClr val="FFFFFF"/>
                </a:solidFill>
              </a:rPr>
              <a:t>as</a:t>
            </a:r>
            <a:r>
              <a:rPr lang="en-US">
                <a:solidFill>
                  <a:srgbClr val="FFFFFF"/>
                </a:solidFill>
              </a:rPr>
              <a:t> </a:t>
            </a:r>
            <a:r>
              <a:rPr lang="en-US" cap="small">
                <a:solidFill>
                  <a:srgbClr val="FFFFFF"/>
                </a:solidFill>
              </a:rPr>
              <a:t>a</a:t>
            </a:r>
            <a:r>
              <a:rPr lang="en-US">
                <a:solidFill>
                  <a:srgbClr val="FFFFFF"/>
                </a:solidFill>
              </a:rPr>
              <a:t> S</a:t>
            </a:r>
            <a:r>
              <a:rPr lang="en-US" cap="small">
                <a:solidFill>
                  <a:srgbClr val="FFFFFF"/>
                </a:solidFill>
              </a:rPr>
              <a:t>ingle</a:t>
            </a:r>
            <a:r>
              <a:rPr lang="en-US">
                <a:solidFill>
                  <a:srgbClr val="FFFFFF"/>
                </a:solidFill>
              </a:rPr>
              <a:t> N</a:t>
            </a:r>
            <a:r>
              <a:rPr lang="en-US" cap="small">
                <a:solidFill>
                  <a:srgbClr val="FFFFFF"/>
                </a:solidFill>
              </a:rPr>
              <a:t>euron</a:t>
            </a:r>
            <a:endParaRPr/>
          </a:p>
        </p:txBody>
      </p:sp>
      <p:sp>
        <p:nvSpPr>
          <p:cNvPr id="305" name="Google Shape;305;p19"/>
          <p:cNvSpPr txBox="1"/>
          <p:nvPr/>
        </p:nvSpPr>
        <p:spPr>
          <a:xfrm>
            <a:off x="347294" y="561357"/>
            <a:ext cx="314325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Model linear regression as a </a:t>
            </a:r>
            <a:r>
              <a:rPr lang="en-US" sz="1050">
                <a:solidFill>
                  <a:srgbClr val="1B1472"/>
                </a:solidFill>
                <a:latin typeface="Arial"/>
                <a:ea typeface="Arial"/>
                <a:cs typeface="Arial"/>
                <a:sym typeface="Arial"/>
              </a:rPr>
              <a:t>single artificial neuron</a:t>
            </a:r>
            <a:r>
              <a:rPr lang="en-US" sz="1050">
                <a:latin typeface="Arial"/>
                <a:ea typeface="Arial"/>
                <a:cs typeface="Arial"/>
                <a:sym typeface="Arial"/>
              </a:rPr>
              <a:t>:</a:t>
            </a:r>
            <a:endParaRPr sz="1050">
              <a:latin typeface="Arial"/>
              <a:ea typeface="Arial"/>
              <a:cs typeface="Arial"/>
              <a:sym typeface="Arial"/>
            </a:endParaRPr>
          </a:p>
        </p:txBody>
      </p:sp>
      <p:grpSp>
        <p:nvGrpSpPr>
          <p:cNvPr id="306" name="Google Shape;306;p19"/>
          <p:cNvGrpSpPr/>
          <p:nvPr/>
        </p:nvGrpSpPr>
        <p:grpSpPr>
          <a:xfrm>
            <a:off x="1875469" y="1226320"/>
            <a:ext cx="284480" cy="572485"/>
            <a:chOff x="1875469" y="1226320"/>
            <a:chExt cx="284480" cy="572485"/>
          </a:xfrm>
        </p:grpSpPr>
        <p:sp>
          <p:nvSpPr>
            <p:cNvPr id="307" name="Google Shape;307;p19"/>
            <p:cNvSpPr/>
            <p:nvPr/>
          </p:nvSpPr>
          <p:spPr>
            <a:xfrm>
              <a:off x="1875469" y="1226320"/>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lnTo>
                    <a:pt x="276839" y="97144"/>
                  </a:lnTo>
                  <a:lnTo>
                    <a:pt x="256675" y="58152"/>
                  </a:lnTo>
                  <a:lnTo>
                    <a:pt x="225927"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8" name="Google Shape;308;p19"/>
            <p:cNvSpPr/>
            <p:nvPr/>
          </p:nvSpPr>
          <p:spPr>
            <a:xfrm>
              <a:off x="1875469" y="1226320"/>
              <a:ext cx="284480" cy="284480"/>
            </a:xfrm>
            <a:custGeom>
              <a:avLst/>
              <a:gdLst/>
              <a:ahLst/>
              <a:cxnLst/>
              <a:rect l="l" t="t" r="r" b="b"/>
              <a:pathLst>
                <a:path w="284480" h="284480" extrusionOk="0">
                  <a:moveTo>
                    <a:pt x="284080" y="142040"/>
                  </a:moveTo>
                  <a:lnTo>
                    <a:pt x="276839" y="97144"/>
                  </a:lnTo>
                  <a:lnTo>
                    <a:pt x="256675" y="58152"/>
                  </a:lnTo>
                  <a:lnTo>
                    <a:pt x="225927" y="27405"/>
                  </a:lnTo>
                  <a:lnTo>
                    <a:pt x="186936" y="7241"/>
                  </a:lnTo>
                  <a:lnTo>
                    <a:pt x="142040" y="0"/>
                  </a:ln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 name="Google Shape;309;p19"/>
            <p:cNvSpPr/>
            <p:nvPr/>
          </p:nvSpPr>
          <p:spPr>
            <a:xfrm>
              <a:off x="1875469" y="1514325"/>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lnTo>
                    <a:pt x="276839" y="97144"/>
                  </a:lnTo>
                  <a:lnTo>
                    <a:pt x="256675" y="58152"/>
                  </a:lnTo>
                  <a:lnTo>
                    <a:pt x="225927"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 name="Google Shape;310;p19"/>
            <p:cNvSpPr/>
            <p:nvPr/>
          </p:nvSpPr>
          <p:spPr>
            <a:xfrm>
              <a:off x="1875469" y="1514325"/>
              <a:ext cx="284480" cy="284480"/>
            </a:xfrm>
            <a:custGeom>
              <a:avLst/>
              <a:gdLst/>
              <a:ahLst/>
              <a:cxnLst/>
              <a:rect l="l" t="t" r="r" b="b"/>
              <a:pathLst>
                <a:path w="284480" h="284480" extrusionOk="0">
                  <a:moveTo>
                    <a:pt x="284080" y="142040"/>
                  </a:moveTo>
                  <a:lnTo>
                    <a:pt x="276839" y="97144"/>
                  </a:lnTo>
                  <a:lnTo>
                    <a:pt x="256675" y="58152"/>
                  </a:lnTo>
                  <a:lnTo>
                    <a:pt x="225927" y="27405"/>
                  </a:lnTo>
                  <a:lnTo>
                    <a:pt x="186936" y="7241"/>
                  </a:lnTo>
                  <a:lnTo>
                    <a:pt x="142040" y="0"/>
                  </a:ln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1" name="Google Shape;311;p19"/>
          <p:cNvSpPr txBox="1"/>
          <p:nvPr/>
        </p:nvSpPr>
        <p:spPr>
          <a:xfrm>
            <a:off x="1942160" y="1531205"/>
            <a:ext cx="9398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x</a:t>
            </a:r>
            <a:endParaRPr sz="1050">
              <a:latin typeface="Arial"/>
              <a:ea typeface="Arial"/>
              <a:cs typeface="Arial"/>
              <a:sym typeface="Arial"/>
            </a:endParaRPr>
          </a:p>
        </p:txBody>
      </p:sp>
      <p:sp>
        <p:nvSpPr>
          <p:cNvPr id="312" name="Google Shape;312;p19"/>
          <p:cNvSpPr txBox="1"/>
          <p:nvPr/>
        </p:nvSpPr>
        <p:spPr>
          <a:xfrm>
            <a:off x="2010486" y="1599525"/>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2</a:t>
            </a:r>
            <a:endParaRPr sz="700">
              <a:latin typeface="Arial"/>
              <a:ea typeface="Arial"/>
              <a:cs typeface="Arial"/>
              <a:sym typeface="Arial"/>
            </a:endParaRPr>
          </a:p>
        </p:txBody>
      </p:sp>
      <p:sp>
        <p:nvSpPr>
          <p:cNvPr id="313" name="Google Shape;313;p19"/>
          <p:cNvSpPr txBox="1"/>
          <p:nvPr/>
        </p:nvSpPr>
        <p:spPr>
          <a:xfrm>
            <a:off x="1985822" y="1753824"/>
            <a:ext cx="635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t>
            </a:r>
            <a:endParaRPr sz="1050">
              <a:latin typeface="Arial"/>
              <a:ea typeface="Arial"/>
              <a:cs typeface="Arial"/>
              <a:sym typeface="Arial"/>
            </a:endParaRPr>
          </a:p>
        </p:txBody>
      </p:sp>
      <p:grpSp>
        <p:nvGrpSpPr>
          <p:cNvPr id="314" name="Google Shape;314;p19"/>
          <p:cNvGrpSpPr/>
          <p:nvPr/>
        </p:nvGrpSpPr>
        <p:grpSpPr>
          <a:xfrm>
            <a:off x="1871230" y="1942093"/>
            <a:ext cx="292735" cy="292735"/>
            <a:chOff x="1871230" y="1942093"/>
            <a:chExt cx="292735" cy="292735"/>
          </a:xfrm>
        </p:grpSpPr>
        <p:sp>
          <p:nvSpPr>
            <p:cNvPr id="315" name="Google Shape;315;p19"/>
            <p:cNvSpPr/>
            <p:nvPr/>
          </p:nvSpPr>
          <p:spPr>
            <a:xfrm>
              <a:off x="1871230" y="1942093"/>
              <a:ext cx="292735" cy="292735"/>
            </a:xfrm>
            <a:custGeom>
              <a:avLst/>
              <a:gdLst/>
              <a:ahLst/>
              <a:cxnLst/>
              <a:rect l="l" t="t" r="r" b="b"/>
              <a:pathLst>
                <a:path w="292735" h="292735" extrusionOk="0">
                  <a:moveTo>
                    <a:pt x="146278" y="0"/>
                  </a:moveTo>
                  <a:lnTo>
                    <a:pt x="100042" y="7457"/>
                  </a:lnTo>
                  <a:lnTo>
                    <a:pt x="59887" y="28222"/>
                  </a:lnTo>
                  <a:lnTo>
                    <a:pt x="28223" y="59887"/>
                  </a:lnTo>
                  <a:lnTo>
                    <a:pt x="7457" y="100042"/>
                  </a:lnTo>
                  <a:lnTo>
                    <a:pt x="0" y="146278"/>
                  </a:lnTo>
                  <a:lnTo>
                    <a:pt x="7457" y="192514"/>
                  </a:lnTo>
                  <a:lnTo>
                    <a:pt x="28223" y="232669"/>
                  </a:lnTo>
                  <a:lnTo>
                    <a:pt x="59887" y="264333"/>
                  </a:lnTo>
                  <a:lnTo>
                    <a:pt x="100042" y="285099"/>
                  </a:lnTo>
                  <a:lnTo>
                    <a:pt x="146278" y="292556"/>
                  </a:lnTo>
                  <a:lnTo>
                    <a:pt x="192514" y="285099"/>
                  </a:lnTo>
                  <a:lnTo>
                    <a:pt x="232669" y="264333"/>
                  </a:lnTo>
                  <a:lnTo>
                    <a:pt x="264333" y="232669"/>
                  </a:lnTo>
                  <a:lnTo>
                    <a:pt x="285099" y="192514"/>
                  </a:lnTo>
                  <a:lnTo>
                    <a:pt x="292556" y="146278"/>
                  </a:lnTo>
                  <a:lnTo>
                    <a:pt x="285099" y="100042"/>
                  </a:lnTo>
                  <a:lnTo>
                    <a:pt x="264333" y="59887"/>
                  </a:lnTo>
                  <a:lnTo>
                    <a:pt x="232669" y="28222"/>
                  </a:lnTo>
                  <a:lnTo>
                    <a:pt x="192514" y="7457"/>
                  </a:lnTo>
                  <a:lnTo>
                    <a:pt x="146278"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6" name="Google Shape;316;p19"/>
            <p:cNvSpPr/>
            <p:nvPr/>
          </p:nvSpPr>
          <p:spPr>
            <a:xfrm>
              <a:off x="1871230" y="1942093"/>
              <a:ext cx="292735" cy="292735"/>
            </a:xfrm>
            <a:custGeom>
              <a:avLst/>
              <a:gdLst/>
              <a:ahLst/>
              <a:cxnLst/>
              <a:rect l="l" t="t" r="r" b="b"/>
              <a:pathLst>
                <a:path w="292735" h="292735" extrusionOk="0">
                  <a:moveTo>
                    <a:pt x="292556" y="146278"/>
                  </a:moveTo>
                  <a:lnTo>
                    <a:pt x="285099" y="100042"/>
                  </a:lnTo>
                  <a:lnTo>
                    <a:pt x="264333" y="59887"/>
                  </a:lnTo>
                  <a:lnTo>
                    <a:pt x="232669" y="28222"/>
                  </a:lnTo>
                  <a:lnTo>
                    <a:pt x="192514" y="7457"/>
                  </a:lnTo>
                  <a:lnTo>
                    <a:pt x="146278" y="0"/>
                  </a:lnTo>
                  <a:lnTo>
                    <a:pt x="100042" y="7457"/>
                  </a:lnTo>
                  <a:lnTo>
                    <a:pt x="59887" y="28222"/>
                  </a:lnTo>
                  <a:lnTo>
                    <a:pt x="28223" y="59887"/>
                  </a:lnTo>
                  <a:lnTo>
                    <a:pt x="7457" y="100042"/>
                  </a:lnTo>
                  <a:lnTo>
                    <a:pt x="0" y="146278"/>
                  </a:lnTo>
                  <a:lnTo>
                    <a:pt x="7457" y="192514"/>
                  </a:lnTo>
                  <a:lnTo>
                    <a:pt x="28223" y="232669"/>
                  </a:lnTo>
                  <a:lnTo>
                    <a:pt x="59887" y="264333"/>
                  </a:lnTo>
                  <a:lnTo>
                    <a:pt x="100042" y="285099"/>
                  </a:lnTo>
                  <a:lnTo>
                    <a:pt x="146278" y="292556"/>
                  </a:lnTo>
                  <a:lnTo>
                    <a:pt x="192514" y="285099"/>
                  </a:lnTo>
                  <a:lnTo>
                    <a:pt x="232669" y="264333"/>
                  </a:lnTo>
                  <a:lnTo>
                    <a:pt x="264333" y="232669"/>
                  </a:lnTo>
                  <a:lnTo>
                    <a:pt x="285099" y="192514"/>
                  </a:lnTo>
                  <a:lnTo>
                    <a:pt x="292556" y="14627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7" name="Google Shape;317;p19"/>
          <p:cNvSpPr txBox="1"/>
          <p:nvPr/>
        </p:nvSpPr>
        <p:spPr>
          <a:xfrm>
            <a:off x="1906133" y="1710561"/>
            <a:ext cx="195600" cy="370200"/>
          </a:xfrm>
          <a:prstGeom prst="rect">
            <a:avLst/>
          </a:prstGeom>
          <a:noFill/>
          <a:ln>
            <a:noFill/>
          </a:ln>
        </p:spPr>
        <p:txBody>
          <a:bodyPr spcFirstLastPara="1" wrap="square" lIns="0" tIns="15875" rIns="0" bIns="0" anchor="t" anchorCtr="0">
            <a:spAutoFit/>
          </a:bodyPr>
          <a:lstStyle/>
          <a:p>
            <a:pPr marL="14604" lvl="0" indent="0" algn="ctr" rtl="0">
              <a:lnSpc>
                <a:spcPct val="119047"/>
              </a:lnSpc>
              <a:spcBef>
                <a:spcPts val="0"/>
              </a:spcBef>
              <a:spcAft>
                <a:spcPts val="0"/>
              </a:spcAft>
              <a:buNone/>
            </a:pPr>
            <a:r>
              <a:rPr lang="en-US" sz="1050">
                <a:latin typeface="Arial"/>
                <a:ea typeface="Arial"/>
                <a:cs typeface="Arial"/>
                <a:sym typeface="Arial"/>
              </a:rPr>
              <a:t>.</a:t>
            </a:r>
            <a:endParaRPr sz="1050">
              <a:latin typeface="Arial"/>
              <a:ea typeface="Arial"/>
              <a:cs typeface="Arial"/>
              <a:sym typeface="Arial"/>
            </a:endParaRPr>
          </a:p>
          <a:p>
            <a:pPr marL="0" lvl="0" indent="0" algn="ctr" rtl="0">
              <a:lnSpc>
                <a:spcPct val="119047"/>
              </a:lnSpc>
              <a:spcBef>
                <a:spcPts val="0"/>
              </a:spcBef>
              <a:spcAft>
                <a:spcPts val="0"/>
              </a:spcAft>
              <a:buNone/>
            </a:pPr>
            <a:r>
              <a:rPr lang="en-US" sz="1050" i="1">
                <a:latin typeface="Arial"/>
                <a:ea typeface="Arial"/>
                <a:cs typeface="Arial"/>
                <a:sym typeface="Arial"/>
              </a:rPr>
              <a:t>x</a:t>
            </a:r>
            <a:r>
              <a:rPr lang="en-US" sz="1050" i="1" baseline="-25000">
                <a:latin typeface="Arial"/>
                <a:ea typeface="Arial"/>
                <a:cs typeface="Arial"/>
                <a:sym typeface="Arial"/>
              </a:rPr>
              <a:t>d</a:t>
            </a:r>
            <a:endParaRPr sz="1050" baseline="-25000">
              <a:latin typeface="Arial"/>
              <a:ea typeface="Arial"/>
              <a:cs typeface="Arial"/>
              <a:sym typeface="Arial"/>
            </a:endParaRPr>
          </a:p>
        </p:txBody>
      </p:sp>
      <p:grpSp>
        <p:nvGrpSpPr>
          <p:cNvPr id="318" name="Google Shape;318;p19"/>
          <p:cNvGrpSpPr/>
          <p:nvPr/>
        </p:nvGrpSpPr>
        <p:grpSpPr>
          <a:xfrm>
            <a:off x="1891952" y="954798"/>
            <a:ext cx="251460" cy="251460"/>
            <a:chOff x="1891952" y="954798"/>
            <a:chExt cx="251460" cy="251460"/>
          </a:xfrm>
        </p:grpSpPr>
        <p:pic>
          <p:nvPicPr>
            <p:cNvPr id="319" name="Google Shape;319;p19"/>
            <p:cNvPicPr preferRelativeResize="0"/>
            <p:nvPr/>
          </p:nvPicPr>
          <p:blipFill rotWithShape="1">
            <a:blip r:embed="rId3">
              <a:alphaModFix/>
            </a:blip>
            <a:srcRect/>
            <a:stretch/>
          </p:blipFill>
          <p:spPr>
            <a:xfrm>
              <a:off x="1891952" y="954798"/>
              <a:ext cx="251114" cy="251114"/>
            </a:xfrm>
            <a:prstGeom prst="rect">
              <a:avLst/>
            </a:prstGeom>
            <a:noFill/>
            <a:ln>
              <a:noFill/>
            </a:ln>
          </p:spPr>
        </p:pic>
        <p:sp>
          <p:nvSpPr>
            <p:cNvPr id="320" name="Google Shape;320;p19"/>
            <p:cNvSpPr/>
            <p:nvPr/>
          </p:nvSpPr>
          <p:spPr>
            <a:xfrm>
              <a:off x="1891952" y="954798"/>
              <a:ext cx="251460" cy="251460"/>
            </a:xfrm>
            <a:custGeom>
              <a:avLst/>
              <a:gdLst/>
              <a:ahLst/>
              <a:cxnLst/>
              <a:rect l="l" t="t" r="r" b="b"/>
              <a:pathLst>
                <a:path w="251460" h="251459" extrusionOk="0">
                  <a:moveTo>
                    <a:pt x="251114" y="125557"/>
                  </a:moveTo>
                  <a:lnTo>
                    <a:pt x="241247" y="76684"/>
                  </a:lnTo>
                  <a:lnTo>
                    <a:pt x="214339" y="36774"/>
                  </a:lnTo>
                  <a:lnTo>
                    <a:pt x="174429" y="9866"/>
                  </a:lnTo>
                  <a:lnTo>
                    <a:pt x="125557" y="0"/>
                  </a:lnTo>
                  <a:lnTo>
                    <a:pt x="76684" y="9866"/>
                  </a:lnTo>
                  <a:lnTo>
                    <a:pt x="36774" y="36774"/>
                  </a:lnTo>
                  <a:lnTo>
                    <a:pt x="9866" y="76684"/>
                  </a:lnTo>
                  <a:lnTo>
                    <a:pt x="0" y="125557"/>
                  </a:lnTo>
                  <a:lnTo>
                    <a:pt x="9866" y="174429"/>
                  </a:lnTo>
                  <a:lnTo>
                    <a:pt x="36774" y="214339"/>
                  </a:lnTo>
                  <a:lnTo>
                    <a:pt x="76684" y="241247"/>
                  </a:lnTo>
                  <a:lnTo>
                    <a:pt x="125557" y="251114"/>
                  </a:lnTo>
                  <a:lnTo>
                    <a:pt x="174429" y="241247"/>
                  </a:lnTo>
                  <a:lnTo>
                    <a:pt x="214339" y="214339"/>
                  </a:lnTo>
                  <a:lnTo>
                    <a:pt x="241247" y="174429"/>
                  </a:lnTo>
                  <a:lnTo>
                    <a:pt x="251114" y="12555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1" name="Google Shape;321;p19"/>
          <p:cNvSpPr txBox="1"/>
          <p:nvPr/>
        </p:nvSpPr>
        <p:spPr>
          <a:xfrm>
            <a:off x="1916760" y="979162"/>
            <a:ext cx="195580" cy="454025"/>
          </a:xfrm>
          <a:prstGeom prst="rect">
            <a:avLst/>
          </a:prstGeom>
          <a:noFill/>
          <a:ln>
            <a:noFill/>
          </a:ln>
        </p:spPr>
        <p:txBody>
          <a:bodyPr spcFirstLastPara="1" wrap="square" lIns="0" tIns="15875" rIns="0" bIns="0" anchor="t" anchorCtr="0">
            <a:spAutoFit/>
          </a:bodyPr>
          <a:lstStyle/>
          <a:p>
            <a:pPr marL="62230" lvl="0" indent="0" algn="l" rtl="0">
              <a:lnSpc>
                <a:spcPct val="100000"/>
              </a:lnSpc>
              <a:spcBef>
                <a:spcPts val="0"/>
              </a:spcBef>
              <a:spcAft>
                <a:spcPts val="0"/>
              </a:spcAft>
              <a:buNone/>
            </a:pPr>
            <a:r>
              <a:rPr lang="en-US" sz="1050">
                <a:latin typeface="Arial"/>
                <a:ea typeface="Arial"/>
                <a:cs typeface="Arial"/>
                <a:sym typeface="Arial"/>
              </a:rPr>
              <a:t>1</a:t>
            </a:r>
            <a:endParaRPr sz="1050">
              <a:latin typeface="Arial"/>
              <a:ea typeface="Arial"/>
              <a:cs typeface="Arial"/>
              <a:sym typeface="Arial"/>
            </a:endParaRPr>
          </a:p>
          <a:p>
            <a:pPr marL="38100" lvl="0" indent="0" algn="l" rtl="0">
              <a:lnSpc>
                <a:spcPct val="100000"/>
              </a:lnSpc>
              <a:spcBef>
                <a:spcPts val="82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322" name="Google Shape;322;p19"/>
          <p:cNvGrpSpPr/>
          <p:nvPr/>
        </p:nvGrpSpPr>
        <p:grpSpPr>
          <a:xfrm>
            <a:off x="2701520" y="1404362"/>
            <a:ext cx="360045" cy="360045"/>
            <a:chOff x="2701520" y="1404362"/>
            <a:chExt cx="360045" cy="360045"/>
          </a:xfrm>
        </p:grpSpPr>
        <p:sp>
          <p:nvSpPr>
            <p:cNvPr id="323" name="Google Shape;323;p19"/>
            <p:cNvSpPr/>
            <p:nvPr/>
          </p:nvSpPr>
          <p:spPr>
            <a:xfrm>
              <a:off x="2701520" y="1404362"/>
              <a:ext cx="360045" cy="360045"/>
            </a:xfrm>
            <a:custGeom>
              <a:avLst/>
              <a:gdLst/>
              <a:ahLst/>
              <a:cxnLst/>
              <a:rect l="l" t="t" r="r" b="b"/>
              <a:pathLst>
                <a:path w="360044" h="360044" extrusionOk="0">
                  <a:moveTo>
                    <a:pt x="180002" y="0"/>
                  </a:moveTo>
                  <a:lnTo>
                    <a:pt x="132150" y="6429"/>
                  </a:lnTo>
                  <a:lnTo>
                    <a:pt x="89151" y="24575"/>
                  </a:lnTo>
                  <a:lnTo>
                    <a:pt x="52720" y="52721"/>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lnTo>
                    <a:pt x="353574" y="132150"/>
                  </a:lnTo>
                  <a:lnTo>
                    <a:pt x="335428" y="89151"/>
                  </a:lnTo>
                  <a:lnTo>
                    <a:pt x="307283" y="52721"/>
                  </a:lnTo>
                  <a:lnTo>
                    <a:pt x="270853" y="24575"/>
                  </a:lnTo>
                  <a:lnTo>
                    <a:pt x="227854" y="6429"/>
                  </a:lnTo>
                  <a:lnTo>
                    <a:pt x="180002" y="0"/>
                  </a:lnTo>
                  <a:close/>
                </a:path>
              </a:pathLst>
            </a:custGeom>
            <a:solidFill>
              <a:srgbClr val="4681B4"/>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4" name="Google Shape;324;p19"/>
            <p:cNvSpPr/>
            <p:nvPr/>
          </p:nvSpPr>
          <p:spPr>
            <a:xfrm>
              <a:off x="2701520" y="1404362"/>
              <a:ext cx="360045" cy="360045"/>
            </a:xfrm>
            <a:custGeom>
              <a:avLst/>
              <a:gdLst/>
              <a:ahLst/>
              <a:cxnLst/>
              <a:rect l="l" t="t" r="r" b="b"/>
              <a:pathLst>
                <a:path w="360044" h="360044" extrusionOk="0">
                  <a:moveTo>
                    <a:pt x="360004" y="180002"/>
                  </a:moveTo>
                  <a:lnTo>
                    <a:pt x="353574" y="132150"/>
                  </a:lnTo>
                  <a:lnTo>
                    <a:pt x="335428" y="89151"/>
                  </a:lnTo>
                  <a:lnTo>
                    <a:pt x="307283" y="52721"/>
                  </a:lnTo>
                  <a:lnTo>
                    <a:pt x="270853" y="24575"/>
                  </a:lnTo>
                  <a:lnTo>
                    <a:pt x="227854" y="6429"/>
                  </a:lnTo>
                  <a:lnTo>
                    <a:pt x="180002" y="0"/>
                  </a:lnTo>
                  <a:lnTo>
                    <a:pt x="132150" y="6429"/>
                  </a:lnTo>
                  <a:lnTo>
                    <a:pt x="89151" y="24575"/>
                  </a:lnTo>
                  <a:lnTo>
                    <a:pt x="52720" y="52721"/>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5" name="Google Shape;325;p19"/>
          <p:cNvSpPr txBox="1"/>
          <p:nvPr/>
        </p:nvSpPr>
        <p:spPr>
          <a:xfrm>
            <a:off x="2815132" y="1472562"/>
            <a:ext cx="13335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a:latin typeface="Tahoma"/>
                <a:ea typeface="Tahoma"/>
                <a:cs typeface="Tahoma"/>
                <a:sym typeface="Tahoma"/>
              </a:rPr>
              <a:t>Σ</a:t>
            </a:r>
            <a:endParaRPr sz="1200">
              <a:latin typeface="Tahoma"/>
              <a:ea typeface="Tahoma"/>
              <a:cs typeface="Tahoma"/>
              <a:sym typeface="Tahoma"/>
            </a:endParaRPr>
          </a:p>
        </p:txBody>
      </p:sp>
      <p:grpSp>
        <p:nvGrpSpPr>
          <p:cNvPr id="326" name="Google Shape;326;p19"/>
          <p:cNvGrpSpPr/>
          <p:nvPr/>
        </p:nvGrpSpPr>
        <p:grpSpPr>
          <a:xfrm>
            <a:off x="3602295" y="1441122"/>
            <a:ext cx="287020" cy="287020"/>
            <a:chOff x="3602295" y="1441122"/>
            <a:chExt cx="287020" cy="287020"/>
          </a:xfrm>
        </p:grpSpPr>
        <p:sp>
          <p:nvSpPr>
            <p:cNvPr id="327" name="Google Shape;327;p19"/>
            <p:cNvSpPr/>
            <p:nvPr/>
          </p:nvSpPr>
          <p:spPr>
            <a:xfrm>
              <a:off x="3602295" y="1441122"/>
              <a:ext cx="287020" cy="287020"/>
            </a:xfrm>
            <a:custGeom>
              <a:avLst/>
              <a:gdLst/>
              <a:ahLst/>
              <a:cxnLst/>
              <a:rect l="l" t="t" r="r" b="b"/>
              <a:pathLst>
                <a:path w="287020" h="287019" extrusionOk="0">
                  <a:moveTo>
                    <a:pt x="143242" y="0"/>
                  </a:moveTo>
                  <a:lnTo>
                    <a:pt x="97966" y="7302"/>
                  </a:lnTo>
                  <a:lnTo>
                    <a:pt x="58644" y="27637"/>
                  </a:lnTo>
                  <a:lnTo>
                    <a:pt x="27637" y="58644"/>
                  </a:lnTo>
                  <a:lnTo>
                    <a:pt x="7302" y="97966"/>
                  </a:lnTo>
                  <a:lnTo>
                    <a:pt x="0" y="143242"/>
                  </a:lnTo>
                  <a:lnTo>
                    <a:pt x="7302" y="188517"/>
                  </a:lnTo>
                  <a:lnTo>
                    <a:pt x="27637" y="227839"/>
                  </a:lnTo>
                  <a:lnTo>
                    <a:pt x="58644" y="258846"/>
                  </a:lnTo>
                  <a:lnTo>
                    <a:pt x="97966" y="279181"/>
                  </a:lnTo>
                  <a:lnTo>
                    <a:pt x="143242" y="286484"/>
                  </a:lnTo>
                  <a:lnTo>
                    <a:pt x="188517" y="279181"/>
                  </a:lnTo>
                  <a:lnTo>
                    <a:pt x="227839" y="258846"/>
                  </a:lnTo>
                  <a:lnTo>
                    <a:pt x="258846" y="227839"/>
                  </a:lnTo>
                  <a:lnTo>
                    <a:pt x="279181" y="188517"/>
                  </a:lnTo>
                  <a:lnTo>
                    <a:pt x="286483" y="143242"/>
                  </a:lnTo>
                  <a:lnTo>
                    <a:pt x="279181" y="97966"/>
                  </a:lnTo>
                  <a:lnTo>
                    <a:pt x="258846" y="58644"/>
                  </a:lnTo>
                  <a:lnTo>
                    <a:pt x="227839" y="27637"/>
                  </a:lnTo>
                  <a:lnTo>
                    <a:pt x="188517" y="7302"/>
                  </a:lnTo>
                  <a:lnTo>
                    <a:pt x="143242" y="0"/>
                  </a:lnTo>
                  <a:close/>
                </a:path>
              </a:pathLst>
            </a:custGeom>
            <a:solidFill>
              <a:srgbClr val="B3FFB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8" name="Google Shape;328;p19"/>
            <p:cNvSpPr/>
            <p:nvPr/>
          </p:nvSpPr>
          <p:spPr>
            <a:xfrm>
              <a:off x="3602295" y="1441122"/>
              <a:ext cx="287020" cy="287020"/>
            </a:xfrm>
            <a:custGeom>
              <a:avLst/>
              <a:gdLst/>
              <a:ahLst/>
              <a:cxnLst/>
              <a:rect l="l" t="t" r="r" b="b"/>
              <a:pathLst>
                <a:path w="287020" h="287019" extrusionOk="0">
                  <a:moveTo>
                    <a:pt x="286483" y="143242"/>
                  </a:moveTo>
                  <a:lnTo>
                    <a:pt x="279181" y="97966"/>
                  </a:lnTo>
                  <a:lnTo>
                    <a:pt x="258846" y="58644"/>
                  </a:lnTo>
                  <a:lnTo>
                    <a:pt x="227839" y="27637"/>
                  </a:lnTo>
                  <a:lnTo>
                    <a:pt x="188517" y="7302"/>
                  </a:lnTo>
                  <a:lnTo>
                    <a:pt x="143242" y="0"/>
                  </a:lnTo>
                  <a:lnTo>
                    <a:pt x="97966" y="7302"/>
                  </a:lnTo>
                  <a:lnTo>
                    <a:pt x="58644" y="27637"/>
                  </a:lnTo>
                  <a:lnTo>
                    <a:pt x="27637" y="58644"/>
                  </a:lnTo>
                  <a:lnTo>
                    <a:pt x="7302" y="97966"/>
                  </a:lnTo>
                  <a:lnTo>
                    <a:pt x="0" y="143242"/>
                  </a:lnTo>
                  <a:lnTo>
                    <a:pt x="7302" y="188517"/>
                  </a:lnTo>
                  <a:lnTo>
                    <a:pt x="27637" y="227839"/>
                  </a:lnTo>
                  <a:lnTo>
                    <a:pt x="58644" y="258846"/>
                  </a:lnTo>
                  <a:lnTo>
                    <a:pt x="97966" y="279181"/>
                  </a:lnTo>
                  <a:lnTo>
                    <a:pt x="143242" y="286484"/>
                  </a:lnTo>
                  <a:lnTo>
                    <a:pt x="188517" y="279181"/>
                  </a:lnTo>
                  <a:lnTo>
                    <a:pt x="227839" y="258846"/>
                  </a:lnTo>
                  <a:lnTo>
                    <a:pt x="258846" y="227839"/>
                  </a:lnTo>
                  <a:lnTo>
                    <a:pt x="279181" y="188517"/>
                  </a:lnTo>
                  <a:lnTo>
                    <a:pt x="286483" y="14324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9" name="Google Shape;329;p19"/>
          <p:cNvSpPr txBox="1"/>
          <p:nvPr/>
        </p:nvSpPr>
        <p:spPr>
          <a:xfrm>
            <a:off x="3691826" y="1459760"/>
            <a:ext cx="10350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a:t>
            </a:r>
            <a:endParaRPr sz="1800" baseline="30000">
              <a:latin typeface="Tahoma"/>
              <a:ea typeface="Tahoma"/>
              <a:cs typeface="Tahoma"/>
              <a:sym typeface="Tahoma"/>
            </a:endParaRPr>
          </a:p>
        </p:txBody>
      </p:sp>
      <p:grpSp>
        <p:nvGrpSpPr>
          <p:cNvPr id="330" name="Google Shape;330;p19"/>
          <p:cNvGrpSpPr/>
          <p:nvPr/>
        </p:nvGrpSpPr>
        <p:grpSpPr>
          <a:xfrm>
            <a:off x="2128152" y="1144844"/>
            <a:ext cx="593636" cy="499524"/>
            <a:chOff x="2128152" y="1144844"/>
            <a:chExt cx="593636" cy="499524"/>
          </a:xfrm>
        </p:grpSpPr>
        <p:sp>
          <p:nvSpPr>
            <p:cNvPr id="331" name="Google Shape;331;p19"/>
            <p:cNvSpPr/>
            <p:nvPr/>
          </p:nvSpPr>
          <p:spPr>
            <a:xfrm>
              <a:off x="2128152" y="1144844"/>
              <a:ext cx="591820" cy="345440"/>
            </a:xfrm>
            <a:custGeom>
              <a:avLst/>
              <a:gdLst/>
              <a:ahLst/>
              <a:cxnLst/>
              <a:rect l="l" t="t" r="r" b="b"/>
              <a:pathLst>
                <a:path w="591819" h="345440" extrusionOk="0">
                  <a:moveTo>
                    <a:pt x="0" y="0"/>
                  </a:moveTo>
                  <a:lnTo>
                    <a:pt x="591380" y="34496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2" name="Google Shape;332;p19"/>
            <p:cNvSpPr/>
            <p:nvPr/>
          </p:nvSpPr>
          <p:spPr>
            <a:xfrm>
              <a:off x="2683688" y="1451601"/>
              <a:ext cx="38100" cy="52705"/>
            </a:xfrm>
            <a:custGeom>
              <a:avLst/>
              <a:gdLst/>
              <a:ahLst/>
              <a:cxnLst/>
              <a:rect l="l" t="t" r="r" b="b"/>
              <a:pathLst>
                <a:path w="38100" h="52705" extrusionOk="0">
                  <a:moveTo>
                    <a:pt x="30600" y="0"/>
                  </a:moveTo>
                  <a:lnTo>
                    <a:pt x="28580" y="12636"/>
                  </a:lnTo>
                  <a:lnTo>
                    <a:pt x="29603" y="23367"/>
                  </a:lnTo>
                  <a:lnTo>
                    <a:pt x="32982" y="32286"/>
                  </a:lnTo>
                  <a:lnTo>
                    <a:pt x="38031" y="39488"/>
                  </a:lnTo>
                  <a:lnTo>
                    <a:pt x="29277" y="38638"/>
                  </a:lnTo>
                  <a:lnTo>
                    <a:pt x="19849" y="40087"/>
                  </a:lnTo>
                  <a:lnTo>
                    <a:pt x="10005" y="44478"/>
                  </a:lnTo>
                  <a:lnTo>
                    <a:pt x="0" y="5245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3" name="Google Shape;333;p19"/>
            <p:cNvSpPr/>
            <p:nvPr/>
          </p:nvSpPr>
          <p:spPr>
            <a:xfrm>
              <a:off x="2157772" y="1403385"/>
              <a:ext cx="542290" cy="135890"/>
            </a:xfrm>
            <a:custGeom>
              <a:avLst/>
              <a:gdLst/>
              <a:ahLst/>
              <a:cxnLst/>
              <a:rect l="l" t="t" r="r" b="b"/>
              <a:pathLst>
                <a:path w="542289" h="135890" extrusionOk="0">
                  <a:moveTo>
                    <a:pt x="0" y="0"/>
                  </a:moveTo>
                  <a:lnTo>
                    <a:pt x="541797" y="13545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4" name="Google Shape;334;p19"/>
            <p:cNvSpPr/>
            <p:nvPr/>
          </p:nvSpPr>
          <p:spPr>
            <a:xfrm>
              <a:off x="2669129" y="1503617"/>
              <a:ext cx="33020" cy="59055"/>
            </a:xfrm>
            <a:custGeom>
              <a:avLst/>
              <a:gdLst/>
              <a:ahLst/>
              <a:cxnLst/>
              <a:rect l="l" t="t" r="r" b="b"/>
              <a:pathLst>
                <a:path w="33019" h="59055" extrusionOk="0">
                  <a:moveTo>
                    <a:pt x="14728" y="0"/>
                  </a:moveTo>
                  <a:lnTo>
                    <a:pt x="16319" y="12697"/>
                  </a:lnTo>
                  <a:lnTo>
                    <a:pt x="20299" y="22715"/>
                  </a:lnTo>
                  <a:lnTo>
                    <a:pt x="26035" y="30336"/>
                  </a:lnTo>
                  <a:lnTo>
                    <a:pt x="32895" y="35841"/>
                  </a:lnTo>
                  <a:lnTo>
                    <a:pt x="24252" y="37470"/>
                  </a:lnTo>
                  <a:lnTo>
                    <a:pt x="15604" y="41495"/>
                  </a:lnTo>
                  <a:lnTo>
                    <a:pt x="7378" y="48462"/>
                  </a:lnTo>
                  <a:lnTo>
                    <a:pt x="0" y="589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5" name="Google Shape;335;p19"/>
            <p:cNvSpPr/>
            <p:nvPr/>
          </p:nvSpPr>
          <p:spPr>
            <a:xfrm>
              <a:off x="2161580" y="1599918"/>
              <a:ext cx="533400" cy="44450"/>
            </a:xfrm>
            <a:custGeom>
              <a:avLst/>
              <a:gdLst/>
              <a:ahLst/>
              <a:cxnLst/>
              <a:rect l="l" t="t" r="r" b="b"/>
              <a:pathLst>
                <a:path w="533400" h="44450" extrusionOk="0">
                  <a:moveTo>
                    <a:pt x="0" y="44424"/>
                  </a:moveTo>
                  <a:lnTo>
                    <a:pt x="53304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9"/>
            <p:cNvSpPr/>
            <p:nvPr/>
          </p:nvSpPr>
          <p:spPr>
            <a:xfrm>
              <a:off x="2668398" y="1571634"/>
              <a:ext cx="29209" cy="60960"/>
            </a:xfrm>
            <a:custGeom>
              <a:avLst/>
              <a:gdLst/>
              <a:ahLst/>
              <a:cxnLst/>
              <a:rect l="l" t="t" r="r" b="b"/>
              <a:pathLst>
                <a:path w="29210" h="60960" extrusionOk="0">
                  <a:moveTo>
                    <a:pt x="0" y="0"/>
                  </a:moveTo>
                  <a:lnTo>
                    <a:pt x="5597" y="11507"/>
                  </a:lnTo>
                  <a:lnTo>
                    <a:pt x="12593" y="19708"/>
                  </a:lnTo>
                  <a:lnTo>
                    <a:pt x="20479" y="25073"/>
                  </a:lnTo>
                  <a:lnTo>
                    <a:pt x="28746" y="28074"/>
                  </a:lnTo>
                  <a:lnTo>
                    <a:pt x="21090" y="32401"/>
                  </a:lnTo>
                  <a:lnTo>
                    <a:pt x="14200" y="38998"/>
                  </a:lnTo>
                  <a:lnTo>
                    <a:pt x="8658" y="48244"/>
                  </a:lnTo>
                  <a:lnTo>
                    <a:pt x="5043" y="6051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37" name="Google Shape;337;p19"/>
          <p:cNvSpPr txBox="1"/>
          <p:nvPr/>
        </p:nvSpPr>
        <p:spPr>
          <a:xfrm>
            <a:off x="2310117" y="1096916"/>
            <a:ext cx="231140" cy="494665"/>
          </a:xfrm>
          <a:prstGeom prst="rect">
            <a:avLst/>
          </a:prstGeom>
          <a:noFill/>
          <a:ln>
            <a:noFill/>
          </a:ln>
        </p:spPr>
        <p:txBody>
          <a:bodyPr spcFirstLastPara="1" wrap="square" lIns="0" tIns="23475" rIns="0" bIns="0" anchor="t" anchorCtr="0">
            <a:spAutoFit/>
          </a:bodyPr>
          <a:lstStyle/>
          <a:p>
            <a:pPr marL="42545" marR="30480" lvl="0" indent="-5079" algn="just" rtl="0">
              <a:lnSpc>
                <a:spcPct val="95200"/>
              </a:lnSpc>
              <a:spcBef>
                <a:spcPts val="0"/>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0 </a:t>
            </a:r>
            <a:r>
              <a:rPr lang="en-US" sz="1050" i="1">
                <a:latin typeface="Arial"/>
                <a:ea typeface="Arial"/>
                <a:cs typeface="Arial"/>
                <a:sym typeface="Arial"/>
              </a:rPr>
              <a:t>w</a:t>
            </a:r>
            <a:r>
              <a:rPr lang="en-US" sz="1050" baseline="-25000">
                <a:latin typeface="Arial"/>
                <a:ea typeface="Arial"/>
                <a:cs typeface="Arial"/>
                <a:sym typeface="Arial"/>
              </a:rPr>
              <a:t>1 </a:t>
            </a:r>
            <a:r>
              <a:rPr lang="en-US" sz="1050" i="1">
                <a:latin typeface="Arial"/>
                <a:ea typeface="Arial"/>
                <a:cs typeface="Arial"/>
                <a:sym typeface="Arial"/>
              </a:rPr>
              <a:t>w</a:t>
            </a:r>
            <a:r>
              <a:rPr lang="en-US" sz="1050" baseline="-25000">
                <a:latin typeface="Arial"/>
                <a:ea typeface="Arial"/>
                <a:cs typeface="Arial"/>
                <a:sym typeface="Arial"/>
              </a:rPr>
              <a:t>2</a:t>
            </a:r>
            <a:endParaRPr sz="1050" baseline="-25000">
              <a:latin typeface="Arial"/>
              <a:ea typeface="Arial"/>
              <a:cs typeface="Arial"/>
              <a:sym typeface="Arial"/>
            </a:endParaRPr>
          </a:p>
        </p:txBody>
      </p:sp>
      <p:grpSp>
        <p:nvGrpSpPr>
          <p:cNvPr id="338" name="Google Shape;338;p19"/>
          <p:cNvGrpSpPr/>
          <p:nvPr/>
        </p:nvGrpSpPr>
        <p:grpSpPr>
          <a:xfrm>
            <a:off x="2146047" y="1664627"/>
            <a:ext cx="575738" cy="348888"/>
            <a:chOff x="2146047" y="1664627"/>
            <a:chExt cx="575738" cy="348888"/>
          </a:xfrm>
        </p:grpSpPr>
        <p:sp>
          <p:nvSpPr>
            <p:cNvPr id="339" name="Google Shape;339;p19"/>
            <p:cNvSpPr/>
            <p:nvPr/>
          </p:nvSpPr>
          <p:spPr>
            <a:xfrm>
              <a:off x="2146047" y="1678870"/>
              <a:ext cx="574040" cy="334645"/>
            </a:xfrm>
            <a:custGeom>
              <a:avLst/>
              <a:gdLst/>
              <a:ahLst/>
              <a:cxnLst/>
              <a:rect l="l" t="t" r="r" b="b"/>
              <a:pathLst>
                <a:path w="574039" h="334644" extrusionOk="0">
                  <a:moveTo>
                    <a:pt x="0" y="334530"/>
                  </a:moveTo>
                  <a:lnTo>
                    <a:pt x="573482"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0" name="Google Shape;340;p19"/>
            <p:cNvSpPr/>
            <p:nvPr/>
          </p:nvSpPr>
          <p:spPr>
            <a:xfrm>
              <a:off x="2683685" y="1664627"/>
              <a:ext cx="38100" cy="52705"/>
            </a:xfrm>
            <a:custGeom>
              <a:avLst/>
              <a:gdLst/>
              <a:ahLst/>
              <a:cxnLst/>
              <a:rect l="l" t="t" r="r" b="b"/>
              <a:pathLst>
                <a:path w="38100" h="52705" extrusionOk="0">
                  <a:moveTo>
                    <a:pt x="0" y="0"/>
                  </a:moveTo>
                  <a:lnTo>
                    <a:pt x="10005" y="7978"/>
                  </a:lnTo>
                  <a:lnTo>
                    <a:pt x="19849" y="12369"/>
                  </a:lnTo>
                  <a:lnTo>
                    <a:pt x="29277" y="13818"/>
                  </a:lnTo>
                  <a:lnTo>
                    <a:pt x="38031" y="12968"/>
                  </a:lnTo>
                  <a:lnTo>
                    <a:pt x="32982" y="20170"/>
                  </a:lnTo>
                  <a:lnTo>
                    <a:pt x="29603" y="29089"/>
                  </a:lnTo>
                  <a:lnTo>
                    <a:pt x="28580" y="39820"/>
                  </a:lnTo>
                  <a:lnTo>
                    <a:pt x="30600" y="5245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1" name="Google Shape;341;p19"/>
          <p:cNvSpPr txBox="1"/>
          <p:nvPr/>
        </p:nvSpPr>
        <p:spPr>
          <a:xfrm>
            <a:off x="2314689" y="1814720"/>
            <a:ext cx="22606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w</a:t>
            </a:r>
            <a:r>
              <a:rPr lang="en-US" sz="1050" i="1" baseline="-25000">
                <a:latin typeface="Arial"/>
                <a:ea typeface="Arial"/>
                <a:cs typeface="Arial"/>
                <a:sym typeface="Arial"/>
              </a:rPr>
              <a:t>d</a:t>
            </a:r>
            <a:endParaRPr sz="1050" baseline="-25000">
              <a:latin typeface="Arial"/>
              <a:ea typeface="Arial"/>
              <a:cs typeface="Arial"/>
              <a:sym typeface="Arial"/>
            </a:endParaRPr>
          </a:p>
        </p:txBody>
      </p:sp>
      <p:grpSp>
        <p:nvGrpSpPr>
          <p:cNvPr id="342" name="Google Shape;342;p19"/>
          <p:cNvGrpSpPr/>
          <p:nvPr/>
        </p:nvGrpSpPr>
        <p:grpSpPr>
          <a:xfrm>
            <a:off x="3064107" y="1553977"/>
            <a:ext cx="533565" cy="60960"/>
            <a:chOff x="3064107" y="1553977"/>
            <a:chExt cx="533565" cy="60960"/>
          </a:xfrm>
        </p:grpSpPr>
        <p:sp>
          <p:nvSpPr>
            <p:cNvPr id="343" name="Google Shape;343;p19"/>
            <p:cNvSpPr/>
            <p:nvPr/>
          </p:nvSpPr>
          <p:spPr>
            <a:xfrm>
              <a:off x="3064107" y="1584342"/>
              <a:ext cx="530860" cy="0"/>
            </a:xfrm>
            <a:custGeom>
              <a:avLst/>
              <a:gdLst/>
              <a:ahLst/>
              <a:cxnLst/>
              <a:rect l="l" t="t" r="r" b="b"/>
              <a:pathLst>
                <a:path w="530860" h="120000" extrusionOk="0">
                  <a:moveTo>
                    <a:pt x="0" y="0"/>
                  </a:moveTo>
                  <a:lnTo>
                    <a:pt x="53068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4" name="Google Shape;344;p19"/>
            <p:cNvSpPr/>
            <p:nvPr/>
          </p:nvSpPr>
          <p:spPr>
            <a:xfrm>
              <a:off x="3571002" y="1553977"/>
              <a:ext cx="26670" cy="60960"/>
            </a:xfrm>
            <a:custGeom>
              <a:avLst/>
              <a:gdLst/>
              <a:ahLst/>
              <a:cxnLst/>
              <a:rect l="l" t="t" r="r" b="b"/>
              <a:pathLst>
                <a:path w="26670" h="60959"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5" name="Google Shape;345;p19"/>
          <p:cNvSpPr txBox="1"/>
          <p:nvPr/>
        </p:nvSpPr>
        <p:spPr>
          <a:xfrm>
            <a:off x="3290849" y="1386933"/>
            <a:ext cx="635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f</a:t>
            </a:r>
            <a:endParaRPr sz="1050">
              <a:latin typeface="Arial"/>
              <a:ea typeface="Arial"/>
              <a:cs typeface="Arial"/>
              <a:sym typeface="Arial"/>
            </a:endParaRPr>
          </a:p>
        </p:txBody>
      </p:sp>
      <p:grpSp>
        <p:nvGrpSpPr>
          <p:cNvPr id="346" name="Google Shape;346;p19"/>
          <p:cNvGrpSpPr/>
          <p:nvPr/>
        </p:nvGrpSpPr>
        <p:grpSpPr>
          <a:xfrm>
            <a:off x="0" y="3141936"/>
            <a:ext cx="5760261" cy="92075"/>
            <a:chOff x="0" y="3141936"/>
            <a:chExt cx="5760261" cy="92075"/>
          </a:xfrm>
        </p:grpSpPr>
        <p:sp>
          <p:nvSpPr>
            <p:cNvPr id="347" name="Google Shape;347;p19"/>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8" name="Google Shape;348;p19"/>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9" name="Google Shape;349;p19"/>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50" name="Google Shape;350;p1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51" name="Google Shape;351;p1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352" name="Google Shape;352;p1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13</a:t>
            </a:fld>
            <a:r>
              <a:rPr lang="en-US"/>
              <a:t> / 46</a:t>
            </a:r>
            <a:endParaRPr/>
          </a:p>
        </p:txBody>
      </p:sp>
      <p:pic>
        <p:nvPicPr>
          <p:cNvPr id="353" name="Google Shape;353;p19"/>
          <p:cNvPicPr preferRelativeResize="0"/>
          <p:nvPr/>
        </p:nvPicPr>
        <p:blipFill>
          <a:blip r:embed="rId5">
            <a:alphaModFix/>
          </a:blip>
          <a:stretch>
            <a:fillRect/>
          </a:stretch>
        </p:blipFill>
        <p:spPr>
          <a:xfrm>
            <a:off x="519425" y="2568580"/>
            <a:ext cx="2222953" cy="478225"/>
          </a:xfrm>
          <a:prstGeom prst="rect">
            <a:avLst/>
          </a:prstGeom>
          <a:noFill/>
          <a:ln>
            <a:noFill/>
          </a:ln>
        </p:spPr>
      </p:pic>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a:t>
            </a:r>
            <a:r>
              <a:rPr lang="en-US">
                <a:solidFill>
                  <a:srgbClr val="FFFFFF"/>
                </a:solidFill>
              </a:rPr>
              <a:t> P</a:t>
            </a:r>
            <a:r>
              <a:rPr lang="en-US" cap="small">
                <a:solidFill>
                  <a:srgbClr val="FFFFFF"/>
                </a:solidFill>
              </a:rPr>
              <a:t>rediction</a:t>
            </a:r>
            <a:endParaRPr/>
          </a:p>
        </p:txBody>
      </p:sp>
      <p:sp>
        <p:nvSpPr>
          <p:cNvPr id="359" name="Google Shape;359;p20"/>
          <p:cNvSpPr txBox="1"/>
          <p:nvPr/>
        </p:nvSpPr>
        <p:spPr>
          <a:xfrm>
            <a:off x="347294" y="451039"/>
            <a:ext cx="5065395" cy="648335"/>
          </a:xfrm>
          <a:prstGeom prst="rect">
            <a:avLst/>
          </a:prstGeom>
          <a:noFill/>
          <a:ln>
            <a:noFill/>
          </a:ln>
        </p:spPr>
        <p:txBody>
          <a:bodyPr spcFirstLastPara="1" wrap="square" lIns="0" tIns="12050" rIns="0" bIns="0" anchor="t" anchorCtr="0">
            <a:spAutoFit/>
          </a:bodyPr>
          <a:lstStyle/>
          <a:p>
            <a:pPr marL="12700" marR="5080" lvl="0" indent="0" algn="l" rtl="0">
              <a:lnSpc>
                <a:spcPct val="114700"/>
              </a:lnSpc>
              <a:spcBef>
                <a:spcPts val="0"/>
              </a:spcBef>
              <a:spcAft>
                <a:spcPts val="0"/>
              </a:spcAft>
              <a:buNone/>
            </a:pPr>
            <a:r>
              <a:rPr lang="en-US" sz="1050">
                <a:solidFill>
                  <a:srgbClr val="1B1472"/>
                </a:solidFill>
                <a:latin typeface="Arial"/>
                <a:ea typeface="Arial"/>
                <a:cs typeface="Arial"/>
                <a:sym typeface="Arial"/>
              </a:rPr>
              <a:t>Model: </a:t>
            </a:r>
            <a:r>
              <a:rPr lang="en-US" sz="1050">
                <a:latin typeface="Arial"/>
                <a:ea typeface="Arial"/>
                <a:cs typeface="Arial"/>
                <a:sym typeface="Arial"/>
              </a:rPr>
              <a:t>A single neuron computes a weighted sum and applied identity activation function.</a:t>
            </a:r>
            <a:endParaRPr sz="1050">
              <a:latin typeface="Arial"/>
              <a:ea typeface="Arial"/>
              <a:cs typeface="Arial"/>
              <a:sym typeface="Arial"/>
            </a:endParaRPr>
          </a:p>
          <a:p>
            <a:pPr marL="12700" lvl="0" indent="0" algn="l" rtl="0">
              <a:lnSpc>
                <a:spcPct val="100000"/>
              </a:lnSpc>
              <a:spcBef>
                <a:spcPts val="750"/>
              </a:spcBef>
              <a:spcAft>
                <a:spcPts val="0"/>
              </a:spcAft>
              <a:buNone/>
            </a:pPr>
            <a:r>
              <a:rPr lang="en-US" sz="1050">
                <a:solidFill>
                  <a:srgbClr val="1B1472"/>
                </a:solidFill>
                <a:latin typeface="Arial"/>
                <a:ea typeface="Arial"/>
                <a:cs typeface="Arial"/>
                <a:sym typeface="Arial"/>
              </a:rPr>
              <a:t>Prediction for input </a:t>
            </a:r>
            <a:r>
              <a:rPr lang="en-US" sz="1050" b="1">
                <a:solidFill>
                  <a:srgbClr val="1B1472"/>
                </a:solidFill>
                <a:latin typeface="Arial"/>
                <a:ea typeface="Arial"/>
                <a:cs typeface="Arial"/>
                <a:sym typeface="Arial"/>
              </a:rPr>
              <a:t>x</a:t>
            </a:r>
            <a:r>
              <a:rPr lang="en-US" sz="1050">
                <a:solidFill>
                  <a:srgbClr val="1B1472"/>
                </a:solidFill>
                <a:latin typeface="Arial"/>
                <a:ea typeface="Arial"/>
                <a:cs typeface="Arial"/>
                <a:sym typeface="Arial"/>
              </a:rPr>
              <a:t>:</a:t>
            </a:r>
            <a:endParaRPr sz="1050">
              <a:latin typeface="Arial"/>
              <a:ea typeface="Arial"/>
              <a:cs typeface="Arial"/>
              <a:sym typeface="Arial"/>
            </a:endParaRPr>
          </a:p>
        </p:txBody>
      </p:sp>
      <p:sp>
        <p:nvSpPr>
          <p:cNvPr id="360" name="Google Shape;360;p20"/>
          <p:cNvSpPr txBox="1"/>
          <p:nvPr/>
        </p:nvSpPr>
        <p:spPr>
          <a:xfrm>
            <a:off x="1337250" y="1203325"/>
            <a:ext cx="3450300" cy="2892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 </a:t>
            </a:r>
            <a:r>
              <a:rPr lang="en-US" sz="1200">
                <a:latin typeface="Tahoma"/>
                <a:ea typeface="Tahoma"/>
                <a:cs typeface="Tahoma"/>
                <a:sym typeface="Tahoma"/>
              </a:rPr>
              <a:t>= </a:t>
            </a:r>
            <a:r>
              <a:rPr lang="en-US" sz="1050" i="1">
                <a:latin typeface="Arial"/>
                <a:ea typeface="Arial"/>
                <a:cs typeface="Arial"/>
                <a:sym typeface="Arial"/>
              </a:rPr>
              <a:t>f </a:t>
            </a:r>
            <a:r>
              <a:rPr lang="en-US" sz="1200">
                <a:latin typeface="Tahoma"/>
                <a:ea typeface="Tahoma"/>
                <a:cs typeface="Tahoma"/>
                <a:sym typeface="Tahoma"/>
              </a:rPr>
              <a:t>(</a:t>
            </a:r>
            <a:r>
              <a:rPr lang="en-US" sz="1050" b="1">
                <a:latin typeface="Arial"/>
                <a:ea typeface="Arial"/>
                <a:cs typeface="Arial"/>
                <a:sym typeface="Arial"/>
              </a:rPr>
              <a:t>w</a:t>
            </a:r>
            <a:r>
              <a:rPr lang="en-US" sz="1050" i="1" baseline="30000">
                <a:latin typeface="Arial"/>
                <a:ea typeface="Arial"/>
                <a:cs typeface="Arial"/>
                <a:sym typeface="Arial"/>
              </a:rPr>
              <a:t>T </a:t>
            </a:r>
            <a:r>
              <a:rPr lang="en-US" sz="1050" b="1">
                <a:latin typeface="Arial"/>
                <a:ea typeface="Arial"/>
                <a:cs typeface="Arial"/>
                <a:sym typeface="Arial"/>
              </a:rPr>
              <a:t>x</a:t>
            </a:r>
            <a:r>
              <a:rPr lang="en-US" sz="1200">
                <a:latin typeface="Tahoma"/>
                <a:ea typeface="Tahoma"/>
                <a:cs typeface="Tahoma"/>
                <a:sym typeface="Tahoma"/>
              </a:rPr>
              <a:t>) = </a:t>
            </a:r>
            <a:r>
              <a:rPr lang="en-US" sz="1050" i="1">
                <a:latin typeface="Arial"/>
                <a:ea typeface="Arial"/>
                <a:cs typeface="Arial"/>
                <a:sym typeface="Arial"/>
              </a:rPr>
              <a:t>f </a:t>
            </a:r>
            <a:r>
              <a:rPr lang="en-US" sz="1200">
                <a:latin typeface="Tahoma"/>
                <a:ea typeface="Tahoma"/>
                <a:cs typeface="Tahoma"/>
                <a:sym typeface="Tahoma"/>
              </a:rPr>
              <a:t>(</a:t>
            </a:r>
            <a:r>
              <a:rPr lang="en-US" sz="1050" i="1">
                <a:latin typeface="Arial"/>
                <a:ea typeface="Arial"/>
                <a:cs typeface="Arial"/>
                <a:sym typeface="Arial"/>
              </a:rPr>
              <a:t>w</a:t>
            </a:r>
            <a:r>
              <a:rPr lang="en-US" sz="1050" baseline="-25000">
                <a:latin typeface="Arial"/>
                <a:ea typeface="Arial"/>
                <a:cs typeface="Arial"/>
                <a:sym typeface="Arial"/>
              </a:rPr>
              <a:t>0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050" i="1">
                <a:latin typeface="Arial"/>
                <a:ea typeface="Arial"/>
                <a:cs typeface="Arial"/>
                <a:sym typeface="Arial"/>
              </a:rPr>
              <a:t>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050" i="1">
                <a:latin typeface="Arial"/>
                <a:ea typeface="Arial"/>
                <a:cs typeface="Arial"/>
                <a:sym typeface="Arial"/>
              </a:rPr>
              <a:t>x</a:t>
            </a:r>
            <a:r>
              <a:rPr lang="en-US" sz="1050" baseline="-25000">
                <a:latin typeface="Arial"/>
                <a:ea typeface="Arial"/>
                <a:cs typeface="Arial"/>
                <a:sym typeface="Arial"/>
              </a:rPr>
              <a:t>2 </a:t>
            </a:r>
            <a:r>
              <a:rPr lang="en-US" sz="1200">
                <a:latin typeface="Tahoma"/>
                <a:ea typeface="Tahoma"/>
                <a:cs typeface="Tahoma"/>
                <a:sym typeface="Tahoma"/>
              </a:rPr>
              <a:t>+ </a:t>
            </a:r>
            <a:r>
              <a:rPr lang="en-US" sz="1200">
                <a:latin typeface="Lucida Sans"/>
                <a:ea typeface="Lucida Sans"/>
                <a:cs typeface="Lucida Sans"/>
                <a:sym typeface="Lucida Sans"/>
              </a:rPr>
              <a:t>· · · </a:t>
            </a:r>
            <a:r>
              <a:rPr lang="en-US" sz="1200">
                <a:latin typeface="Tahoma"/>
                <a:ea typeface="Tahoma"/>
                <a:cs typeface="Tahoma"/>
                <a:sym typeface="Tahoma"/>
              </a:rPr>
              <a:t>+ </a:t>
            </a:r>
            <a:r>
              <a:rPr lang="en-US" sz="1050" i="1">
                <a:latin typeface="Arial"/>
                <a:ea typeface="Arial"/>
                <a:cs typeface="Arial"/>
                <a:sym typeface="Arial"/>
              </a:rPr>
              <a:t>w</a:t>
            </a:r>
            <a:r>
              <a:rPr lang="en-US" sz="1050" i="1" baseline="-25000">
                <a:latin typeface="Arial"/>
                <a:ea typeface="Arial"/>
                <a:cs typeface="Arial"/>
                <a:sym typeface="Arial"/>
              </a:rPr>
              <a:t>d </a:t>
            </a:r>
            <a:r>
              <a:rPr lang="en-US" sz="1050" i="1">
                <a:latin typeface="Arial"/>
                <a:ea typeface="Arial"/>
                <a:cs typeface="Arial"/>
                <a:sym typeface="Arial"/>
              </a:rPr>
              <a:t>x</a:t>
            </a:r>
            <a:r>
              <a:rPr lang="en-US" sz="1050" i="1" baseline="-25000">
                <a:latin typeface="Arial"/>
                <a:ea typeface="Arial"/>
                <a:cs typeface="Arial"/>
                <a:sym typeface="Arial"/>
              </a:rPr>
              <a:t>d </a:t>
            </a:r>
            <a:r>
              <a:rPr lang="en-US" sz="1200">
                <a:latin typeface="Tahoma"/>
                <a:ea typeface="Tahoma"/>
                <a:cs typeface="Tahoma"/>
                <a:sym typeface="Tahoma"/>
              </a:rPr>
              <a:t>)</a:t>
            </a:r>
            <a:endParaRPr sz="1200">
              <a:latin typeface="Tahoma"/>
              <a:ea typeface="Tahoma"/>
              <a:cs typeface="Tahoma"/>
              <a:sym typeface="Tahoma"/>
            </a:endParaRPr>
          </a:p>
        </p:txBody>
      </p:sp>
      <p:sp>
        <p:nvSpPr>
          <p:cNvPr id="361" name="Google Shape;361;p20"/>
          <p:cNvSpPr txBox="1"/>
          <p:nvPr/>
        </p:nvSpPr>
        <p:spPr>
          <a:xfrm>
            <a:off x="5220322" y="1218519"/>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(2)</a:t>
            </a:r>
            <a:endParaRPr sz="1050">
              <a:latin typeface="Arial"/>
              <a:ea typeface="Arial"/>
              <a:cs typeface="Arial"/>
              <a:sym typeface="Arial"/>
            </a:endParaRPr>
          </a:p>
        </p:txBody>
      </p:sp>
      <p:grpSp>
        <p:nvGrpSpPr>
          <p:cNvPr id="362" name="Google Shape;362;p20"/>
          <p:cNvGrpSpPr/>
          <p:nvPr/>
        </p:nvGrpSpPr>
        <p:grpSpPr>
          <a:xfrm>
            <a:off x="513702" y="1817179"/>
            <a:ext cx="69291" cy="489661"/>
            <a:chOff x="513702" y="1817179"/>
            <a:chExt cx="69291" cy="489661"/>
          </a:xfrm>
        </p:grpSpPr>
        <p:pic>
          <p:nvPicPr>
            <p:cNvPr id="363" name="Google Shape;363;p20"/>
            <p:cNvPicPr preferRelativeResize="0"/>
            <p:nvPr/>
          </p:nvPicPr>
          <p:blipFill rotWithShape="1">
            <a:blip r:embed="rId3">
              <a:alphaModFix/>
            </a:blip>
            <a:srcRect/>
            <a:stretch/>
          </p:blipFill>
          <p:spPr>
            <a:xfrm>
              <a:off x="513702" y="1817179"/>
              <a:ext cx="69291" cy="69291"/>
            </a:xfrm>
            <a:prstGeom prst="rect">
              <a:avLst/>
            </a:prstGeom>
            <a:noFill/>
            <a:ln>
              <a:noFill/>
            </a:ln>
          </p:spPr>
        </p:pic>
        <p:pic>
          <p:nvPicPr>
            <p:cNvPr id="364" name="Google Shape;364;p20"/>
            <p:cNvPicPr preferRelativeResize="0"/>
            <p:nvPr/>
          </p:nvPicPr>
          <p:blipFill rotWithShape="1">
            <a:blip r:embed="rId4">
              <a:alphaModFix/>
            </a:blip>
            <a:srcRect/>
            <a:stretch/>
          </p:blipFill>
          <p:spPr>
            <a:xfrm>
              <a:off x="513702" y="2027364"/>
              <a:ext cx="69291" cy="69291"/>
            </a:xfrm>
            <a:prstGeom prst="rect">
              <a:avLst/>
            </a:prstGeom>
            <a:noFill/>
            <a:ln>
              <a:noFill/>
            </a:ln>
          </p:spPr>
        </p:pic>
        <p:pic>
          <p:nvPicPr>
            <p:cNvPr id="365" name="Google Shape;365;p20"/>
            <p:cNvPicPr preferRelativeResize="0"/>
            <p:nvPr/>
          </p:nvPicPr>
          <p:blipFill rotWithShape="1">
            <a:blip r:embed="rId5">
              <a:alphaModFix/>
            </a:blip>
            <a:srcRect/>
            <a:stretch/>
          </p:blipFill>
          <p:spPr>
            <a:xfrm>
              <a:off x="513702" y="2237549"/>
              <a:ext cx="69291" cy="69291"/>
            </a:xfrm>
            <a:prstGeom prst="rect">
              <a:avLst/>
            </a:prstGeom>
            <a:noFill/>
            <a:ln>
              <a:noFill/>
            </a:ln>
          </p:spPr>
        </p:pic>
      </p:grpSp>
      <p:sp>
        <p:nvSpPr>
          <p:cNvPr id="366" name="Google Shape;366;p20"/>
          <p:cNvSpPr txBox="1">
            <a:spLocks noGrp="1"/>
          </p:cNvSpPr>
          <p:nvPr>
            <p:ph type="body" idx="1"/>
          </p:nvPr>
        </p:nvSpPr>
        <p:spPr>
          <a:xfrm>
            <a:off x="321894" y="1497985"/>
            <a:ext cx="3812540" cy="1447800"/>
          </a:xfrm>
          <a:prstGeom prst="rect">
            <a:avLst/>
          </a:prstGeom>
          <a:noFill/>
          <a:ln>
            <a:noFill/>
          </a:ln>
        </p:spPr>
        <p:txBody>
          <a:bodyPr spcFirstLastPara="1" wrap="square" lIns="0" tIns="45700" rIns="0" bIns="0" anchor="t" anchorCtr="0">
            <a:spAutoFit/>
          </a:bodyPr>
          <a:lstStyle/>
          <a:p>
            <a:pPr marL="38100" lvl="0" indent="0" algn="l" rtl="0">
              <a:lnSpc>
                <a:spcPct val="100000"/>
              </a:lnSpc>
              <a:spcBef>
                <a:spcPts val="0"/>
              </a:spcBef>
              <a:spcAft>
                <a:spcPts val="0"/>
              </a:spcAft>
              <a:buNone/>
            </a:pPr>
            <a:r>
              <a:rPr lang="en-US">
                <a:solidFill>
                  <a:srgbClr val="000000"/>
                </a:solidFill>
              </a:rPr>
              <a:t>where:</a:t>
            </a:r>
            <a:endParaRPr/>
          </a:p>
          <a:p>
            <a:pPr marL="335280" lvl="0" indent="0" algn="l" rtl="0">
              <a:lnSpc>
                <a:spcPct val="100000"/>
              </a:lnSpc>
              <a:spcBef>
                <a:spcPts val="254"/>
              </a:spcBef>
              <a:spcAft>
                <a:spcPts val="0"/>
              </a:spcAft>
              <a:buNone/>
            </a:pPr>
            <a:r>
              <a:rPr lang="en-US" b="1">
                <a:solidFill>
                  <a:srgbClr val="000000"/>
                </a:solidFill>
                <a:latin typeface="Arial"/>
                <a:ea typeface="Arial"/>
                <a:cs typeface="Arial"/>
                <a:sym typeface="Arial"/>
              </a:rPr>
              <a:t>w </a:t>
            </a:r>
            <a:r>
              <a:rPr lang="en-US" sz="1200">
                <a:solidFill>
                  <a:srgbClr val="000000"/>
                </a:solidFill>
                <a:latin typeface="Tahoma"/>
                <a:ea typeface="Tahoma"/>
                <a:cs typeface="Tahoma"/>
                <a:sym typeface="Tahoma"/>
              </a:rPr>
              <a:t>= [</a:t>
            </a:r>
            <a:r>
              <a:rPr lang="en-US" i="1">
                <a:solidFill>
                  <a:srgbClr val="000000"/>
                </a:solidFill>
                <a:latin typeface="Arial"/>
                <a:ea typeface="Arial"/>
                <a:cs typeface="Arial"/>
                <a:sym typeface="Arial"/>
              </a:rPr>
              <a:t>w</a:t>
            </a:r>
            <a:r>
              <a:rPr lang="en-US" sz="1050" baseline="-25000">
                <a:solidFill>
                  <a:srgbClr val="000000"/>
                </a:solidFill>
              </a:rPr>
              <a:t>0</a:t>
            </a:r>
            <a:r>
              <a:rPr lang="en-US" sz="1200" i="1">
                <a:solidFill>
                  <a:srgbClr val="000000"/>
                </a:solidFill>
                <a:latin typeface="Calibri"/>
                <a:ea typeface="Calibri"/>
                <a:cs typeface="Calibri"/>
                <a:sym typeface="Calibri"/>
              </a:rPr>
              <a:t>, </a:t>
            </a:r>
            <a:r>
              <a:rPr lang="en-US" sz="1050" i="1">
                <a:solidFill>
                  <a:srgbClr val="000000"/>
                </a:solidFill>
                <a:latin typeface="Arial"/>
                <a:ea typeface="Arial"/>
                <a:cs typeface="Arial"/>
                <a:sym typeface="Arial"/>
              </a:rPr>
              <a:t>w</a:t>
            </a:r>
            <a:r>
              <a:rPr lang="en-US" sz="1050" baseline="-25000">
                <a:solidFill>
                  <a:srgbClr val="000000"/>
                </a:solidFill>
              </a:rPr>
              <a:t>1</a:t>
            </a:r>
            <a:r>
              <a:rPr lang="en-US" sz="1200" i="1">
                <a:solidFill>
                  <a:srgbClr val="000000"/>
                </a:solidFill>
                <a:latin typeface="Calibri"/>
                <a:ea typeface="Calibri"/>
                <a:cs typeface="Calibri"/>
                <a:sym typeface="Calibri"/>
              </a:rPr>
              <a:t>, . . . , </a:t>
            </a:r>
            <a:r>
              <a:rPr lang="en-US" sz="1050" i="1">
                <a:solidFill>
                  <a:srgbClr val="000000"/>
                </a:solidFill>
                <a:latin typeface="Arial"/>
                <a:ea typeface="Arial"/>
                <a:cs typeface="Arial"/>
                <a:sym typeface="Arial"/>
              </a:rPr>
              <a:t>w</a:t>
            </a:r>
            <a:r>
              <a:rPr lang="en-US" sz="1050" i="1" baseline="-25000">
                <a:solidFill>
                  <a:srgbClr val="000000"/>
                </a:solidFill>
                <a:latin typeface="Arial"/>
                <a:ea typeface="Arial"/>
                <a:cs typeface="Arial"/>
                <a:sym typeface="Arial"/>
              </a:rPr>
              <a:t>d </a:t>
            </a:r>
            <a:r>
              <a:rPr lang="en-US" sz="1200">
                <a:solidFill>
                  <a:srgbClr val="000000"/>
                </a:solidFill>
                <a:latin typeface="Tahoma"/>
                <a:ea typeface="Tahoma"/>
                <a:cs typeface="Tahoma"/>
                <a:sym typeface="Tahoma"/>
              </a:rPr>
              <a:t>]</a:t>
            </a:r>
            <a:r>
              <a:rPr lang="en-US" sz="1050" i="1" baseline="30000">
                <a:solidFill>
                  <a:srgbClr val="000000"/>
                </a:solidFill>
                <a:latin typeface="Arial"/>
                <a:ea typeface="Arial"/>
                <a:cs typeface="Arial"/>
                <a:sym typeface="Arial"/>
              </a:rPr>
              <a:t>T </a:t>
            </a:r>
            <a:r>
              <a:rPr lang="en-US" sz="1200">
                <a:solidFill>
                  <a:srgbClr val="000000"/>
                </a:solidFill>
                <a:latin typeface="Lucida Sans"/>
                <a:ea typeface="Lucida Sans"/>
                <a:cs typeface="Lucida Sans"/>
                <a:sym typeface="Lucida Sans"/>
              </a:rPr>
              <a:t>∈ </a:t>
            </a:r>
            <a:r>
              <a:rPr lang="en-US" sz="1200">
                <a:solidFill>
                  <a:srgbClr val="000000"/>
                </a:solidFill>
              </a:rPr>
              <a:t>R</a:t>
            </a:r>
            <a:r>
              <a:rPr lang="en-US" sz="1050" i="1" baseline="30000">
                <a:solidFill>
                  <a:srgbClr val="000000"/>
                </a:solidFill>
                <a:latin typeface="Arial"/>
                <a:ea typeface="Arial"/>
                <a:cs typeface="Arial"/>
                <a:sym typeface="Arial"/>
              </a:rPr>
              <a:t>d </a:t>
            </a:r>
            <a:r>
              <a:rPr lang="en-US" sz="1200" baseline="30000">
                <a:solidFill>
                  <a:srgbClr val="000000"/>
                </a:solidFill>
                <a:latin typeface="Tahoma"/>
                <a:ea typeface="Tahoma"/>
                <a:cs typeface="Tahoma"/>
                <a:sym typeface="Tahoma"/>
              </a:rPr>
              <a:t>+</a:t>
            </a:r>
            <a:r>
              <a:rPr lang="en-US" sz="1050" baseline="30000">
                <a:solidFill>
                  <a:srgbClr val="000000"/>
                </a:solidFill>
              </a:rPr>
              <a:t>1 </a:t>
            </a:r>
            <a:r>
              <a:rPr lang="en-US" sz="1050">
                <a:solidFill>
                  <a:srgbClr val="000000"/>
                </a:solidFill>
              </a:rPr>
              <a:t>are the model parameters</a:t>
            </a:r>
            <a:endParaRPr sz="1050">
              <a:latin typeface="Tahoma"/>
              <a:ea typeface="Tahoma"/>
              <a:cs typeface="Tahoma"/>
              <a:sym typeface="Tahoma"/>
            </a:endParaRPr>
          </a:p>
          <a:p>
            <a:pPr marL="335280" lvl="0" indent="0" algn="l" rtl="0">
              <a:lnSpc>
                <a:spcPct val="100000"/>
              </a:lnSpc>
              <a:spcBef>
                <a:spcPts val="215"/>
              </a:spcBef>
              <a:spcAft>
                <a:spcPts val="0"/>
              </a:spcAft>
              <a:buNone/>
            </a:pPr>
            <a:r>
              <a:rPr lang="en-US" b="1">
                <a:solidFill>
                  <a:srgbClr val="000000"/>
                </a:solidFill>
                <a:latin typeface="Arial"/>
                <a:ea typeface="Arial"/>
                <a:cs typeface="Arial"/>
                <a:sym typeface="Arial"/>
              </a:rPr>
              <a:t>x </a:t>
            </a:r>
            <a:r>
              <a:rPr lang="en-US" sz="1200">
                <a:solidFill>
                  <a:srgbClr val="000000"/>
                </a:solidFill>
                <a:latin typeface="Tahoma"/>
                <a:ea typeface="Tahoma"/>
                <a:cs typeface="Tahoma"/>
                <a:sym typeface="Tahoma"/>
              </a:rPr>
              <a:t>= [</a:t>
            </a:r>
            <a:r>
              <a:rPr lang="en-US">
                <a:solidFill>
                  <a:srgbClr val="000000"/>
                </a:solidFill>
              </a:rPr>
              <a:t>1</a:t>
            </a:r>
            <a:r>
              <a:rPr lang="en-US" sz="1200" i="1">
                <a:solidFill>
                  <a:srgbClr val="000000"/>
                </a:solidFill>
                <a:latin typeface="Calibri"/>
                <a:ea typeface="Calibri"/>
                <a:cs typeface="Calibri"/>
                <a:sym typeface="Calibri"/>
              </a:rPr>
              <a:t>, </a:t>
            </a:r>
            <a:r>
              <a:rPr lang="en-US" i="1">
                <a:solidFill>
                  <a:srgbClr val="000000"/>
                </a:solidFill>
                <a:latin typeface="Arial"/>
                <a:ea typeface="Arial"/>
                <a:cs typeface="Arial"/>
                <a:sym typeface="Arial"/>
              </a:rPr>
              <a:t>x</a:t>
            </a:r>
            <a:r>
              <a:rPr lang="en-US" sz="1050" baseline="-25000">
                <a:solidFill>
                  <a:srgbClr val="000000"/>
                </a:solidFill>
              </a:rPr>
              <a:t>1</a:t>
            </a:r>
            <a:r>
              <a:rPr lang="en-US" sz="1200" i="1">
                <a:solidFill>
                  <a:srgbClr val="000000"/>
                </a:solidFill>
                <a:latin typeface="Calibri"/>
                <a:ea typeface="Calibri"/>
                <a:cs typeface="Calibri"/>
                <a:sym typeface="Calibri"/>
              </a:rPr>
              <a:t>, . . . , </a:t>
            </a:r>
            <a:r>
              <a:rPr lang="en-US" sz="1050" i="1">
                <a:solidFill>
                  <a:srgbClr val="000000"/>
                </a:solidFill>
                <a:latin typeface="Arial"/>
                <a:ea typeface="Arial"/>
                <a:cs typeface="Arial"/>
                <a:sym typeface="Arial"/>
              </a:rPr>
              <a:t>x</a:t>
            </a:r>
            <a:r>
              <a:rPr lang="en-US" sz="1050" i="1" baseline="-25000">
                <a:solidFill>
                  <a:srgbClr val="000000"/>
                </a:solidFill>
                <a:latin typeface="Arial"/>
                <a:ea typeface="Arial"/>
                <a:cs typeface="Arial"/>
                <a:sym typeface="Arial"/>
              </a:rPr>
              <a:t>d </a:t>
            </a:r>
            <a:r>
              <a:rPr lang="en-US" sz="1200">
                <a:solidFill>
                  <a:srgbClr val="000000"/>
                </a:solidFill>
                <a:latin typeface="Tahoma"/>
                <a:ea typeface="Tahoma"/>
                <a:cs typeface="Tahoma"/>
                <a:sym typeface="Tahoma"/>
              </a:rPr>
              <a:t>]</a:t>
            </a:r>
            <a:r>
              <a:rPr lang="en-US" sz="1050" i="1" baseline="30000">
                <a:solidFill>
                  <a:srgbClr val="000000"/>
                </a:solidFill>
                <a:latin typeface="Arial"/>
                <a:ea typeface="Arial"/>
                <a:cs typeface="Arial"/>
                <a:sym typeface="Arial"/>
              </a:rPr>
              <a:t>T </a:t>
            </a:r>
            <a:r>
              <a:rPr lang="en-US" sz="1200">
                <a:solidFill>
                  <a:srgbClr val="000000"/>
                </a:solidFill>
                <a:latin typeface="Lucida Sans"/>
                <a:ea typeface="Lucida Sans"/>
                <a:cs typeface="Lucida Sans"/>
                <a:sym typeface="Lucida Sans"/>
              </a:rPr>
              <a:t>∈ </a:t>
            </a:r>
            <a:r>
              <a:rPr lang="en-US" sz="1200">
                <a:solidFill>
                  <a:srgbClr val="000000"/>
                </a:solidFill>
              </a:rPr>
              <a:t>R</a:t>
            </a:r>
            <a:r>
              <a:rPr lang="en-US" sz="1050" i="1" baseline="30000">
                <a:solidFill>
                  <a:srgbClr val="000000"/>
                </a:solidFill>
                <a:latin typeface="Arial"/>
                <a:ea typeface="Arial"/>
                <a:cs typeface="Arial"/>
                <a:sym typeface="Arial"/>
              </a:rPr>
              <a:t>d </a:t>
            </a:r>
            <a:r>
              <a:rPr lang="en-US" sz="1200" baseline="30000">
                <a:solidFill>
                  <a:srgbClr val="000000"/>
                </a:solidFill>
                <a:latin typeface="Tahoma"/>
                <a:ea typeface="Tahoma"/>
                <a:cs typeface="Tahoma"/>
                <a:sym typeface="Tahoma"/>
              </a:rPr>
              <a:t>+</a:t>
            </a:r>
            <a:r>
              <a:rPr lang="en-US" sz="1050" baseline="30000">
                <a:solidFill>
                  <a:srgbClr val="000000"/>
                </a:solidFill>
              </a:rPr>
              <a:t>1 </a:t>
            </a:r>
            <a:r>
              <a:rPr lang="en-US" sz="1050">
                <a:solidFill>
                  <a:srgbClr val="000000"/>
                </a:solidFill>
              </a:rPr>
              <a:t>is the input</a:t>
            </a:r>
            <a:endParaRPr sz="1050">
              <a:latin typeface="Tahoma"/>
              <a:ea typeface="Tahoma"/>
              <a:cs typeface="Tahoma"/>
              <a:sym typeface="Tahoma"/>
            </a:endParaRPr>
          </a:p>
          <a:p>
            <a:pPr marL="335280" lvl="0" indent="0" algn="l" rtl="0">
              <a:lnSpc>
                <a:spcPct val="100000"/>
              </a:lnSpc>
              <a:spcBef>
                <a:spcPts val="215"/>
              </a:spcBef>
              <a:spcAft>
                <a:spcPts val="0"/>
              </a:spcAft>
              <a:buNone/>
            </a:pPr>
            <a:r>
              <a:rPr lang="en-US" i="1">
                <a:solidFill>
                  <a:srgbClr val="000000"/>
                </a:solidFill>
                <a:latin typeface="Arial"/>
                <a:ea typeface="Arial"/>
                <a:cs typeface="Arial"/>
                <a:sym typeface="Arial"/>
              </a:rPr>
              <a:t>f </a:t>
            </a:r>
            <a:r>
              <a:rPr lang="en-US" sz="1200">
                <a:solidFill>
                  <a:srgbClr val="000000"/>
                </a:solidFill>
                <a:latin typeface="Tahoma"/>
                <a:ea typeface="Tahoma"/>
                <a:cs typeface="Tahoma"/>
                <a:sym typeface="Tahoma"/>
              </a:rPr>
              <a:t>(</a:t>
            </a:r>
            <a:r>
              <a:rPr lang="en-US" sz="1200">
                <a:solidFill>
                  <a:srgbClr val="000000"/>
                </a:solidFill>
                <a:latin typeface="Lucida Sans"/>
                <a:ea typeface="Lucida Sans"/>
                <a:cs typeface="Lucida Sans"/>
                <a:sym typeface="Lucida Sans"/>
              </a:rPr>
              <a:t>·</a:t>
            </a:r>
            <a:r>
              <a:rPr lang="en-US" sz="1200">
                <a:solidFill>
                  <a:srgbClr val="000000"/>
                </a:solidFill>
                <a:latin typeface="Tahoma"/>
                <a:ea typeface="Tahoma"/>
                <a:cs typeface="Tahoma"/>
                <a:sym typeface="Tahoma"/>
              </a:rPr>
              <a:t>) </a:t>
            </a:r>
            <a:r>
              <a:rPr lang="en-US">
                <a:solidFill>
                  <a:srgbClr val="000000"/>
                </a:solidFill>
              </a:rPr>
              <a:t>is the </a:t>
            </a:r>
            <a:r>
              <a:rPr lang="en-US"/>
              <a:t>identity activation </a:t>
            </a:r>
            <a:r>
              <a:rPr lang="en-US" i="1">
                <a:solidFill>
                  <a:srgbClr val="000000"/>
                </a:solidFill>
                <a:latin typeface="Arial"/>
                <a:ea typeface="Arial"/>
                <a:cs typeface="Arial"/>
                <a:sym typeface="Arial"/>
              </a:rPr>
              <a:t>f </a:t>
            </a:r>
            <a:r>
              <a:rPr lang="en-US" sz="1200">
                <a:solidFill>
                  <a:srgbClr val="000000"/>
                </a:solidFill>
                <a:latin typeface="Tahoma"/>
                <a:ea typeface="Tahoma"/>
                <a:cs typeface="Tahoma"/>
                <a:sym typeface="Tahoma"/>
              </a:rPr>
              <a:t>(</a:t>
            </a:r>
            <a:r>
              <a:rPr lang="en-US" i="1">
                <a:solidFill>
                  <a:srgbClr val="000000"/>
                </a:solidFill>
                <a:latin typeface="Arial"/>
                <a:ea typeface="Arial"/>
                <a:cs typeface="Arial"/>
                <a:sym typeface="Arial"/>
              </a:rPr>
              <a:t>z</a:t>
            </a:r>
            <a:r>
              <a:rPr lang="en-US" sz="1200">
                <a:solidFill>
                  <a:srgbClr val="000000"/>
                </a:solidFill>
                <a:latin typeface="Tahoma"/>
                <a:ea typeface="Tahoma"/>
                <a:cs typeface="Tahoma"/>
                <a:sym typeface="Tahoma"/>
              </a:rPr>
              <a:t>) = </a:t>
            </a:r>
            <a:r>
              <a:rPr lang="en-US" i="1">
                <a:solidFill>
                  <a:srgbClr val="000000"/>
                </a:solidFill>
                <a:latin typeface="Arial"/>
                <a:ea typeface="Arial"/>
                <a:cs typeface="Arial"/>
                <a:sym typeface="Arial"/>
              </a:rPr>
              <a:t>z</a:t>
            </a:r>
            <a:endParaRPr sz="1200">
              <a:latin typeface="Arial"/>
              <a:ea typeface="Arial"/>
              <a:cs typeface="Arial"/>
              <a:sym typeface="Arial"/>
            </a:endParaRPr>
          </a:p>
          <a:p>
            <a:pPr marL="38100" lvl="0" indent="0" algn="l" rtl="0">
              <a:lnSpc>
                <a:spcPct val="100000"/>
              </a:lnSpc>
              <a:spcBef>
                <a:spcPts val="950"/>
              </a:spcBef>
              <a:spcAft>
                <a:spcPts val="0"/>
              </a:spcAft>
              <a:buNone/>
            </a:pPr>
            <a:r>
              <a:rPr lang="en-US"/>
              <a:t>Vectorized form: </a:t>
            </a:r>
            <a:r>
              <a:rPr lang="en-US">
                <a:solidFill>
                  <a:srgbClr val="000000"/>
                </a:solidFill>
              </a:rPr>
              <a:t>for all predictions</a:t>
            </a:r>
            <a:endParaRPr/>
          </a:p>
          <a:p>
            <a:pPr marL="2320925" lvl="0" indent="0" algn="l" rtl="0">
              <a:lnSpc>
                <a:spcPct val="100000"/>
              </a:lnSpc>
              <a:spcBef>
                <a:spcPts val="1025"/>
              </a:spcBef>
              <a:spcAft>
                <a:spcPts val="0"/>
              </a:spcAft>
              <a:buNone/>
            </a:pPr>
            <a:r>
              <a:rPr lang="en-US" b="1">
                <a:solidFill>
                  <a:srgbClr val="000000"/>
                </a:solidFill>
                <a:latin typeface="Arial"/>
                <a:ea typeface="Arial"/>
                <a:cs typeface="Arial"/>
                <a:sym typeface="Arial"/>
              </a:rPr>
              <a:t>y</a:t>
            </a:r>
            <a:r>
              <a:rPr lang="en-US" sz="1800" baseline="30000">
                <a:solidFill>
                  <a:srgbClr val="000000"/>
                </a:solidFill>
                <a:latin typeface="Tahoma"/>
                <a:ea typeface="Tahoma"/>
                <a:cs typeface="Tahoma"/>
                <a:sym typeface="Tahoma"/>
              </a:rPr>
              <a:t>ˆ </a:t>
            </a:r>
            <a:r>
              <a:rPr lang="en-US" sz="1200">
                <a:solidFill>
                  <a:srgbClr val="000000"/>
                </a:solidFill>
                <a:latin typeface="Tahoma"/>
                <a:ea typeface="Tahoma"/>
                <a:cs typeface="Tahoma"/>
                <a:sym typeface="Tahoma"/>
              </a:rPr>
              <a:t>= </a:t>
            </a:r>
            <a:r>
              <a:rPr lang="en-US" sz="1050" b="1">
                <a:solidFill>
                  <a:srgbClr val="000000"/>
                </a:solidFill>
                <a:latin typeface="Arial"/>
                <a:ea typeface="Arial"/>
                <a:cs typeface="Arial"/>
                <a:sym typeface="Arial"/>
              </a:rPr>
              <a:t>Xw</a:t>
            </a:r>
            <a:endParaRPr sz="1050">
              <a:latin typeface="Arial"/>
              <a:ea typeface="Arial"/>
              <a:cs typeface="Arial"/>
              <a:sym typeface="Arial"/>
            </a:endParaRPr>
          </a:p>
        </p:txBody>
      </p:sp>
      <p:sp>
        <p:nvSpPr>
          <p:cNvPr id="367" name="Google Shape;367;p20"/>
          <p:cNvSpPr txBox="1"/>
          <p:nvPr/>
        </p:nvSpPr>
        <p:spPr>
          <a:xfrm>
            <a:off x="5220322" y="2753161"/>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a:t>
            </a:r>
            <a:endParaRPr sz="1050">
              <a:latin typeface="Arial"/>
              <a:ea typeface="Arial"/>
              <a:cs typeface="Arial"/>
              <a:sym typeface="Arial"/>
            </a:endParaRPr>
          </a:p>
        </p:txBody>
      </p:sp>
      <p:grpSp>
        <p:nvGrpSpPr>
          <p:cNvPr id="368" name="Google Shape;368;p20"/>
          <p:cNvGrpSpPr/>
          <p:nvPr/>
        </p:nvGrpSpPr>
        <p:grpSpPr>
          <a:xfrm>
            <a:off x="0" y="3141936"/>
            <a:ext cx="5760261" cy="92075"/>
            <a:chOff x="0" y="3141936"/>
            <a:chExt cx="5760261" cy="92075"/>
          </a:xfrm>
        </p:grpSpPr>
        <p:sp>
          <p:nvSpPr>
            <p:cNvPr id="369" name="Google Shape;369;p20"/>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0" name="Google Shape;370;p20"/>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1" name="Google Shape;371;p20"/>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72" name="Google Shape;372;p2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73" name="Google Shape;373;p2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374" name="Google Shape;374;p2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14</a:t>
            </a:fld>
            <a:r>
              <a:rPr lang="en-US"/>
              <a:t> / 46</a:t>
            </a:r>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1"/>
          <p:cNvSpPr txBox="1"/>
          <p:nvPr/>
        </p:nvSpPr>
        <p:spPr>
          <a:xfrm>
            <a:off x="95300" y="109545"/>
            <a:ext cx="3350895" cy="800735"/>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I</a:t>
            </a:r>
            <a:r>
              <a:rPr lang="en-US" sz="1700" cap="small">
                <a:solidFill>
                  <a:srgbClr val="FFFFFF"/>
                </a:solidFill>
                <a:latin typeface="Calibri"/>
                <a:ea typeface="Calibri"/>
                <a:cs typeface="Calibri"/>
                <a:sym typeface="Calibri"/>
              </a:rPr>
              <a:t>dentity</a:t>
            </a:r>
            <a:r>
              <a:rPr lang="en-US" sz="1700">
                <a:solidFill>
                  <a:srgbClr val="FFFFFF"/>
                </a:solidFill>
                <a:latin typeface="Calibri"/>
                <a:ea typeface="Calibri"/>
                <a:cs typeface="Calibri"/>
                <a:sym typeface="Calibri"/>
              </a:rPr>
              <a:t> A</a:t>
            </a:r>
            <a:r>
              <a:rPr lang="en-US" sz="1700" cap="small">
                <a:solidFill>
                  <a:srgbClr val="FFFFFF"/>
                </a:solidFill>
                <a:latin typeface="Calibri"/>
                <a:ea typeface="Calibri"/>
                <a:cs typeface="Calibri"/>
                <a:sym typeface="Calibri"/>
              </a:rPr>
              <a:t>ctivation</a:t>
            </a:r>
            <a:r>
              <a:rPr lang="en-US" sz="1700">
                <a:solidFill>
                  <a:srgbClr val="FFFFFF"/>
                </a:solidFill>
                <a:latin typeface="Calibri"/>
                <a:ea typeface="Calibri"/>
                <a:cs typeface="Calibri"/>
                <a:sym typeface="Calibri"/>
              </a:rPr>
              <a:t> F</a:t>
            </a:r>
            <a:r>
              <a:rPr lang="en-US" sz="1700" cap="small">
                <a:solidFill>
                  <a:srgbClr val="FFFFFF"/>
                </a:solidFill>
                <a:latin typeface="Calibri"/>
                <a:ea typeface="Calibri"/>
                <a:cs typeface="Calibri"/>
                <a:sym typeface="Calibri"/>
              </a:rPr>
              <a:t>unction</a:t>
            </a:r>
            <a:endParaRPr sz="1700">
              <a:latin typeface="Calibri"/>
              <a:ea typeface="Calibri"/>
              <a:cs typeface="Calibri"/>
              <a:sym typeface="Calibri"/>
            </a:endParaRPr>
          </a:p>
          <a:p>
            <a:pPr marL="264160" lvl="0" indent="0" algn="l" rtl="0">
              <a:lnSpc>
                <a:spcPct val="100000"/>
              </a:lnSpc>
              <a:spcBef>
                <a:spcPts val="805"/>
              </a:spcBef>
              <a:spcAft>
                <a:spcPts val="0"/>
              </a:spcAft>
              <a:buNone/>
            </a:pPr>
            <a:r>
              <a:rPr lang="en-US" sz="1050">
                <a:solidFill>
                  <a:srgbClr val="1B1472"/>
                </a:solidFill>
                <a:latin typeface="Arial"/>
                <a:ea typeface="Arial"/>
                <a:cs typeface="Arial"/>
                <a:sym typeface="Arial"/>
              </a:rPr>
              <a:t>Identity Activation Function</a:t>
            </a:r>
            <a:endParaRPr sz="1050">
              <a:latin typeface="Arial"/>
              <a:ea typeface="Arial"/>
              <a:cs typeface="Arial"/>
              <a:sym typeface="Arial"/>
            </a:endParaRPr>
          </a:p>
          <a:p>
            <a:pPr marL="0" marR="303530" lvl="0" indent="0" algn="r" rtl="0">
              <a:lnSpc>
                <a:spcPct val="100000"/>
              </a:lnSpc>
              <a:spcBef>
                <a:spcPts val="535"/>
              </a:spcBef>
              <a:spcAft>
                <a:spcPts val="0"/>
              </a:spcAft>
              <a:buNone/>
            </a:pPr>
            <a:r>
              <a:rPr lang="en-US" sz="1050" i="1">
                <a:latin typeface="Arial"/>
                <a:ea typeface="Arial"/>
                <a:cs typeface="Arial"/>
                <a:sym typeface="Arial"/>
              </a:rPr>
              <a:t>f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050" i="1">
                <a:latin typeface="Arial"/>
                <a:ea typeface="Arial"/>
                <a:cs typeface="Arial"/>
                <a:sym typeface="Arial"/>
              </a:rPr>
              <a:t>z</a:t>
            </a:r>
            <a:endParaRPr sz="1050">
              <a:latin typeface="Arial"/>
              <a:ea typeface="Arial"/>
              <a:cs typeface="Arial"/>
              <a:sym typeface="Arial"/>
            </a:endParaRPr>
          </a:p>
        </p:txBody>
      </p:sp>
      <p:sp>
        <p:nvSpPr>
          <p:cNvPr id="380" name="Google Shape;380;p21"/>
          <p:cNvSpPr txBox="1"/>
          <p:nvPr/>
        </p:nvSpPr>
        <p:spPr>
          <a:xfrm>
            <a:off x="5220322" y="717250"/>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(4)</a:t>
            </a:r>
            <a:endParaRPr sz="1050">
              <a:latin typeface="Arial"/>
              <a:ea typeface="Arial"/>
              <a:cs typeface="Arial"/>
              <a:sym typeface="Arial"/>
            </a:endParaRPr>
          </a:p>
        </p:txBody>
      </p:sp>
      <p:grpSp>
        <p:nvGrpSpPr>
          <p:cNvPr id="381" name="Google Shape;381;p21"/>
          <p:cNvGrpSpPr/>
          <p:nvPr/>
        </p:nvGrpSpPr>
        <p:grpSpPr>
          <a:xfrm>
            <a:off x="0" y="1120133"/>
            <a:ext cx="5760261" cy="2113878"/>
            <a:chOff x="0" y="1120133"/>
            <a:chExt cx="5760261" cy="2113878"/>
          </a:xfrm>
        </p:grpSpPr>
        <p:pic>
          <p:nvPicPr>
            <p:cNvPr id="382" name="Google Shape;382;p21"/>
            <p:cNvPicPr preferRelativeResize="0"/>
            <p:nvPr/>
          </p:nvPicPr>
          <p:blipFill rotWithShape="1">
            <a:blip r:embed="rId3">
              <a:alphaModFix/>
            </a:blip>
            <a:srcRect/>
            <a:stretch/>
          </p:blipFill>
          <p:spPr>
            <a:xfrm>
              <a:off x="612012" y="1120133"/>
              <a:ext cx="4535958" cy="1955019"/>
            </a:xfrm>
            <a:prstGeom prst="rect">
              <a:avLst/>
            </a:prstGeom>
            <a:noFill/>
            <a:ln>
              <a:noFill/>
            </a:ln>
          </p:spPr>
        </p:pic>
        <p:sp>
          <p:nvSpPr>
            <p:cNvPr id="383" name="Google Shape;383;p2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4" name="Google Shape;384;p2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5" name="Google Shape;385;p2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86" name="Google Shape;386;p2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87" name="Google Shape;387;p2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388" name="Google Shape;388;p2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15</a:t>
            </a:fld>
            <a:r>
              <a:rPr lang="en-US"/>
              <a:t> / 46</a:t>
            </a:r>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2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I</a:t>
            </a:r>
            <a:r>
              <a:rPr lang="en-US" cap="small">
                <a:solidFill>
                  <a:srgbClr val="FFFFFF"/>
                </a:solidFill>
              </a:rPr>
              <a:t>dentity</a:t>
            </a:r>
            <a:r>
              <a:rPr lang="en-US">
                <a:solidFill>
                  <a:srgbClr val="FFFFFF"/>
                </a:solidFill>
              </a:rPr>
              <a:t> A</a:t>
            </a:r>
            <a:r>
              <a:rPr lang="en-US" cap="small">
                <a:solidFill>
                  <a:srgbClr val="FFFFFF"/>
                </a:solidFill>
              </a:rPr>
              <a:t>ctivation</a:t>
            </a:r>
            <a:r>
              <a:rPr lang="en-US">
                <a:solidFill>
                  <a:srgbClr val="FFFFFF"/>
                </a:solidFill>
              </a:rPr>
              <a:t> F</a:t>
            </a:r>
            <a:r>
              <a:rPr lang="en-US" cap="small">
                <a:solidFill>
                  <a:srgbClr val="FFFFFF"/>
                </a:solidFill>
              </a:rPr>
              <a:t>unction</a:t>
            </a:r>
            <a:endParaRPr/>
          </a:p>
        </p:txBody>
      </p:sp>
      <p:grpSp>
        <p:nvGrpSpPr>
          <p:cNvPr id="394" name="Google Shape;394;p22"/>
          <p:cNvGrpSpPr/>
          <p:nvPr/>
        </p:nvGrpSpPr>
        <p:grpSpPr>
          <a:xfrm>
            <a:off x="513702" y="856932"/>
            <a:ext cx="69291" cy="2134057"/>
            <a:chOff x="513702" y="856932"/>
            <a:chExt cx="69291" cy="2134057"/>
          </a:xfrm>
        </p:grpSpPr>
        <p:pic>
          <p:nvPicPr>
            <p:cNvPr id="395" name="Google Shape;395;p22"/>
            <p:cNvPicPr preferRelativeResize="0"/>
            <p:nvPr/>
          </p:nvPicPr>
          <p:blipFill rotWithShape="1">
            <a:blip r:embed="rId3">
              <a:alphaModFix/>
            </a:blip>
            <a:srcRect/>
            <a:stretch/>
          </p:blipFill>
          <p:spPr>
            <a:xfrm>
              <a:off x="513702" y="856932"/>
              <a:ext cx="69291" cy="69291"/>
            </a:xfrm>
            <a:prstGeom prst="rect">
              <a:avLst/>
            </a:prstGeom>
            <a:noFill/>
            <a:ln>
              <a:noFill/>
            </a:ln>
          </p:spPr>
        </p:pic>
        <p:pic>
          <p:nvPicPr>
            <p:cNvPr id="396" name="Google Shape;396;p22"/>
            <p:cNvPicPr preferRelativeResize="0"/>
            <p:nvPr/>
          </p:nvPicPr>
          <p:blipFill rotWithShape="1">
            <a:blip r:embed="rId4">
              <a:alphaModFix/>
            </a:blip>
            <a:srcRect/>
            <a:stretch/>
          </p:blipFill>
          <p:spPr>
            <a:xfrm>
              <a:off x="513702" y="1078344"/>
              <a:ext cx="69291" cy="69291"/>
            </a:xfrm>
            <a:prstGeom prst="rect">
              <a:avLst/>
            </a:prstGeom>
            <a:noFill/>
            <a:ln>
              <a:noFill/>
            </a:ln>
          </p:spPr>
        </p:pic>
        <p:pic>
          <p:nvPicPr>
            <p:cNvPr id="397" name="Google Shape;397;p22"/>
            <p:cNvPicPr preferRelativeResize="0"/>
            <p:nvPr/>
          </p:nvPicPr>
          <p:blipFill rotWithShape="1">
            <a:blip r:embed="rId5">
              <a:alphaModFix/>
            </a:blip>
            <a:srcRect/>
            <a:stretch/>
          </p:blipFill>
          <p:spPr>
            <a:xfrm>
              <a:off x="513702" y="1299768"/>
              <a:ext cx="69291" cy="69291"/>
            </a:xfrm>
            <a:prstGeom prst="rect">
              <a:avLst/>
            </a:prstGeom>
            <a:noFill/>
            <a:ln>
              <a:noFill/>
            </a:ln>
          </p:spPr>
        </p:pic>
        <p:pic>
          <p:nvPicPr>
            <p:cNvPr id="398" name="Google Shape;398;p22"/>
            <p:cNvPicPr preferRelativeResize="0"/>
            <p:nvPr/>
          </p:nvPicPr>
          <p:blipFill rotWithShape="1">
            <a:blip r:embed="rId6">
              <a:alphaModFix/>
            </a:blip>
            <a:srcRect/>
            <a:stretch/>
          </p:blipFill>
          <p:spPr>
            <a:xfrm>
              <a:off x="513702" y="1521180"/>
              <a:ext cx="69291" cy="69291"/>
            </a:xfrm>
            <a:prstGeom prst="rect">
              <a:avLst/>
            </a:prstGeom>
            <a:noFill/>
            <a:ln>
              <a:noFill/>
            </a:ln>
          </p:spPr>
        </p:pic>
        <p:pic>
          <p:nvPicPr>
            <p:cNvPr id="399" name="Google Shape;399;p22"/>
            <p:cNvPicPr preferRelativeResize="0"/>
            <p:nvPr/>
          </p:nvPicPr>
          <p:blipFill rotWithShape="1">
            <a:blip r:embed="rId7">
              <a:alphaModFix/>
            </a:blip>
            <a:srcRect/>
            <a:stretch/>
          </p:blipFill>
          <p:spPr>
            <a:xfrm>
              <a:off x="513702" y="1742604"/>
              <a:ext cx="69291" cy="69291"/>
            </a:xfrm>
            <a:prstGeom prst="rect">
              <a:avLst/>
            </a:prstGeom>
            <a:noFill/>
            <a:ln>
              <a:noFill/>
            </a:ln>
          </p:spPr>
        </p:pic>
        <p:pic>
          <p:nvPicPr>
            <p:cNvPr id="400" name="Google Shape;400;p22"/>
            <p:cNvPicPr preferRelativeResize="0"/>
            <p:nvPr/>
          </p:nvPicPr>
          <p:blipFill rotWithShape="1">
            <a:blip r:embed="rId8">
              <a:alphaModFix/>
            </a:blip>
            <a:srcRect/>
            <a:stretch/>
          </p:blipFill>
          <p:spPr>
            <a:xfrm>
              <a:off x="513702" y="2257437"/>
              <a:ext cx="69291" cy="69291"/>
            </a:xfrm>
            <a:prstGeom prst="rect">
              <a:avLst/>
            </a:prstGeom>
            <a:noFill/>
            <a:ln>
              <a:noFill/>
            </a:ln>
          </p:spPr>
        </p:pic>
        <p:pic>
          <p:nvPicPr>
            <p:cNvPr id="401" name="Google Shape;401;p22"/>
            <p:cNvPicPr preferRelativeResize="0"/>
            <p:nvPr/>
          </p:nvPicPr>
          <p:blipFill rotWithShape="1">
            <a:blip r:embed="rId9">
              <a:alphaModFix/>
            </a:blip>
            <a:srcRect/>
            <a:stretch/>
          </p:blipFill>
          <p:spPr>
            <a:xfrm>
              <a:off x="513702" y="2478862"/>
              <a:ext cx="69291" cy="69291"/>
            </a:xfrm>
            <a:prstGeom prst="rect">
              <a:avLst/>
            </a:prstGeom>
            <a:noFill/>
            <a:ln>
              <a:noFill/>
            </a:ln>
          </p:spPr>
        </p:pic>
        <p:pic>
          <p:nvPicPr>
            <p:cNvPr id="402" name="Google Shape;402;p22"/>
            <p:cNvPicPr preferRelativeResize="0"/>
            <p:nvPr/>
          </p:nvPicPr>
          <p:blipFill rotWithShape="1">
            <a:blip r:embed="rId10">
              <a:alphaModFix/>
            </a:blip>
            <a:srcRect/>
            <a:stretch/>
          </p:blipFill>
          <p:spPr>
            <a:xfrm>
              <a:off x="513702" y="2700286"/>
              <a:ext cx="69291" cy="69291"/>
            </a:xfrm>
            <a:prstGeom prst="rect">
              <a:avLst/>
            </a:prstGeom>
            <a:noFill/>
            <a:ln>
              <a:noFill/>
            </a:ln>
          </p:spPr>
        </p:pic>
        <p:pic>
          <p:nvPicPr>
            <p:cNvPr id="403" name="Google Shape;403;p22"/>
            <p:cNvPicPr preferRelativeResize="0"/>
            <p:nvPr/>
          </p:nvPicPr>
          <p:blipFill rotWithShape="1">
            <a:blip r:embed="rId11">
              <a:alphaModFix/>
            </a:blip>
            <a:srcRect/>
            <a:stretch/>
          </p:blipFill>
          <p:spPr>
            <a:xfrm>
              <a:off x="513702" y="2921698"/>
              <a:ext cx="69291" cy="69291"/>
            </a:xfrm>
            <a:prstGeom prst="rect">
              <a:avLst/>
            </a:prstGeom>
            <a:noFill/>
            <a:ln>
              <a:noFill/>
            </a:ln>
          </p:spPr>
        </p:pic>
      </p:grpSp>
      <p:sp>
        <p:nvSpPr>
          <p:cNvPr id="404" name="Google Shape;404;p22"/>
          <p:cNvSpPr txBox="1"/>
          <p:nvPr/>
        </p:nvSpPr>
        <p:spPr>
          <a:xfrm>
            <a:off x="296494" y="519942"/>
            <a:ext cx="3820200" cy="2674800"/>
          </a:xfrm>
          <a:prstGeom prst="rect">
            <a:avLst/>
          </a:prstGeom>
          <a:noFill/>
          <a:ln>
            <a:noFill/>
          </a:ln>
        </p:spPr>
        <p:txBody>
          <a:bodyPr spcFirstLastPara="1" wrap="square" lIns="0" tIns="11425" rIns="0" bIns="0" anchor="t" anchorCtr="0">
            <a:spAutoFit/>
          </a:bodyPr>
          <a:lstStyle/>
          <a:p>
            <a:pPr marL="360680" marR="1588135" lvl="0" indent="-297815" algn="l" rtl="0">
              <a:lnSpc>
                <a:spcPct val="126499"/>
              </a:lnSpc>
              <a:spcBef>
                <a:spcPts val="0"/>
              </a:spcBef>
              <a:spcAft>
                <a:spcPts val="0"/>
              </a:spcAft>
              <a:buNone/>
            </a:pPr>
            <a:r>
              <a:rPr lang="en-US" sz="1050">
                <a:solidFill>
                  <a:srgbClr val="1B1472"/>
                </a:solidFill>
                <a:latin typeface="Arial"/>
                <a:ea typeface="Arial"/>
                <a:cs typeface="Arial"/>
                <a:sym typeface="Arial"/>
              </a:rPr>
              <a:t>Properties of Identity Function </a:t>
            </a:r>
            <a:r>
              <a:rPr lang="en-US" sz="1050">
                <a:latin typeface="Arial"/>
                <a:ea typeface="Arial"/>
                <a:cs typeface="Arial"/>
                <a:sym typeface="Arial"/>
              </a:rPr>
              <a:t>Output: Continuous, </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200" i="1">
                <a:latin typeface="Calibri"/>
                <a:ea typeface="Calibri"/>
                <a:cs typeface="Calibri"/>
                <a:sym typeface="Calibri"/>
              </a:rPr>
              <a:t>, </a:t>
            </a:r>
            <a:r>
              <a:rPr lang="en-US" sz="12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a:p>
            <a:pPr marL="360680" marR="1264920" lvl="0" indent="0" algn="l" rtl="0">
              <a:lnSpc>
                <a:spcPct val="144916"/>
              </a:lnSpc>
              <a:spcBef>
                <a:spcPts val="110"/>
              </a:spcBef>
              <a:spcAft>
                <a:spcPts val="0"/>
              </a:spcAft>
              <a:buNone/>
            </a:pPr>
            <a:r>
              <a:rPr lang="en-US" sz="1050">
                <a:latin typeface="Arial"/>
                <a:ea typeface="Arial"/>
                <a:cs typeface="Arial"/>
                <a:sym typeface="Arial"/>
              </a:rPr>
              <a:t>Differentiable everywhere: </a:t>
            </a:r>
            <a:r>
              <a:rPr lang="en-US" sz="1050" i="1">
                <a:latin typeface="Arial"/>
                <a:ea typeface="Arial"/>
                <a:cs typeface="Arial"/>
                <a:sym typeface="Arial"/>
              </a:rPr>
              <a:t>f </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050">
                <a:latin typeface="Arial"/>
                <a:ea typeface="Arial"/>
                <a:cs typeface="Arial"/>
                <a:sym typeface="Arial"/>
              </a:rPr>
              <a:t>1 Allows output to take any real value</a:t>
            </a:r>
            <a:endParaRPr sz="1050">
              <a:latin typeface="Arial"/>
              <a:ea typeface="Arial"/>
              <a:cs typeface="Arial"/>
              <a:sym typeface="Arial"/>
            </a:endParaRPr>
          </a:p>
          <a:p>
            <a:pPr marL="360680" marR="674370" lvl="0" indent="0" algn="l" rtl="0">
              <a:lnSpc>
                <a:spcPct val="165619"/>
              </a:lnSpc>
              <a:spcBef>
                <a:spcPts val="10"/>
              </a:spcBef>
              <a:spcAft>
                <a:spcPts val="0"/>
              </a:spcAft>
              <a:buNone/>
            </a:pPr>
            <a:r>
              <a:rPr lang="en-US" sz="1050">
                <a:latin typeface="Arial"/>
                <a:ea typeface="Arial"/>
                <a:cs typeface="Arial"/>
                <a:sym typeface="Arial"/>
              </a:rPr>
              <a:t>Gradient flows unchanged through the neuron Perfect for predicting continuous targets</a:t>
            </a:r>
            <a:endParaRPr sz="1050">
              <a:latin typeface="Arial"/>
              <a:ea typeface="Arial"/>
              <a:cs typeface="Arial"/>
              <a:sym typeface="Arial"/>
            </a:endParaRPr>
          </a:p>
          <a:p>
            <a:pPr marL="63500" lvl="0" indent="0" algn="l" rtl="0">
              <a:lnSpc>
                <a:spcPct val="100000"/>
              </a:lnSpc>
              <a:spcBef>
                <a:spcPts val="915"/>
              </a:spcBef>
              <a:spcAft>
                <a:spcPts val="0"/>
              </a:spcAft>
              <a:buNone/>
            </a:pPr>
            <a:r>
              <a:rPr lang="en-US" sz="1050">
                <a:solidFill>
                  <a:srgbClr val="1B1472"/>
                </a:solidFill>
                <a:latin typeface="Arial"/>
                <a:ea typeface="Arial"/>
                <a:cs typeface="Arial"/>
                <a:sym typeface="Arial"/>
              </a:rPr>
              <a:t>Why identity for regression?</a:t>
            </a:r>
            <a:endParaRPr sz="1050">
              <a:latin typeface="Arial"/>
              <a:ea typeface="Arial"/>
              <a:cs typeface="Arial"/>
              <a:sym typeface="Arial"/>
            </a:endParaRPr>
          </a:p>
          <a:p>
            <a:pPr marL="360680" marR="43180" lvl="0" indent="0" algn="l" rtl="0">
              <a:lnSpc>
                <a:spcPct val="129000"/>
              </a:lnSpc>
              <a:spcBef>
                <a:spcPts val="114"/>
              </a:spcBef>
              <a:spcAft>
                <a:spcPts val="0"/>
              </a:spcAft>
              <a:buNone/>
            </a:pPr>
            <a:r>
              <a:rPr lang="en-US" sz="1050">
                <a:latin typeface="Arial"/>
                <a:ea typeface="Arial"/>
                <a:cs typeface="Arial"/>
                <a:sym typeface="Arial"/>
              </a:rPr>
              <a:t>Target values are continuous (prices, temperatures, etc.) Need to predict any real number, not just binary </a:t>
            </a:r>
            <a:r>
              <a:rPr lang="en-US" sz="1200">
                <a:latin typeface="Lucida Sans"/>
                <a:ea typeface="Lucida Sans"/>
                <a:cs typeface="Lucida Sans"/>
                <a:sym typeface="Lucida Sans"/>
              </a:rPr>
              <a:t>{ </a:t>
            </a:r>
            <a:r>
              <a:rPr lang="en-US" sz="1050">
                <a:latin typeface="Arial"/>
                <a:ea typeface="Arial"/>
                <a:cs typeface="Arial"/>
                <a:sym typeface="Arial"/>
              </a:rPr>
              <a:t>0,1 </a:t>
            </a:r>
            <a:r>
              <a:rPr lang="en-US" sz="1200">
                <a:latin typeface="Lucida Sans"/>
                <a:ea typeface="Lucida Sans"/>
                <a:cs typeface="Lucida Sans"/>
                <a:sym typeface="Lucida Sans"/>
              </a:rPr>
              <a:t>} </a:t>
            </a:r>
            <a:r>
              <a:rPr lang="en-US" sz="1050">
                <a:latin typeface="Arial"/>
                <a:ea typeface="Arial"/>
                <a:cs typeface="Arial"/>
                <a:sym typeface="Arial"/>
              </a:rPr>
              <a:t>Differentiability enables gradient-based optimization</a:t>
            </a:r>
            <a:endParaRPr sz="1050">
              <a:latin typeface="Arial"/>
              <a:ea typeface="Arial"/>
              <a:cs typeface="Arial"/>
              <a:sym typeface="Arial"/>
            </a:endParaRPr>
          </a:p>
          <a:p>
            <a:pPr marL="360680" lvl="0" indent="0" algn="l" rtl="0">
              <a:lnSpc>
                <a:spcPct val="100000"/>
              </a:lnSpc>
              <a:spcBef>
                <a:spcPts val="484"/>
              </a:spcBef>
              <a:spcAft>
                <a:spcPts val="0"/>
              </a:spcAft>
              <a:buNone/>
            </a:pPr>
            <a:r>
              <a:rPr lang="en-US" sz="1050">
                <a:latin typeface="Arial"/>
                <a:ea typeface="Arial"/>
                <a:cs typeface="Arial"/>
                <a:sym typeface="Arial"/>
              </a:rPr>
              <a:t>No information loss from input to output</a:t>
            </a:r>
            <a:endParaRPr sz="1050">
              <a:latin typeface="Arial"/>
              <a:ea typeface="Arial"/>
              <a:cs typeface="Arial"/>
              <a:sym typeface="Arial"/>
            </a:endParaRPr>
          </a:p>
        </p:txBody>
      </p:sp>
      <p:grpSp>
        <p:nvGrpSpPr>
          <p:cNvPr id="405" name="Google Shape;405;p22"/>
          <p:cNvGrpSpPr/>
          <p:nvPr/>
        </p:nvGrpSpPr>
        <p:grpSpPr>
          <a:xfrm>
            <a:off x="0" y="3141936"/>
            <a:ext cx="5760261" cy="92075"/>
            <a:chOff x="0" y="3141936"/>
            <a:chExt cx="5760261" cy="92075"/>
          </a:xfrm>
        </p:grpSpPr>
        <p:sp>
          <p:nvSpPr>
            <p:cNvPr id="406" name="Google Shape;406;p2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7" name="Google Shape;407;p2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8" name="Google Shape;408;p2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09" name="Google Shape;409;p2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10" name="Google Shape;410;p2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2"/>
              </a:rPr>
              <a:t>D</a:t>
            </a:r>
            <a:r>
              <a:rPr lang="en-US" sz="600" u="sng" cap="small">
                <a:solidFill>
                  <a:schemeClr val="hlink"/>
                </a:solidFill>
                <a:latin typeface="Calibri"/>
                <a:ea typeface="Calibri"/>
                <a:cs typeface="Calibri"/>
                <a:sym typeface="Calibri"/>
                <a:hlinkClick r:id="rId12"/>
              </a:rPr>
              <a:t>eep</a:t>
            </a:r>
            <a:r>
              <a:rPr lang="en-US" sz="600" u="sng">
                <a:solidFill>
                  <a:schemeClr val="hlink"/>
                </a:solidFill>
                <a:latin typeface="Calibri"/>
                <a:ea typeface="Calibri"/>
                <a:cs typeface="Calibri"/>
                <a:sym typeface="Calibri"/>
                <a:hlinkClick r:id="rId12"/>
              </a:rPr>
              <a:t> L</a:t>
            </a:r>
            <a:r>
              <a:rPr lang="en-US" sz="600" u="sng" cap="small">
                <a:solidFill>
                  <a:schemeClr val="hlink"/>
                </a:solidFill>
                <a:latin typeface="Calibri"/>
                <a:ea typeface="Calibri"/>
                <a:cs typeface="Calibri"/>
                <a:sym typeface="Calibri"/>
                <a:hlinkClick r:id="rId12"/>
              </a:rPr>
              <a:t>earning</a:t>
            </a:r>
            <a:endParaRPr sz="600">
              <a:latin typeface="Calibri"/>
              <a:ea typeface="Calibri"/>
              <a:cs typeface="Calibri"/>
              <a:sym typeface="Calibri"/>
            </a:endParaRPr>
          </a:p>
        </p:txBody>
      </p:sp>
      <p:sp>
        <p:nvSpPr>
          <p:cNvPr id="411" name="Google Shape;411;p2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16</a:t>
            </a:fld>
            <a:r>
              <a:rPr lang="en-US"/>
              <a:t> / 46</a:t>
            </a:r>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3"/>
          <p:cNvSpPr txBox="1">
            <a:spLocks noGrp="1"/>
          </p:cNvSpPr>
          <p:nvPr>
            <p:ph type="title"/>
          </p:nvPr>
        </p:nvSpPr>
        <p:spPr>
          <a:xfrm>
            <a:off x="95300" y="109545"/>
            <a:ext cx="469138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dirty="0">
                <a:solidFill>
                  <a:srgbClr val="FFFFFF"/>
                </a:solidFill>
              </a:rPr>
              <a:t>O</a:t>
            </a:r>
            <a:r>
              <a:rPr lang="en-US" cap="small" dirty="0">
                <a:solidFill>
                  <a:srgbClr val="FFFFFF"/>
                </a:solidFill>
              </a:rPr>
              <a:t>bjective</a:t>
            </a:r>
            <a:r>
              <a:rPr lang="en-US" dirty="0">
                <a:solidFill>
                  <a:srgbClr val="FFFFFF"/>
                </a:solidFill>
              </a:rPr>
              <a:t> F</a:t>
            </a:r>
            <a:r>
              <a:rPr lang="en-US" cap="small" dirty="0">
                <a:solidFill>
                  <a:srgbClr val="FFFFFF"/>
                </a:solidFill>
              </a:rPr>
              <a:t>unction</a:t>
            </a:r>
            <a:r>
              <a:rPr lang="en-US" dirty="0">
                <a:solidFill>
                  <a:srgbClr val="FFFFFF"/>
                </a:solidFill>
              </a:rPr>
              <a:t>: S</a:t>
            </a:r>
            <a:r>
              <a:rPr lang="en-US" cap="small" dirty="0">
                <a:solidFill>
                  <a:srgbClr val="FFFFFF"/>
                </a:solidFill>
              </a:rPr>
              <a:t>quared</a:t>
            </a:r>
            <a:r>
              <a:rPr lang="en-US" dirty="0">
                <a:solidFill>
                  <a:srgbClr val="FFFFFF"/>
                </a:solidFill>
              </a:rPr>
              <a:t> E</a:t>
            </a:r>
            <a:r>
              <a:rPr lang="en-US" cap="small" dirty="0">
                <a:solidFill>
                  <a:srgbClr val="FFFFFF"/>
                </a:solidFill>
              </a:rPr>
              <a:t>rror</a:t>
            </a:r>
            <a:r>
              <a:rPr lang="en-US" dirty="0">
                <a:solidFill>
                  <a:srgbClr val="FFFFFF"/>
                </a:solidFill>
              </a:rPr>
              <a:t> L</a:t>
            </a:r>
            <a:r>
              <a:rPr lang="en-US" cap="small" dirty="0">
                <a:solidFill>
                  <a:srgbClr val="FFFFFF"/>
                </a:solidFill>
              </a:rPr>
              <a:t>oss</a:t>
            </a:r>
            <a:endParaRPr dirty="0"/>
          </a:p>
        </p:txBody>
      </p:sp>
      <p:grpSp>
        <p:nvGrpSpPr>
          <p:cNvPr id="417" name="Google Shape;417;p23"/>
          <p:cNvGrpSpPr/>
          <p:nvPr/>
        </p:nvGrpSpPr>
        <p:grpSpPr>
          <a:xfrm>
            <a:off x="0" y="3141936"/>
            <a:ext cx="5760261" cy="92075"/>
            <a:chOff x="0" y="3141936"/>
            <a:chExt cx="5760261" cy="92075"/>
          </a:xfrm>
        </p:grpSpPr>
        <p:sp>
          <p:nvSpPr>
            <p:cNvPr id="418" name="Google Shape;418;p23"/>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19" name="Google Shape;419;p23"/>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0" name="Google Shape;420;p23"/>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21" name="Google Shape;421;p2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22" name="Google Shape;422;p2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23" name="Google Shape;423;p2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17</a:t>
            </a:fld>
            <a:r>
              <a:rPr lang="en-US"/>
              <a:t> / 46</a:t>
            </a:r>
            <a:endParaRPr/>
          </a:p>
        </p:txBody>
      </p:sp>
      <p:pic>
        <p:nvPicPr>
          <p:cNvPr id="424" name="Google Shape;424;p23"/>
          <p:cNvPicPr preferRelativeResize="0"/>
          <p:nvPr/>
        </p:nvPicPr>
        <p:blipFill>
          <a:blip r:embed="rId4">
            <a:alphaModFix/>
          </a:blip>
          <a:stretch>
            <a:fillRect/>
          </a:stretch>
        </p:blipFill>
        <p:spPr>
          <a:xfrm>
            <a:off x="152400" y="550235"/>
            <a:ext cx="5345075" cy="2435037"/>
          </a:xfrm>
          <a:prstGeom prst="rect">
            <a:avLst/>
          </a:prstGeom>
          <a:noFill/>
          <a:ln>
            <a:noFill/>
          </a:ln>
        </p:spPr>
      </p:pic>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S</a:t>
            </a:r>
            <a:r>
              <a:rPr lang="en-US" cap="small">
                <a:solidFill>
                  <a:srgbClr val="FFFFFF"/>
                </a:solidFill>
              </a:rPr>
              <a:t>quared</a:t>
            </a:r>
            <a:r>
              <a:rPr lang="en-US">
                <a:solidFill>
                  <a:srgbClr val="FFFFFF"/>
                </a:solidFill>
              </a:rPr>
              <a:t> E</a:t>
            </a:r>
            <a:r>
              <a:rPr lang="en-US" cap="small">
                <a:solidFill>
                  <a:srgbClr val="FFFFFF"/>
                </a:solidFill>
              </a:rPr>
              <a:t>rror</a:t>
            </a:r>
            <a:r>
              <a:rPr lang="en-US">
                <a:solidFill>
                  <a:srgbClr val="FFFFFF"/>
                </a:solidFill>
              </a:rPr>
              <a:t>?</a:t>
            </a:r>
            <a:endParaRPr/>
          </a:p>
        </p:txBody>
      </p:sp>
      <p:grpSp>
        <p:nvGrpSpPr>
          <p:cNvPr id="430" name="Google Shape;430;p24"/>
          <p:cNvGrpSpPr/>
          <p:nvPr/>
        </p:nvGrpSpPr>
        <p:grpSpPr>
          <a:xfrm>
            <a:off x="513702" y="964844"/>
            <a:ext cx="69291" cy="733539"/>
            <a:chOff x="513702" y="964844"/>
            <a:chExt cx="69291" cy="733539"/>
          </a:xfrm>
        </p:grpSpPr>
        <p:pic>
          <p:nvPicPr>
            <p:cNvPr id="431" name="Google Shape;431;p24"/>
            <p:cNvPicPr preferRelativeResize="0"/>
            <p:nvPr/>
          </p:nvPicPr>
          <p:blipFill rotWithShape="1">
            <a:blip r:embed="rId3">
              <a:alphaModFix/>
            </a:blip>
            <a:srcRect/>
            <a:stretch/>
          </p:blipFill>
          <p:spPr>
            <a:xfrm>
              <a:off x="513702" y="964844"/>
              <a:ext cx="69291" cy="69291"/>
            </a:xfrm>
            <a:prstGeom prst="rect">
              <a:avLst/>
            </a:prstGeom>
            <a:noFill/>
            <a:ln>
              <a:noFill/>
            </a:ln>
          </p:spPr>
        </p:pic>
        <p:pic>
          <p:nvPicPr>
            <p:cNvPr id="432" name="Google Shape;432;p24"/>
            <p:cNvPicPr preferRelativeResize="0"/>
            <p:nvPr/>
          </p:nvPicPr>
          <p:blipFill rotWithShape="1">
            <a:blip r:embed="rId4">
              <a:alphaModFix/>
            </a:blip>
            <a:srcRect/>
            <a:stretch/>
          </p:blipFill>
          <p:spPr>
            <a:xfrm>
              <a:off x="513702" y="1186256"/>
              <a:ext cx="69291" cy="69291"/>
            </a:xfrm>
            <a:prstGeom prst="rect">
              <a:avLst/>
            </a:prstGeom>
            <a:noFill/>
            <a:ln>
              <a:noFill/>
            </a:ln>
          </p:spPr>
        </p:pic>
        <p:pic>
          <p:nvPicPr>
            <p:cNvPr id="433" name="Google Shape;433;p24"/>
            <p:cNvPicPr preferRelativeResize="0"/>
            <p:nvPr/>
          </p:nvPicPr>
          <p:blipFill rotWithShape="1">
            <a:blip r:embed="rId5">
              <a:alphaModFix/>
            </a:blip>
            <a:srcRect/>
            <a:stretch/>
          </p:blipFill>
          <p:spPr>
            <a:xfrm>
              <a:off x="513702" y="1407680"/>
              <a:ext cx="69291" cy="69291"/>
            </a:xfrm>
            <a:prstGeom prst="rect">
              <a:avLst/>
            </a:prstGeom>
            <a:noFill/>
            <a:ln>
              <a:noFill/>
            </a:ln>
          </p:spPr>
        </p:pic>
        <p:pic>
          <p:nvPicPr>
            <p:cNvPr id="434" name="Google Shape;434;p24"/>
            <p:cNvPicPr preferRelativeResize="0"/>
            <p:nvPr/>
          </p:nvPicPr>
          <p:blipFill rotWithShape="1">
            <a:blip r:embed="rId6">
              <a:alphaModFix/>
            </a:blip>
            <a:srcRect/>
            <a:stretch/>
          </p:blipFill>
          <p:spPr>
            <a:xfrm>
              <a:off x="513702" y="1629092"/>
              <a:ext cx="69291" cy="69291"/>
            </a:xfrm>
            <a:prstGeom prst="rect">
              <a:avLst/>
            </a:prstGeom>
            <a:noFill/>
            <a:ln>
              <a:noFill/>
            </a:ln>
          </p:spPr>
        </p:pic>
      </p:grpSp>
      <p:sp>
        <p:nvSpPr>
          <p:cNvPr id="435" name="Google Shape;435;p24"/>
          <p:cNvSpPr txBox="1"/>
          <p:nvPr/>
        </p:nvSpPr>
        <p:spPr>
          <a:xfrm>
            <a:off x="347294" y="608443"/>
            <a:ext cx="4394835" cy="1426210"/>
          </a:xfrm>
          <a:prstGeom prst="rect">
            <a:avLst/>
          </a:prstGeom>
          <a:noFill/>
          <a:ln>
            <a:noFill/>
          </a:ln>
        </p:spPr>
        <p:txBody>
          <a:bodyPr spcFirstLastPara="1" wrap="square" lIns="0" tIns="730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Advantages of squared error loss:</a:t>
            </a:r>
            <a:endParaRPr sz="1050">
              <a:latin typeface="Arial"/>
              <a:ea typeface="Arial"/>
              <a:cs typeface="Arial"/>
              <a:sym typeface="Arial"/>
            </a:endParaRPr>
          </a:p>
          <a:p>
            <a:pPr marL="309880" marR="922655" lvl="0" indent="0" algn="l" rtl="0">
              <a:lnSpc>
                <a:spcPct val="138400"/>
              </a:lnSpc>
              <a:spcBef>
                <a:spcPts val="0"/>
              </a:spcBef>
              <a:spcAft>
                <a:spcPts val="0"/>
              </a:spcAft>
              <a:buNone/>
            </a:pPr>
            <a:r>
              <a:rPr lang="en-US" sz="1050">
                <a:solidFill>
                  <a:srgbClr val="1B1472"/>
                </a:solidFill>
                <a:latin typeface="Arial"/>
                <a:ea typeface="Arial"/>
                <a:cs typeface="Arial"/>
                <a:sym typeface="Arial"/>
              </a:rPr>
              <a:t>Differentiable: </a:t>
            </a:r>
            <a:r>
              <a:rPr lang="en-US" sz="1050">
                <a:latin typeface="Arial"/>
                <a:ea typeface="Arial"/>
                <a:cs typeface="Arial"/>
                <a:sym typeface="Arial"/>
              </a:rPr>
              <a:t>Smooth everywhere, easy to optimize </a:t>
            </a:r>
            <a:r>
              <a:rPr lang="en-US" sz="1050">
                <a:solidFill>
                  <a:srgbClr val="1B1472"/>
                </a:solidFill>
                <a:latin typeface="Arial"/>
                <a:ea typeface="Arial"/>
                <a:cs typeface="Arial"/>
                <a:sym typeface="Arial"/>
              </a:rPr>
              <a:t>Convex: </a:t>
            </a:r>
            <a:r>
              <a:rPr lang="en-US" sz="1050">
                <a:latin typeface="Arial"/>
                <a:ea typeface="Arial"/>
                <a:cs typeface="Arial"/>
                <a:sym typeface="Arial"/>
              </a:rPr>
              <a:t>Single global minimum (for linear models) </a:t>
            </a:r>
            <a:r>
              <a:rPr lang="en-US" sz="1050">
                <a:solidFill>
                  <a:srgbClr val="1B1472"/>
                </a:solidFill>
                <a:latin typeface="Arial"/>
                <a:ea typeface="Arial"/>
                <a:cs typeface="Arial"/>
                <a:sym typeface="Arial"/>
              </a:rPr>
              <a:t>Penalizes large errors: </a:t>
            </a:r>
            <a:r>
              <a:rPr lang="en-US" sz="1050">
                <a:latin typeface="Arial"/>
                <a:ea typeface="Arial"/>
                <a:cs typeface="Arial"/>
                <a:sym typeface="Arial"/>
              </a:rPr>
              <a:t>Quadratic growth</a:t>
            </a:r>
            <a:endParaRPr sz="1050">
              <a:latin typeface="Arial"/>
              <a:ea typeface="Arial"/>
              <a:cs typeface="Arial"/>
              <a:sym typeface="Arial"/>
            </a:endParaRPr>
          </a:p>
          <a:p>
            <a:pPr marL="309880" lvl="0" indent="0" algn="l" rtl="0">
              <a:lnSpc>
                <a:spcPct val="100000"/>
              </a:lnSpc>
              <a:spcBef>
                <a:spcPts val="484"/>
              </a:spcBef>
              <a:spcAft>
                <a:spcPts val="0"/>
              </a:spcAft>
              <a:buNone/>
            </a:pPr>
            <a:r>
              <a:rPr lang="en-US" sz="1050">
                <a:solidFill>
                  <a:srgbClr val="1B1472"/>
                </a:solidFill>
                <a:latin typeface="Arial"/>
                <a:ea typeface="Arial"/>
                <a:cs typeface="Arial"/>
                <a:sym typeface="Arial"/>
              </a:rPr>
              <a:t>Statistical interpretation: </a:t>
            </a:r>
            <a:r>
              <a:rPr lang="en-US" sz="1050">
                <a:latin typeface="Arial"/>
                <a:ea typeface="Arial"/>
                <a:cs typeface="Arial"/>
                <a:sym typeface="Arial"/>
              </a:rPr>
              <a:t>Maximum likelihood under Gaussian noise</a:t>
            </a:r>
            <a:endParaRPr sz="1050">
              <a:latin typeface="Arial"/>
              <a:ea typeface="Arial"/>
              <a:cs typeface="Arial"/>
              <a:sym typeface="Arial"/>
            </a:endParaRPr>
          </a:p>
          <a:p>
            <a:pPr marL="12700" lvl="0" indent="0" algn="l" rtl="0">
              <a:lnSpc>
                <a:spcPct val="100000"/>
              </a:lnSpc>
              <a:spcBef>
                <a:spcPts val="1050"/>
              </a:spcBef>
              <a:spcAft>
                <a:spcPts val="0"/>
              </a:spcAft>
              <a:buNone/>
            </a:pPr>
            <a:r>
              <a:rPr lang="en-US" sz="1050">
                <a:solidFill>
                  <a:srgbClr val="1B1472"/>
                </a:solidFill>
                <a:latin typeface="Arial"/>
                <a:ea typeface="Arial"/>
                <a:cs typeface="Arial"/>
                <a:sym typeface="Arial"/>
              </a:rPr>
              <a:t>Vector Form:</a:t>
            </a:r>
            <a:endParaRPr sz="1050">
              <a:latin typeface="Arial"/>
              <a:ea typeface="Arial"/>
              <a:cs typeface="Arial"/>
              <a:sym typeface="Arial"/>
            </a:endParaRPr>
          </a:p>
        </p:txBody>
      </p:sp>
      <p:sp>
        <p:nvSpPr>
          <p:cNvPr id="436" name="Google Shape;436;p24"/>
          <p:cNvSpPr txBox="1"/>
          <p:nvPr/>
        </p:nvSpPr>
        <p:spPr>
          <a:xfrm>
            <a:off x="5220322" y="2210706"/>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(8)</a:t>
            </a:r>
            <a:endParaRPr sz="1050">
              <a:latin typeface="Arial"/>
              <a:ea typeface="Arial"/>
              <a:cs typeface="Arial"/>
              <a:sym typeface="Arial"/>
            </a:endParaRPr>
          </a:p>
        </p:txBody>
      </p:sp>
      <p:sp>
        <p:nvSpPr>
          <p:cNvPr id="437" name="Google Shape;437;p24"/>
          <p:cNvSpPr txBox="1"/>
          <p:nvPr/>
        </p:nvSpPr>
        <p:spPr>
          <a:xfrm>
            <a:off x="321894" y="2595166"/>
            <a:ext cx="447421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where </a:t>
            </a:r>
            <a:r>
              <a:rPr lang="en-US" sz="1050" b="1">
                <a:latin typeface="Arial"/>
                <a:ea typeface="Arial"/>
                <a:cs typeface="Arial"/>
                <a:sym typeface="Arial"/>
              </a:rPr>
              <a:t>X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N</a:t>
            </a:r>
            <a:r>
              <a:rPr lang="en-US" sz="1200" baseline="30000">
                <a:latin typeface="Lucida Sans"/>
                <a:ea typeface="Lucida Sans"/>
                <a:cs typeface="Lucida Sans"/>
                <a:sym typeface="Lucida Sans"/>
              </a:rPr>
              <a:t>×</a:t>
            </a:r>
            <a:r>
              <a:rPr lang="en-US" sz="1200" baseline="30000">
                <a:latin typeface="Tahoma"/>
                <a:ea typeface="Tahoma"/>
                <a:cs typeface="Tahoma"/>
                <a:sym typeface="Tahoma"/>
              </a:rPr>
              <a:t>(</a:t>
            </a:r>
            <a:r>
              <a:rPr lang="en-US" sz="1050" i="1" baseline="30000">
                <a:latin typeface="Arial"/>
                <a:ea typeface="Arial"/>
                <a:cs typeface="Arial"/>
                <a:sym typeface="Arial"/>
              </a:rPr>
              <a:t>d </a:t>
            </a:r>
            <a:r>
              <a:rPr lang="en-US" sz="1200" baseline="30000">
                <a:latin typeface="Tahoma"/>
                <a:ea typeface="Tahoma"/>
                <a:cs typeface="Tahoma"/>
                <a:sym typeface="Tahoma"/>
              </a:rPr>
              <a:t>+</a:t>
            </a:r>
            <a:r>
              <a:rPr lang="en-US" sz="1050" baseline="30000">
                <a:latin typeface="Arial"/>
                <a:ea typeface="Arial"/>
                <a:cs typeface="Arial"/>
                <a:sym typeface="Arial"/>
              </a:rPr>
              <a:t>1</a:t>
            </a:r>
            <a:r>
              <a:rPr lang="en-US" sz="1200" baseline="30000">
                <a:latin typeface="Tahoma"/>
                <a:ea typeface="Tahoma"/>
                <a:cs typeface="Tahoma"/>
                <a:sym typeface="Tahoma"/>
              </a:rPr>
              <a:t>) </a:t>
            </a:r>
            <a:r>
              <a:rPr lang="en-US" sz="1050">
                <a:latin typeface="Arial"/>
                <a:ea typeface="Arial"/>
                <a:cs typeface="Arial"/>
                <a:sym typeface="Arial"/>
              </a:rPr>
              <a:t>is the design matrix and </a:t>
            </a:r>
            <a:r>
              <a:rPr lang="en-US" sz="1050" b="1">
                <a:latin typeface="Arial"/>
                <a:ea typeface="Arial"/>
                <a:cs typeface="Arial"/>
                <a:sym typeface="Arial"/>
              </a:rPr>
              <a:t>y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N </a:t>
            </a:r>
            <a:r>
              <a:rPr lang="en-US" sz="1050">
                <a:latin typeface="Arial"/>
                <a:ea typeface="Arial"/>
                <a:cs typeface="Arial"/>
                <a:sym typeface="Arial"/>
              </a:rPr>
              <a:t>is the target vector.</a:t>
            </a:r>
            <a:endParaRPr sz="1050">
              <a:latin typeface="Arial"/>
              <a:ea typeface="Arial"/>
              <a:cs typeface="Arial"/>
              <a:sym typeface="Arial"/>
            </a:endParaRPr>
          </a:p>
        </p:txBody>
      </p:sp>
      <p:grpSp>
        <p:nvGrpSpPr>
          <p:cNvPr id="438" name="Google Shape;438;p24"/>
          <p:cNvGrpSpPr/>
          <p:nvPr/>
        </p:nvGrpSpPr>
        <p:grpSpPr>
          <a:xfrm>
            <a:off x="0" y="3141936"/>
            <a:ext cx="5760261" cy="92075"/>
            <a:chOff x="0" y="3141936"/>
            <a:chExt cx="5760261" cy="92075"/>
          </a:xfrm>
        </p:grpSpPr>
        <p:sp>
          <p:nvSpPr>
            <p:cNvPr id="439" name="Google Shape;439;p2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0" name="Google Shape;440;p2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1" name="Google Shape;441;p2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42" name="Google Shape;442;p2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43" name="Google Shape;443;p2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444" name="Google Shape;444;p2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46</a:t>
            </a:r>
            <a:endParaRPr/>
          </a:p>
        </p:txBody>
      </p:sp>
      <p:pic>
        <p:nvPicPr>
          <p:cNvPr id="445" name="Google Shape;445;p24"/>
          <p:cNvPicPr preferRelativeResize="0"/>
          <p:nvPr/>
        </p:nvPicPr>
        <p:blipFill>
          <a:blip r:embed="rId8">
            <a:alphaModFix/>
          </a:blip>
          <a:stretch>
            <a:fillRect/>
          </a:stretch>
        </p:blipFill>
        <p:spPr>
          <a:xfrm>
            <a:off x="1302475" y="2119155"/>
            <a:ext cx="3200573" cy="512271"/>
          </a:xfrm>
          <a:prstGeom prst="rect">
            <a:avLst/>
          </a:prstGeom>
          <a:noFill/>
          <a:ln>
            <a:noFill/>
          </a:ln>
        </p:spPr>
      </p:pic>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25"/>
          <p:cNvSpPr txBox="1"/>
          <p:nvPr/>
        </p:nvSpPr>
        <p:spPr>
          <a:xfrm>
            <a:off x="95300" y="109545"/>
            <a:ext cx="346837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V</a:t>
            </a:r>
            <a:r>
              <a:rPr lang="en-US" sz="1700" cap="small">
                <a:solidFill>
                  <a:srgbClr val="FFFFFF"/>
                </a:solidFill>
                <a:latin typeface="Calibri"/>
                <a:ea typeface="Calibri"/>
                <a:cs typeface="Calibri"/>
                <a:sym typeface="Calibri"/>
              </a:rPr>
              <a:t>isualizing</a:t>
            </a:r>
            <a:r>
              <a:rPr lang="en-US" sz="1700">
                <a:solidFill>
                  <a:srgbClr val="FFFFFF"/>
                </a:solidFill>
                <a:latin typeface="Calibri"/>
                <a:ea typeface="Calibri"/>
                <a:cs typeface="Calibri"/>
                <a:sym typeface="Calibri"/>
              </a:rPr>
              <a:t> </a:t>
            </a:r>
            <a:r>
              <a:rPr lang="en-US" sz="1700" cap="small">
                <a:solidFill>
                  <a:srgbClr val="FFFFFF"/>
                </a:solidFill>
                <a:latin typeface="Calibri"/>
                <a:ea typeface="Calibri"/>
                <a:cs typeface="Calibri"/>
                <a:sym typeface="Calibri"/>
              </a:rPr>
              <a:t>the</a:t>
            </a:r>
            <a:r>
              <a:rPr lang="en-US" sz="1700">
                <a:solidFill>
                  <a:srgbClr val="FFFFFF"/>
                </a:solidFill>
                <a:latin typeface="Calibri"/>
                <a:ea typeface="Calibri"/>
                <a:cs typeface="Calibri"/>
                <a:sym typeface="Calibri"/>
              </a:rPr>
              <a:t> E</a:t>
            </a:r>
            <a:r>
              <a:rPr lang="en-US" sz="1700" cap="small">
                <a:solidFill>
                  <a:srgbClr val="FFFFFF"/>
                </a:solidFill>
                <a:latin typeface="Calibri"/>
                <a:ea typeface="Calibri"/>
                <a:cs typeface="Calibri"/>
                <a:sym typeface="Calibri"/>
              </a:rPr>
              <a:t>rror</a:t>
            </a:r>
            <a:r>
              <a:rPr lang="en-US" sz="1700">
                <a:solidFill>
                  <a:srgbClr val="FFFFFF"/>
                </a:solidFill>
                <a:latin typeface="Calibri"/>
                <a:ea typeface="Calibri"/>
                <a:cs typeface="Calibri"/>
                <a:sym typeface="Calibri"/>
              </a:rPr>
              <a:t> S</a:t>
            </a:r>
            <a:r>
              <a:rPr lang="en-US" sz="1700" cap="small">
                <a:solidFill>
                  <a:srgbClr val="FFFFFF"/>
                </a:solidFill>
                <a:latin typeface="Calibri"/>
                <a:ea typeface="Calibri"/>
                <a:cs typeface="Calibri"/>
                <a:sym typeface="Calibri"/>
              </a:rPr>
              <a:t>urface</a:t>
            </a:r>
            <a:endParaRPr sz="1700">
              <a:latin typeface="Calibri"/>
              <a:ea typeface="Calibri"/>
              <a:cs typeface="Calibri"/>
              <a:sym typeface="Calibri"/>
            </a:endParaRPr>
          </a:p>
        </p:txBody>
      </p:sp>
      <p:grpSp>
        <p:nvGrpSpPr>
          <p:cNvPr id="451" name="Google Shape;451;p25"/>
          <p:cNvGrpSpPr/>
          <p:nvPr/>
        </p:nvGrpSpPr>
        <p:grpSpPr>
          <a:xfrm>
            <a:off x="0" y="635571"/>
            <a:ext cx="5760261" cy="2598440"/>
            <a:chOff x="0" y="635571"/>
            <a:chExt cx="5760261" cy="2598440"/>
          </a:xfrm>
        </p:grpSpPr>
        <p:pic>
          <p:nvPicPr>
            <p:cNvPr id="452" name="Google Shape;452;p25"/>
            <p:cNvPicPr preferRelativeResize="0"/>
            <p:nvPr/>
          </p:nvPicPr>
          <p:blipFill rotWithShape="1">
            <a:blip r:embed="rId3">
              <a:alphaModFix/>
            </a:blip>
            <a:srcRect/>
            <a:stretch/>
          </p:blipFill>
          <p:spPr>
            <a:xfrm>
              <a:off x="385190" y="635571"/>
              <a:ext cx="4989538" cy="1881936"/>
            </a:xfrm>
            <a:prstGeom prst="rect">
              <a:avLst/>
            </a:prstGeom>
            <a:noFill/>
            <a:ln>
              <a:noFill/>
            </a:ln>
          </p:spPr>
        </p:pic>
        <p:sp>
          <p:nvSpPr>
            <p:cNvPr id="453" name="Google Shape;453;p25"/>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4" name="Google Shape;454;p25"/>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5" name="Google Shape;455;p25"/>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56" name="Google Shape;456;p25"/>
          <p:cNvSpPr txBox="1"/>
          <p:nvPr/>
        </p:nvSpPr>
        <p:spPr>
          <a:xfrm>
            <a:off x="1136218" y="2623621"/>
            <a:ext cx="3488054"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The error surface is </a:t>
            </a:r>
            <a:r>
              <a:rPr lang="en-US" sz="1050">
                <a:solidFill>
                  <a:srgbClr val="1B1472"/>
                </a:solidFill>
                <a:latin typeface="Arial"/>
                <a:ea typeface="Arial"/>
                <a:cs typeface="Arial"/>
                <a:sym typeface="Arial"/>
              </a:rPr>
              <a:t>convex </a:t>
            </a:r>
            <a:r>
              <a:rPr lang="en-US" sz="1050">
                <a:latin typeface="Arial"/>
                <a:ea typeface="Arial"/>
                <a:cs typeface="Arial"/>
                <a:sym typeface="Arial"/>
              </a:rPr>
              <a:t>with a single global minimum.</a:t>
            </a:r>
            <a:endParaRPr sz="1050">
              <a:latin typeface="Arial"/>
              <a:ea typeface="Arial"/>
              <a:cs typeface="Arial"/>
              <a:sym typeface="Arial"/>
            </a:endParaRPr>
          </a:p>
        </p:txBody>
      </p:sp>
      <p:sp>
        <p:nvSpPr>
          <p:cNvPr id="457" name="Google Shape;457;p2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58" name="Google Shape;458;p2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459" name="Google Shape;459;p2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19</a:t>
            </a:fld>
            <a:r>
              <a:rPr lang="en-US"/>
              <a:t> / 46</a:t>
            </a:r>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6"/>
          <p:cNvSpPr txBox="1">
            <a:spLocks noGrp="1"/>
          </p:cNvSpPr>
          <p:nvPr>
            <p:ph type="ctrTitle"/>
          </p:nvPr>
        </p:nvSpPr>
        <p:spPr>
          <a:xfrm>
            <a:off x="95300" y="109545"/>
            <a:ext cx="3342004"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A</a:t>
            </a:r>
            <a:r>
              <a:rPr lang="en-US" cap="small">
                <a:solidFill>
                  <a:srgbClr val="FFFFFF"/>
                </a:solidFill>
              </a:rPr>
              <a:t>lgorithm</a:t>
            </a:r>
            <a:endParaRPr/>
          </a:p>
        </p:txBody>
      </p:sp>
      <p:sp>
        <p:nvSpPr>
          <p:cNvPr id="465" name="Google Shape;465;p26"/>
          <p:cNvSpPr txBox="1"/>
          <p:nvPr/>
        </p:nvSpPr>
        <p:spPr>
          <a:xfrm>
            <a:off x="347294" y="470527"/>
            <a:ext cx="406209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Idea: </a:t>
            </a:r>
            <a:r>
              <a:rPr lang="en-US" sz="1050">
                <a:latin typeface="Arial"/>
                <a:ea typeface="Arial"/>
                <a:cs typeface="Arial"/>
                <a:sym typeface="Arial"/>
              </a:rPr>
              <a:t>Iteratively update weights in the direction of steepest descent</a:t>
            </a:r>
            <a:endParaRPr sz="1050">
              <a:latin typeface="Arial"/>
              <a:ea typeface="Arial"/>
              <a:cs typeface="Arial"/>
              <a:sym typeface="Arial"/>
            </a:endParaRPr>
          </a:p>
        </p:txBody>
      </p:sp>
      <p:pic>
        <p:nvPicPr>
          <p:cNvPr id="466" name="Google Shape;466;p26"/>
          <p:cNvPicPr preferRelativeResize="0"/>
          <p:nvPr/>
        </p:nvPicPr>
        <p:blipFill rotWithShape="1">
          <a:blip r:embed="rId3">
            <a:alphaModFix/>
          </a:blip>
          <a:srcRect/>
          <a:stretch/>
        </p:blipFill>
        <p:spPr>
          <a:xfrm>
            <a:off x="1340129" y="833323"/>
            <a:ext cx="3079750" cy="1746250"/>
          </a:xfrm>
          <a:prstGeom prst="rect">
            <a:avLst/>
          </a:prstGeom>
          <a:noFill/>
          <a:ln>
            <a:noFill/>
          </a:ln>
        </p:spPr>
      </p:pic>
      <p:sp>
        <p:nvSpPr>
          <p:cNvPr id="467" name="Google Shape;467;p26"/>
          <p:cNvSpPr txBox="1"/>
          <p:nvPr/>
        </p:nvSpPr>
        <p:spPr>
          <a:xfrm>
            <a:off x="347294" y="2638621"/>
            <a:ext cx="3940810" cy="482600"/>
          </a:xfrm>
          <a:prstGeom prst="rect">
            <a:avLst/>
          </a:prstGeom>
          <a:noFill/>
          <a:ln>
            <a:noFill/>
          </a:ln>
        </p:spPr>
        <p:txBody>
          <a:bodyPr spcFirstLastPara="1" wrap="square" lIns="0" tIns="704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where </a:t>
            </a:r>
            <a:r>
              <a:rPr lang="en-US" sz="1200" i="1">
                <a:latin typeface="Calibri"/>
                <a:ea typeface="Calibri"/>
                <a:cs typeface="Calibri"/>
                <a:sym typeface="Calibri"/>
              </a:rPr>
              <a:t>η &gt; </a:t>
            </a:r>
            <a:r>
              <a:rPr lang="en-US" sz="1050">
                <a:latin typeface="Arial"/>
                <a:ea typeface="Arial"/>
                <a:cs typeface="Arial"/>
                <a:sym typeface="Arial"/>
              </a:rPr>
              <a:t>0 is the </a:t>
            </a:r>
            <a:r>
              <a:rPr lang="en-US" sz="1050">
                <a:solidFill>
                  <a:srgbClr val="1B1472"/>
                </a:solidFill>
                <a:latin typeface="Arial"/>
                <a:ea typeface="Arial"/>
                <a:cs typeface="Arial"/>
                <a:sym typeface="Arial"/>
              </a:rPr>
              <a:t>learning rate </a:t>
            </a:r>
            <a:r>
              <a:rPr lang="en-US" sz="1050">
                <a:latin typeface="Arial"/>
                <a:ea typeface="Arial"/>
                <a:cs typeface="Arial"/>
                <a:sym typeface="Arial"/>
              </a:rPr>
              <a:t>(step size).</a:t>
            </a:r>
            <a:endParaRPr sz="1050">
              <a:latin typeface="Arial"/>
              <a:ea typeface="Arial"/>
              <a:cs typeface="Arial"/>
              <a:sym typeface="Arial"/>
            </a:endParaRPr>
          </a:p>
          <a:p>
            <a:pPr marL="12700" lvl="0" indent="0" algn="l" rtl="0">
              <a:lnSpc>
                <a:spcPct val="100000"/>
              </a:lnSpc>
              <a:spcBef>
                <a:spcPts val="434"/>
              </a:spcBef>
              <a:spcAft>
                <a:spcPts val="0"/>
              </a:spcAft>
              <a:buNone/>
            </a:pPr>
            <a:r>
              <a:rPr lang="en-US" sz="1050">
                <a:solidFill>
                  <a:srgbClr val="EC2027"/>
                </a:solidFill>
                <a:latin typeface="Arial"/>
                <a:ea typeface="Arial"/>
                <a:cs typeface="Arial"/>
                <a:sym typeface="Arial"/>
              </a:rPr>
              <a:t>Intuition: Move downhill on the error surface to find the minimum.</a:t>
            </a:r>
            <a:endParaRPr sz="1050">
              <a:latin typeface="Arial"/>
              <a:ea typeface="Arial"/>
              <a:cs typeface="Arial"/>
              <a:sym typeface="Arial"/>
            </a:endParaRPr>
          </a:p>
        </p:txBody>
      </p:sp>
      <p:grpSp>
        <p:nvGrpSpPr>
          <p:cNvPr id="468" name="Google Shape;468;p26"/>
          <p:cNvGrpSpPr/>
          <p:nvPr/>
        </p:nvGrpSpPr>
        <p:grpSpPr>
          <a:xfrm>
            <a:off x="0" y="3141936"/>
            <a:ext cx="5760261" cy="92075"/>
            <a:chOff x="0" y="3141936"/>
            <a:chExt cx="5760261" cy="92075"/>
          </a:xfrm>
        </p:grpSpPr>
        <p:sp>
          <p:nvSpPr>
            <p:cNvPr id="469" name="Google Shape;469;p26"/>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0" name="Google Shape;470;p26"/>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1" name="Google Shape;471;p26"/>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2" name="Google Shape;472;p2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73" name="Google Shape;473;p2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474" name="Google Shape;474;p2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20</a:t>
            </a:fld>
            <a:r>
              <a:rPr lang="en-US"/>
              <a:t> / 46</a:t>
            </a:r>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2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B</a:t>
            </a:r>
            <a:r>
              <a:rPr lang="en-US" cap="small">
                <a:solidFill>
                  <a:srgbClr val="FFFFFF"/>
                </a:solidFill>
              </a:rPr>
              <a:t>atch</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A</a:t>
            </a:r>
            <a:r>
              <a:rPr lang="en-US" cap="small">
                <a:solidFill>
                  <a:srgbClr val="FFFFFF"/>
                </a:solidFill>
              </a:rPr>
              <a:t>lgorithm</a:t>
            </a:r>
            <a:endParaRPr/>
          </a:p>
        </p:txBody>
      </p:sp>
      <p:sp>
        <p:nvSpPr>
          <p:cNvPr id="480" name="Google Shape;480;p2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81" name="Google Shape;481;p2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82" name="Google Shape;482;p2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21</a:t>
            </a:fld>
            <a:r>
              <a:rPr lang="en-US"/>
              <a:t> / 46</a:t>
            </a:r>
            <a:endParaRPr/>
          </a:p>
        </p:txBody>
      </p:sp>
      <p:pic>
        <p:nvPicPr>
          <p:cNvPr id="483" name="Google Shape;483;p27"/>
          <p:cNvPicPr preferRelativeResize="0"/>
          <p:nvPr/>
        </p:nvPicPr>
        <p:blipFill>
          <a:blip r:embed="rId4">
            <a:alphaModFix/>
          </a:blip>
          <a:stretch>
            <a:fillRect/>
          </a:stretch>
        </p:blipFill>
        <p:spPr>
          <a:xfrm>
            <a:off x="152400" y="550235"/>
            <a:ext cx="5249428" cy="2435038"/>
          </a:xfrm>
          <a:prstGeom prst="rect">
            <a:avLst/>
          </a:prstGeom>
          <a:noFill/>
          <a:ln>
            <a:noFill/>
          </a:ln>
        </p:spPr>
      </p:pic>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2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omputing</a:t>
            </a:r>
            <a:r>
              <a:rPr lang="en-US">
                <a:solidFill>
                  <a:srgbClr val="FFFFFF"/>
                </a:solidFill>
              </a:rPr>
              <a:t> </a:t>
            </a:r>
            <a:r>
              <a:rPr lang="en-US" cap="small">
                <a:solidFill>
                  <a:srgbClr val="FFFFFF"/>
                </a:solidFill>
              </a:rPr>
              <a:t>the</a:t>
            </a:r>
            <a:r>
              <a:rPr lang="en-US">
                <a:solidFill>
                  <a:srgbClr val="FFFFFF"/>
                </a:solidFill>
              </a:rPr>
              <a:t> G</a:t>
            </a:r>
            <a:r>
              <a:rPr lang="en-US" cap="small">
                <a:solidFill>
                  <a:srgbClr val="FFFFFF"/>
                </a:solidFill>
              </a:rPr>
              <a:t>radient</a:t>
            </a:r>
            <a:endParaRPr/>
          </a:p>
        </p:txBody>
      </p:sp>
      <p:grpSp>
        <p:nvGrpSpPr>
          <p:cNvPr id="489" name="Google Shape;489;p28"/>
          <p:cNvGrpSpPr/>
          <p:nvPr/>
        </p:nvGrpSpPr>
        <p:grpSpPr>
          <a:xfrm>
            <a:off x="0" y="3109250"/>
            <a:ext cx="5760261" cy="92075"/>
            <a:chOff x="0" y="3109250"/>
            <a:chExt cx="5760261" cy="92075"/>
          </a:xfrm>
        </p:grpSpPr>
        <p:sp>
          <p:nvSpPr>
            <p:cNvPr id="490" name="Google Shape;490;p2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1" name="Google Shape;491;p2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2" name="Google Shape;492;p2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93" name="Google Shape;493;p2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94" name="Google Shape;494;p2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95" name="Google Shape;495;p2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22</a:t>
            </a:fld>
            <a:r>
              <a:rPr lang="en-US"/>
              <a:t> / 46</a:t>
            </a:r>
            <a:endParaRPr/>
          </a:p>
        </p:txBody>
      </p:sp>
      <p:pic>
        <p:nvPicPr>
          <p:cNvPr id="496" name="Google Shape;496;p28"/>
          <p:cNvPicPr preferRelativeResize="0"/>
          <p:nvPr/>
        </p:nvPicPr>
        <p:blipFill>
          <a:blip r:embed="rId4">
            <a:alphaModFix/>
          </a:blip>
          <a:stretch>
            <a:fillRect/>
          </a:stretch>
        </p:blipFill>
        <p:spPr>
          <a:xfrm>
            <a:off x="152400" y="550235"/>
            <a:ext cx="5410263" cy="2406616"/>
          </a:xfrm>
          <a:prstGeom prst="rect">
            <a:avLst/>
          </a:prstGeom>
          <a:noFill/>
          <a:ln>
            <a:noFill/>
          </a:ln>
        </p:spPr>
      </p:pic>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2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U</a:t>
            </a:r>
            <a:r>
              <a:rPr lang="en-US" cap="small">
                <a:solidFill>
                  <a:srgbClr val="FFFFFF"/>
                </a:solidFill>
              </a:rPr>
              <a:t>pdate</a:t>
            </a:r>
            <a:r>
              <a:rPr lang="en-US">
                <a:solidFill>
                  <a:srgbClr val="FFFFFF"/>
                </a:solidFill>
              </a:rPr>
              <a:t> R</a:t>
            </a:r>
            <a:r>
              <a:rPr lang="en-US" cap="small">
                <a:solidFill>
                  <a:srgbClr val="FFFFFF"/>
                </a:solidFill>
              </a:rPr>
              <a:t>ule</a:t>
            </a:r>
            <a:endParaRPr/>
          </a:p>
        </p:txBody>
      </p:sp>
      <p:grpSp>
        <p:nvGrpSpPr>
          <p:cNvPr id="502" name="Google Shape;502;p29"/>
          <p:cNvGrpSpPr/>
          <p:nvPr/>
        </p:nvGrpSpPr>
        <p:grpSpPr>
          <a:xfrm>
            <a:off x="0" y="3109250"/>
            <a:ext cx="5760261" cy="92075"/>
            <a:chOff x="0" y="3109250"/>
            <a:chExt cx="5760261" cy="92075"/>
          </a:xfrm>
        </p:grpSpPr>
        <p:sp>
          <p:nvSpPr>
            <p:cNvPr id="503" name="Google Shape;503;p2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4" name="Google Shape;504;p2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5" name="Google Shape;505;p2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06" name="Google Shape;506;p2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07" name="Google Shape;507;p2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08" name="Google Shape;508;p2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46</a:t>
            </a:r>
            <a:endParaRPr/>
          </a:p>
        </p:txBody>
      </p:sp>
      <p:pic>
        <p:nvPicPr>
          <p:cNvPr id="509" name="Google Shape;509;p29"/>
          <p:cNvPicPr preferRelativeResize="0"/>
          <p:nvPr/>
        </p:nvPicPr>
        <p:blipFill>
          <a:blip r:embed="rId4">
            <a:alphaModFix/>
          </a:blip>
          <a:stretch>
            <a:fillRect/>
          </a:stretch>
        </p:blipFill>
        <p:spPr>
          <a:xfrm>
            <a:off x="152400" y="550235"/>
            <a:ext cx="5334144" cy="2406616"/>
          </a:xfrm>
          <a:prstGeom prst="rect">
            <a:avLst/>
          </a:prstGeom>
          <a:noFill/>
          <a:ln>
            <a:noFill/>
          </a:ln>
        </p:spPr>
      </p:pic>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V</a:t>
            </a:r>
            <a:r>
              <a:rPr lang="en-US" cap="small">
                <a:solidFill>
                  <a:srgbClr val="FFFFFF"/>
                </a:solidFill>
              </a:rPr>
              <a:t>isualizing</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endParaRPr/>
          </a:p>
        </p:txBody>
      </p:sp>
      <p:grpSp>
        <p:nvGrpSpPr>
          <p:cNvPr id="515" name="Google Shape;515;p30"/>
          <p:cNvGrpSpPr/>
          <p:nvPr/>
        </p:nvGrpSpPr>
        <p:grpSpPr>
          <a:xfrm>
            <a:off x="0" y="744120"/>
            <a:ext cx="5760261" cy="2457205"/>
            <a:chOff x="0" y="744120"/>
            <a:chExt cx="5760261" cy="2457205"/>
          </a:xfrm>
        </p:grpSpPr>
        <p:pic>
          <p:nvPicPr>
            <p:cNvPr id="516" name="Google Shape;516;p30"/>
            <p:cNvPicPr preferRelativeResize="0"/>
            <p:nvPr/>
          </p:nvPicPr>
          <p:blipFill rotWithShape="1">
            <a:blip r:embed="rId3">
              <a:alphaModFix/>
            </a:blip>
            <a:srcRect/>
            <a:stretch/>
          </p:blipFill>
          <p:spPr>
            <a:xfrm>
              <a:off x="385190" y="744120"/>
              <a:ext cx="4989456" cy="1504528"/>
            </a:xfrm>
            <a:prstGeom prst="rect">
              <a:avLst/>
            </a:prstGeom>
            <a:noFill/>
            <a:ln>
              <a:noFill/>
            </a:ln>
          </p:spPr>
        </p:pic>
        <p:sp>
          <p:nvSpPr>
            <p:cNvPr id="517" name="Google Shape;517;p3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8" name="Google Shape;518;p3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3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20" name="Google Shape;520;p30"/>
          <p:cNvSpPr txBox="1"/>
          <p:nvPr/>
        </p:nvSpPr>
        <p:spPr>
          <a:xfrm>
            <a:off x="778471" y="2462763"/>
            <a:ext cx="42037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Each step moves perpendicular to contour lines toward the minimum.</a:t>
            </a:r>
            <a:endParaRPr sz="1050">
              <a:latin typeface="Arial"/>
              <a:ea typeface="Arial"/>
              <a:cs typeface="Arial"/>
              <a:sym typeface="Arial"/>
            </a:endParaRPr>
          </a:p>
        </p:txBody>
      </p:sp>
      <p:sp>
        <p:nvSpPr>
          <p:cNvPr id="521" name="Google Shape;521;p3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22" name="Google Shape;522;p3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523" name="Google Shape;523;p3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24</a:t>
            </a:fld>
            <a:r>
              <a:rPr lang="en-US"/>
              <a:t> / 46</a:t>
            </a:r>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3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529" name="Google Shape;529;p31"/>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530" name="Google Shape;530;p31"/>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531" name="Google Shape;531;p31"/>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532" name="Google Shape;532;p31"/>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533" name="Google Shape;533;p31"/>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534" name="Google Shape;534;p31"/>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535" name="Google Shape;535;p31"/>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536" name="Google Shape;536;p31"/>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4</a:t>
            </a:r>
            <a:endParaRPr sz="800">
              <a:latin typeface="Calibri"/>
              <a:ea typeface="Calibri"/>
              <a:cs typeface="Calibri"/>
              <a:sym typeface="Calibri"/>
            </a:endParaRPr>
          </a:p>
        </p:txBody>
      </p:sp>
      <p:pic>
        <p:nvPicPr>
          <p:cNvPr id="537" name="Google Shape;537;p31"/>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538" name="Google Shape;538;p31"/>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539" name="Google Shape;539;p31"/>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540" name="Google Shape;540;p31"/>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541" name="Google Shape;541;p31"/>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542" name="Google Shape;542;p31"/>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543" name="Google Shape;543;p31"/>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544" name="Google Shape;544;p31"/>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545" name="Google Shape;545;p31"/>
          <p:cNvSpPr txBox="1"/>
          <p:nvPr/>
        </p:nvSpPr>
        <p:spPr>
          <a:xfrm>
            <a:off x="563029" y="587895"/>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546" name="Google Shape;546;p31"/>
          <p:cNvGrpSpPr/>
          <p:nvPr/>
        </p:nvGrpSpPr>
        <p:grpSpPr>
          <a:xfrm>
            <a:off x="0" y="3141936"/>
            <a:ext cx="5760261" cy="92075"/>
            <a:chOff x="0" y="3141936"/>
            <a:chExt cx="5760261" cy="92075"/>
          </a:xfrm>
        </p:grpSpPr>
        <p:sp>
          <p:nvSpPr>
            <p:cNvPr id="547" name="Google Shape;547;p3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8" name="Google Shape;548;p3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9" name="Google Shape;549;p3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0" name="Google Shape;550;p3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51" name="Google Shape;551;p3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552" name="Google Shape;552;p3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46</a:t>
            </a:r>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3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etup</a:t>
            </a:r>
            <a:endParaRPr/>
          </a:p>
        </p:txBody>
      </p:sp>
      <p:grpSp>
        <p:nvGrpSpPr>
          <p:cNvPr id="558" name="Google Shape;558;p32"/>
          <p:cNvGrpSpPr/>
          <p:nvPr/>
        </p:nvGrpSpPr>
        <p:grpSpPr>
          <a:xfrm>
            <a:off x="0" y="3141936"/>
            <a:ext cx="5760261" cy="92075"/>
            <a:chOff x="0" y="3141936"/>
            <a:chExt cx="5760261" cy="92075"/>
          </a:xfrm>
        </p:grpSpPr>
        <p:sp>
          <p:nvSpPr>
            <p:cNvPr id="559" name="Google Shape;559;p3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0" name="Google Shape;560;p3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1" name="Google Shape;561;p3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62" name="Google Shape;562;p3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63" name="Google Shape;563;p3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64" name="Google Shape;564;p3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26</a:t>
            </a:fld>
            <a:r>
              <a:rPr lang="en-US"/>
              <a:t> / 46</a:t>
            </a:r>
            <a:endParaRPr/>
          </a:p>
        </p:txBody>
      </p:sp>
      <p:pic>
        <p:nvPicPr>
          <p:cNvPr id="565" name="Google Shape;565;p32"/>
          <p:cNvPicPr preferRelativeResize="0"/>
          <p:nvPr/>
        </p:nvPicPr>
        <p:blipFill>
          <a:blip r:embed="rId4">
            <a:alphaModFix/>
          </a:blip>
          <a:stretch>
            <a:fillRect/>
          </a:stretch>
        </p:blipFill>
        <p:spPr>
          <a:xfrm>
            <a:off x="152400" y="559200"/>
            <a:ext cx="5461002" cy="2429186"/>
          </a:xfrm>
          <a:prstGeom prst="rect">
            <a:avLst/>
          </a:prstGeom>
          <a:noFill/>
          <a:ln>
            <a:noFill/>
          </a:ln>
        </p:spPr>
      </p:pic>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I</a:t>
            </a:r>
            <a:r>
              <a:rPr lang="en-US" cap="small">
                <a:solidFill>
                  <a:srgbClr val="FFFFFF"/>
                </a:solidFill>
              </a:rPr>
              <a:t>nitialization</a:t>
            </a:r>
            <a:endParaRPr/>
          </a:p>
        </p:txBody>
      </p:sp>
      <p:grpSp>
        <p:nvGrpSpPr>
          <p:cNvPr id="571" name="Google Shape;571;p33"/>
          <p:cNvGrpSpPr/>
          <p:nvPr/>
        </p:nvGrpSpPr>
        <p:grpSpPr>
          <a:xfrm>
            <a:off x="0" y="3109250"/>
            <a:ext cx="5760261" cy="92075"/>
            <a:chOff x="0" y="3109250"/>
            <a:chExt cx="5760261" cy="92075"/>
          </a:xfrm>
        </p:grpSpPr>
        <p:sp>
          <p:nvSpPr>
            <p:cNvPr id="572" name="Google Shape;572;p3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3" name="Google Shape;573;p3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4" name="Google Shape;574;p3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5" name="Google Shape;575;p3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76" name="Google Shape;576;p3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77" name="Google Shape;577;p3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27</a:t>
            </a:fld>
            <a:r>
              <a:rPr lang="en-US"/>
              <a:t> / 46</a:t>
            </a:r>
            <a:endParaRPr/>
          </a:p>
        </p:txBody>
      </p:sp>
      <p:pic>
        <p:nvPicPr>
          <p:cNvPr id="578" name="Google Shape;578;p33"/>
          <p:cNvPicPr preferRelativeResize="0"/>
          <p:nvPr/>
        </p:nvPicPr>
        <p:blipFill>
          <a:blip r:embed="rId4">
            <a:alphaModFix/>
          </a:blip>
          <a:stretch>
            <a:fillRect/>
          </a:stretch>
        </p:blipFill>
        <p:spPr>
          <a:xfrm>
            <a:off x="152400" y="550235"/>
            <a:ext cx="5150208" cy="2406616"/>
          </a:xfrm>
          <a:prstGeom prst="rect">
            <a:avLst/>
          </a:prstGeom>
          <a:noFill/>
          <a:ln>
            <a:noFill/>
          </a:ln>
        </p:spPr>
      </p:pic>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3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C</a:t>
            </a:r>
            <a:r>
              <a:rPr lang="en-US" cap="small">
                <a:solidFill>
                  <a:srgbClr val="FFFFFF"/>
                </a:solidFill>
              </a:rPr>
              <a:t>omputing</a:t>
            </a:r>
            <a:r>
              <a:rPr lang="en-US">
                <a:solidFill>
                  <a:srgbClr val="FFFFFF"/>
                </a:solidFill>
              </a:rPr>
              <a:t> G</a:t>
            </a:r>
            <a:r>
              <a:rPr lang="en-US" cap="small">
                <a:solidFill>
                  <a:srgbClr val="FFFFFF"/>
                </a:solidFill>
              </a:rPr>
              <a:t>radient</a:t>
            </a:r>
            <a:endParaRPr/>
          </a:p>
        </p:txBody>
      </p:sp>
      <p:grpSp>
        <p:nvGrpSpPr>
          <p:cNvPr id="584" name="Google Shape;584;p34"/>
          <p:cNvGrpSpPr/>
          <p:nvPr/>
        </p:nvGrpSpPr>
        <p:grpSpPr>
          <a:xfrm>
            <a:off x="0" y="3141936"/>
            <a:ext cx="5760261" cy="92075"/>
            <a:chOff x="0" y="3141936"/>
            <a:chExt cx="5760261" cy="92075"/>
          </a:xfrm>
        </p:grpSpPr>
        <p:sp>
          <p:nvSpPr>
            <p:cNvPr id="585" name="Google Shape;585;p3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6" name="Google Shape;586;p3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7" name="Google Shape;587;p3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8" name="Google Shape;588;p3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89" name="Google Shape;589;p3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90" name="Google Shape;590;p3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28</a:t>
            </a:fld>
            <a:r>
              <a:rPr lang="en-US"/>
              <a:t> / 46</a:t>
            </a:r>
            <a:endParaRPr/>
          </a:p>
        </p:txBody>
      </p:sp>
      <p:pic>
        <p:nvPicPr>
          <p:cNvPr id="591" name="Google Shape;591;p34"/>
          <p:cNvPicPr preferRelativeResize="0"/>
          <p:nvPr/>
        </p:nvPicPr>
        <p:blipFill>
          <a:blip r:embed="rId4">
            <a:alphaModFix/>
          </a:blip>
          <a:stretch>
            <a:fillRect/>
          </a:stretch>
        </p:blipFill>
        <p:spPr>
          <a:xfrm>
            <a:off x="152400" y="550235"/>
            <a:ext cx="5305272" cy="2435037"/>
          </a:xfrm>
          <a:prstGeom prst="rect">
            <a:avLst/>
          </a:prstGeom>
          <a:noFill/>
          <a:ln>
            <a:noFill/>
          </a:ln>
        </p:spPr>
      </p:pic>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35"/>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W</a:t>
            </a:r>
            <a:r>
              <a:rPr lang="en-US" cap="small">
                <a:solidFill>
                  <a:srgbClr val="FFFFFF"/>
                </a:solidFill>
              </a:rPr>
              <a:t>eight</a:t>
            </a:r>
            <a:r>
              <a:rPr lang="en-US">
                <a:solidFill>
                  <a:srgbClr val="FFFFFF"/>
                </a:solidFill>
              </a:rPr>
              <a:t> U</a:t>
            </a:r>
            <a:r>
              <a:rPr lang="en-US" cap="small">
                <a:solidFill>
                  <a:srgbClr val="FFFFFF"/>
                </a:solidFill>
              </a:rPr>
              <a:t>pdate</a:t>
            </a:r>
            <a:endParaRPr/>
          </a:p>
        </p:txBody>
      </p:sp>
      <p:grpSp>
        <p:nvGrpSpPr>
          <p:cNvPr id="597" name="Google Shape;597;p35"/>
          <p:cNvGrpSpPr/>
          <p:nvPr/>
        </p:nvGrpSpPr>
        <p:grpSpPr>
          <a:xfrm>
            <a:off x="0" y="3109250"/>
            <a:ext cx="5760261" cy="92075"/>
            <a:chOff x="0" y="3109250"/>
            <a:chExt cx="5760261" cy="92075"/>
          </a:xfrm>
        </p:grpSpPr>
        <p:sp>
          <p:nvSpPr>
            <p:cNvPr id="598" name="Google Shape;598;p3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9" name="Google Shape;599;p3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00" name="Google Shape;600;p3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01" name="Google Shape;601;p3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02" name="Google Shape;602;p3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3" name="Google Shape;603;p3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29</a:t>
            </a:fld>
            <a:r>
              <a:rPr lang="en-US"/>
              <a:t> / 46</a:t>
            </a:r>
            <a:endParaRPr/>
          </a:p>
        </p:txBody>
      </p:sp>
      <p:pic>
        <p:nvPicPr>
          <p:cNvPr id="604" name="Google Shape;604;p35"/>
          <p:cNvPicPr preferRelativeResize="0"/>
          <p:nvPr/>
        </p:nvPicPr>
        <p:blipFill>
          <a:blip r:embed="rId4">
            <a:alphaModFix/>
          </a:blip>
          <a:stretch>
            <a:fillRect/>
          </a:stretch>
        </p:blipFill>
        <p:spPr>
          <a:xfrm>
            <a:off x="152400" y="550235"/>
            <a:ext cx="5446129" cy="2406614"/>
          </a:xfrm>
          <a:prstGeom prst="rect">
            <a:avLst/>
          </a:prstGeom>
          <a:noFill/>
          <a:ln>
            <a:noFill/>
          </a:ln>
        </p:spPr>
      </p:pic>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3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N</a:t>
            </a:r>
            <a:r>
              <a:rPr lang="en-US" cap="small">
                <a:solidFill>
                  <a:srgbClr val="FFFFFF"/>
                </a:solidFill>
              </a:rPr>
              <a:t>ew</a:t>
            </a:r>
            <a:r>
              <a:rPr lang="en-US">
                <a:solidFill>
                  <a:srgbClr val="FFFFFF"/>
                </a:solidFill>
              </a:rPr>
              <a:t> L</a:t>
            </a:r>
            <a:r>
              <a:rPr lang="en-US" cap="small">
                <a:solidFill>
                  <a:srgbClr val="FFFFFF"/>
                </a:solidFill>
              </a:rPr>
              <a:t>oss</a:t>
            </a:r>
            <a:endParaRPr/>
          </a:p>
        </p:txBody>
      </p:sp>
      <p:grpSp>
        <p:nvGrpSpPr>
          <p:cNvPr id="610" name="Google Shape;610;p36"/>
          <p:cNvGrpSpPr/>
          <p:nvPr/>
        </p:nvGrpSpPr>
        <p:grpSpPr>
          <a:xfrm>
            <a:off x="0" y="3109250"/>
            <a:ext cx="5760261" cy="92075"/>
            <a:chOff x="0" y="3109250"/>
            <a:chExt cx="5760261" cy="92075"/>
          </a:xfrm>
        </p:grpSpPr>
        <p:sp>
          <p:nvSpPr>
            <p:cNvPr id="611" name="Google Shape;611;p3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2" name="Google Shape;612;p3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3" name="Google Shape;613;p3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14" name="Google Shape;614;p3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15" name="Google Shape;615;p3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16" name="Google Shape;616;p3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30</a:t>
            </a:fld>
            <a:r>
              <a:rPr lang="en-US"/>
              <a:t> / 46</a:t>
            </a:r>
            <a:endParaRPr/>
          </a:p>
        </p:txBody>
      </p:sp>
      <p:pic>
        <p:nvPicPr>
          <p:cNvPr id="617" name="Google Shape;617;p36"/>
          <p:cNvPicPr preferRelativeResize="0"/>
          <p:nvPr/>
        </p:nvPicPr>
        <p:blipFill>
          <a:blip r:embed="rId4">
            <a:alphaModFix/>
          </a:blip>
          <a:stretch>
            <a:fillRect/>
          </a:stretch>
        </p:blipFill>
        <p:spPr>
          <a:xfrm>
            <a:off x="152400" y="550235"/>
            <a:ext cx="5265756" cy="2406615"/>
          </a:xfrm>
          <a:prstGeom prst="rect">
            <a:avLst/>
          </a:prstGeom>
          <a:noFill/>
          <a:ln>
            <a:noFill/>
          </a:ln>
        </p:spPr>
      </p:pic>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3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omputational</a:t>
            </a:r>
            <a:r>
              <a:rPr lang="en-US">
                <a:solidFill>
                  <a:srgbClr val="FFFFFF"/>
                </a:solidFill>
              </a:rPr>
              <a:t> G</a:t>
            </a:r>
            <a:r>
              <a:rPr lang="en-US" cap="small">
                <a:solidFill>
                  <a:srgbClr val="FFFFFF"/>
                </a:solidFill>
              </a:rPr>
              <a:t>raph</a:t>
            </a:r>
            <a:r>
              <a:rPr lang="en-US">
                <a:solidFill>
                  <a:srgbClr val="FFFFFF"/>
                </a:solidFill>
              </a:rPr>
              <a:t> </a:t>
            </a:r>
            <a:r>
              <a:rPr lang="en-US" cap="small">
                <a:solidFill>
                  <a:srgbClr val="FFFFFF"/>
                </a:solidFill>
              </a:rPr>
              <a:t>for</a:t>
            </a:r>
            <a:r>
              <a:rPr lang="en-US">
                <a:solidFill>
                  <a:srgbClr val="FFFFFF"/>
                </a:solidFill>
              </a:rPr>
              <a:t> O</a:t>
            </a:r>
            <a:r>
              <a:rPr lang="en-US" cap="small">
                <a:solidFill>
                  <a:srgbClr val="FFFFFF"/>
                </a:solidFill>
              </a:rPr>
              <a:t>ne</a:t>
            </a:r>
            <a:r>
              <a:rPr lang="en-US">
                <a:solidFill>
                  <a:srgbClr val="FFFFFF"/>
                </a:solidFill>
              </a:rPr>
              <a:t> G</a:t>
            </a:r>
            <a:r>
              <a:rPr lang="en-US" cap="small">
                <a:solidFill>
                  <a:srgbClr val="FFFFFF"/>
                </a:solidFill>
              </a:rPr>
              <a:t>radient</a:t>
            </a:r>
            <a:endParaRPr/>
          </a:p>
        </p:txBody>
      </p:sp>
      <p:grpSp>
        <p:nvGrpSpPr>
          <p:cNvPr id="623" name="Google Shape;623;p37"/>
          <p:cNvGrpSpPr/>
          <p:nvPr/>
        </p:nvGrpSpPr>
        <p:grpSpPr>
          <a:xfrm>
            <a:off x="2367784" y="848642"/>
            <a:ext cx="432434" cy="288290"/>
            <a:chOff x="2367784" y="848642"/>
            <a:chExt cx="432434" cy="288290"/>
          </a:xfrm>
        </p:grpSpPr>
        <p:sp>
          <p:nvSpPr>
            <p:cNvPr id="624" name="Google Shape;624;p37"/>
            <p:cNvSpPr/>
            <p:nvPr/>
          </p:nvSpPr>
          <p:spPr>
            <a:xfrm>
              <a:off x="2367784" y="848642"/>
              <a:ext cx="432434" cy="288290"/>
            </a:xfrm>
            <a:custGeom>
              <a:avLst/>
              <a:gdLst/>
              <a:ahLst/>
              <a:cxnLst/>
              <a:rect l="l" t="t" r="r" b="b"/>
              <a:pathLst>
                <a:path w="432435" h="288290" extrusionOk="0">
                  <a:moveTo>
                    <a:pt x="432004" y="0"/>
                  </a:moveTo>
                  <a:lnTo>
                    <a:pt x="0" y="0"/>
                  </a:lnTo>
                  <a:lnTo>
                    <a:pt x="0" y="288004"/>
                  </a:lnTo>
                  <a:lnTo>
                    <a:pt x="432004" y="288004"/>
                  </a:lnTo>
                  <a:lnTo>
                    <a:pt x="432004" y="0"/>
                  </a:lnTo>
                  <a:close/>
                </a:path>
              </a:pathLst>
            </a:custGeom>
            <a:solidFill>
              <a:srgbClr val="99CCC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25" name="Google Shape;625;p37"/>
            <p:cNvSpPr/>
            <p:nvPr/>
          </p:nvSpPr>
          <p:spPr>
            <a:xfrm>
              <a:off x="2367784" y="848642"/>
              <a:ext cx="432434" cy="288290"/>
            </a:xfrm>
            <a:custGeom>
              <a:avLst/>
              <a:gdLst/>
              <a:ahLst/>
              <a:cxnLst/>
              <a:rect l="l" t="t" r="r" b="b"/>
              <a:pathLst>
                <a:path w="432435" h="288290" extrusionOk="0">
                  <a:moveTo>
                    <a:pt x="0" y="288004"/>
                  </a:moveTo>
                  <a:lnTo>
                    <a:pt x="432004" y="288004"/>
                  </a:lnTo>
                  <a:lnTo>
                    <a:pt x="432004" y="0"/>
                  </a:lnTo>
                  <a:lnTo>
                    <a:pt x="0" y="0"/>
                  </a:lnTo>
                  <a:lnTo>
                    <a:pt x="0" y="288004"/>
                  </a:lnTo>
                  <a:close/>
                </a:path>
              </a:pathLst>
            </a:custGeom>
            <a:noFill/>
            <a:ln w="10100" cap="flat" cmpd="sng">
              <a:solidFill>
                <a:srgbClr val="66B2B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26" name="Google Shape;626;p37"/>
          <p:cNvSpPr txBox="1"/>
          <p:nvPr/>
        </p:nvSpPr>
        <p:spPr>
          <a:xfrm>
            <a:off x="2372845" y="899895"/>
            <a:ext cx="422275" cy="175260"/>
          </a:xfrm>
          <a:prstGeom prst="rect">
            <a:avLst/>
          </a:prstGeom>
          <a:noFill/>
          <a:ln>
            <a:noFill/>
          </a:ln>
        </p:spPr>
        <p:txBody>
          <a:bodyPr spcFirstLastPara="1" wrap="square" lIns="0" tIns="16500" rIns="0" bIns="0" anchor="t" anchorCtr="0">
            <a:spAutoFit/>
          </a:bodyPr>
          <a:lstStyle/>
          <a:p>
            <a:pPr marL="0" lvl="0" indent="0" algn="ctr" rtl="0">
              <a:lnSpc>
                <a:spcPct val="100000"/>
              </a:lnSpc>
              <a:spcBef>
                <a:spcPts val="0"/>
              </a:spcBef>
              <a:spcAft>
                <a:spcPts val="0"/>
              </a:spcAft>
              <a:buNone/>
            </a:pPr>
            <a:r>
              <a:rPr lang="en-US" sz="950" b="1">
                <a:latin typeface="Arial"/>
                <a:ea typeface="Arial"/>
                <a:cs typeface="Arial"/>
                <a:sym typeface="Arial"/>
              </a:rPr>
              <a:t>X</a:t>
            </a:r>
            <a:endParaRPr sz="950">
              <a:latin typeface="Arial"/>
              <a:ea typeface="Arial"/>
              <a:cs typeface="Arial"/>
              <a:sym typeface="Arial"/>
            </a:endParaRPr>
          </a:p>
        </p:txBody>
      </p:sp>
      <p:sp>
        <p:nvSpPr>
          <p:cNvPr id="627" name="Google Shape;627;p37"/>
          <p:cNvSpPr txBox="1"/>
          <p:nvPr/>
        </p:nvSpPr>
        <p:spPr>
          <a:xfrm>
            <a:off x="3529919" y="848642"/>
            <a:ext cx="432434" cy="288290"/>
          </a:xfrm>
          <a:prstGeom prst="rect">
            <a:avLst/>
          </a:prstGeom>
          <a:solidFill>
            <a:srgbClr val="99CCCC"/>
          </a:solidFill>
          <a:ln w="10100" cap="flat" cmpd="sng">
            <a:solidFill>
              <a:srgbClr val="66B2B2"/>
            </a:solidFill>
            <a:prstDash val="solid"/>
            <a:round/>
            <a:headEnd type="none" w="sm" len="sm"/>
            <a:tailEnd type="none" w="sm" len="sm"/>
          </a:ln>
        </p:spPr>
        <p:txBody>
          <a:bodyPr spcFirstLastPara="1" wrap="square" lIns="0" tIns="43175" rIns="0" bIns="0" anchor="t" anchorCtr="0">
            <a:spAutoFit/>
          </a:bodyPr>
          <a:lstStyle/>
          <a:p>
            <a:pPr marL="0" lvl="0" indent="0" algn="ctr" rtl="0">
              <a:lnSpc>
                <a:spcPct val="100000"/>
              </a:lnSpc>
              <a:spcBef>
                <a:spcPts val="0"/>
              </a:spcBef>
              <a:spcAft>
                <a:spcPts val="0"/>
              </a:spcAft>
              <a:buNone/>
            </a:pPr>
            <a:r>
              <a:rPr lang="en-US" sz="950" b="1">
                <a:latin typeface="Arial"/>
                <a:ea typeface="Arial"/>
                <a:cs typeface="Arial"/>
                <a:sym typeface="Arial"/>
              </a:rPr>
              <a:t>y</a:t>
            </a:r>
            <a:endParaRPr sz="950">
              <a:latin typeface="Arial"/>
              <a:ea typeface="Arial"/>
              <a:cs typeface="Arial"/>
              <a:sym typeface="Arial"/>
            </a:endParaRPr>
          </a:p>
        </p:txBody>
      </p:sp>
      <p:grpSp>
        <p:nvGrpSpPr>
          <p:cNvPr id="628" name="Google Shape;628;p37"/>
          <p:cNvGrpSpPr/>
          <p:nvPr/>
        </p:nvGrpSpPr>
        <p:grpSpPr>
          <a:xfrm>
            <a:off x="2403784" y="1470770"/>
            <a:ext cx="360045" cy="360045"/>
            <a:chOff x="2403784" y="1470770"/>
            <a:chExt cx="360045" cy="360045"/>
          </a:xfrm>
        </p:grpSpPr>
        <p:sp>
          <p:nvSpPr>
            <p:cNvPr id="629" name="Google Shape;629;p37"/>
            <p:cNvSpPr/>
            <p:nvPr/>
          </p:nvSpPr>
          <p:spPr>
            <a:xfrm>
              <a:off x="2403784" y="1470770"/>
              <a:ext cx="360045" cy="360045"/>
            </a:xfrm>
            <a:custGeom>
              <a:avLst/>
              <a:gdLst/>
              <a:ahLst/>
              <a:cxnLst/>
              <a:rect l="l" t="t" r="r" b="b"/>
              <a:pathLst>
                <a:path w="360044" h="360044" extrusionOk="0">
                  <a:moveTo>
                    <a:pt x="180002" y="0"/>
                  </a:moveTo>
                  <a:lnTo>
                    <a:pt x="132150" y="6429"/>
                  </a:lnTo>
                  <a:lnTo>
                    <a:pt x="89151" y="24575"/>
                  </a:lnTo>
                  <a:lnTo>
                    <a:pt x="52720" y="52720"/>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lnTo>
                    <a:pt x="353574" y="132150"/>
                  </a:lnTo>
                  <a:lnTo>
                    <a:pt x="335428" y="89151"/>
                  </a:lnTo>
                  <a:lnTo>
                    <a:pt x="307283" y="52720"/>
                  </a:lnTo>
                  <a:lnTo>
                    <a:pt x="270853" y="24575"/>
                  </a:lnTo>
                  <a:lnTo>
                    <a:pt x="227854" y="6429"/>
                  </a:lnTo>
                  <a:lnTo>
                    <a:pt x="180002" y="0"/>
                  </a:lnTo>
                  <a:close/>
                </a:path>
              </a:pathLst>
            </a:custGeom>
            <a:solidFill>
              <a:srgbClr val="F2F2F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30" name="Google Shape;630;p37"/>
            <p:cNvSpPr/>
            <p:nvPr/>
          </p:nvSpPr>
          <p:spPr>
            <a:xfrm>
              <a:off x="2403784" y="1470770"/>
              <a:ext cx="360045" cy="360045"/>
            </a:xfrm>
            <a:custGeom>
              <a:avLst/>
              <a:gdLst/>
              <a:ahLst/>
              <a:cxnLst/>
              <a:rect l="l" t="t" r="r" b="b"/>
              <a:pathLst>
                <a:path w="360044" h="360044" extrusionOk="0">
                  <a:moveTo>
                    <a:pt x="360004" y="180002"/>
                  </a:moveTo>
                  <a:lnTo>
                    <a:pt x="353574" y="132150"/>
                  </a:lnTo>
                  <a:lnTo>
                    <a:pt x="335428" y="89151"/>
                  </a:lnTo>
                  <a:lnTo>
                    <a:pt x="307283" y="52720"/>
                  </a:lnTo>
                  <a:lnTo>
                    <a:pt x="270853" y="24575"/>
                  </a:lnTo>
                  <a:lnTo>
                    <a:pt x="227854" y="6429"/>
                  </a:lnTo>
                  <a:lnTo>
                    <a:pt x="180002" y="0"/>
                  </a:lnTo>
                  <a:lnTo>
                    <a:pt x="132150" y="6429"/>
                  </a:lnTo>
                  <a:lnTo>
                    <a:pt x="89151" y="24575"/>
                  </a:lnTo>
                  <a:lnTo>
                    <a:pt x="52720" y="52720"/>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close/>
                </a:path>
              </a:pathLst>
            </a:custGeom>
            <a:noFill/>
            <a:ln w="10100" cap="flat" cmpd="sng">
              <a:solidFill>
                <a:srgbClr val="CCCCC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31" name="Google Shape;631;p37"/>
          <p:cNvSpPr txBox="1"/>
          <p:nvPr/>
        </p:nvSpPr>
        <p:spPr>
          <a:xfrm>
            <a:off x="2517190" y="1534158"/>
            <a:ext cx="133350" cy="191770"/>
          </a:xfrm>
          <a:prstGeom prst="rect">
            <a:avLst/>
          </a:prstGeom>
          <a:noFill/>
          <a:ln>
            <a:noFill/>
          </a:ln>
        </p:spPr>
        <p:txBody>
          <a:bodyPr spcFirstLastPara="1" wrap="square" lIns="0" tIns="11425" rIns="0" bIns="0" anchor="t" anchorCtr="0">
            <a:spAutoFit/>
          </a:bodyPr>
          <a:lstStyle/>
          <a:p>
            <a:pPr marL="12700" lvl="0" indent="0" algn="l" rtl="0">
              <a:lnSpc>
                <a:spcPct val="100000"/>
              </a:lnSpc>
              <a:spcBef>
                <a:spcPts val="0"/>
              </a:spcBef>
              <a:spcAft>
                <a:spcPts val="0"/>
              </a:spcAft>
              <a:buNone/>
            </a:pPr>
            <a:r>
              <a:rPr lang="en-US" sz="1100">
                <a:latin typeface="Lucida Sans"/>
                <a:ea typeface="Lucida Sans"/>
                <a:cs typeface="Lucida Sans"/>
                <a:sym typeface="Lucida Sans"/>
              </a:rPr>
              <a:t>×</a:t>
            </a:r>
            <a:endParaRPr sz="1100">
              <a:latin typeface="Lucida Sans"/>
              <a:ea typeface="Lucida Sans"/>
              <a:cs typeface="Lucida Sans"/>
              <a:sym typeface="Lucida Sans"/>
            </a:endParaRPr>
          </a:p>
        </p:txBody>
      </p:sp>
      <p:sp>
        <p:nvSpPr>
          <p:cNvPr id="632" name="Google Shape;632;p37"/>
          <p:cNvSpPr txBox="1"/>
          <p:nvPr/>
        </p:nvSpPr>
        <p:spPr>
          <a:xfrm>
            <a:off x="2367784" y="2164898"/>
            <a:ext cx="432434" cy="288290"/>
          </a:xfrm>
          <a:prstGeom prst="rect">
            <a:avLst/>
          </a:prstGeom>
          <a:solidFill>
            <a:srgbClr val="9999FF"/>
          </a:solidFill>
          <a:ln w="10100" cap="flat" cmpd="sng">
            <a:solidFill>
              <a:srgbClr val="6666FF"/>
            </a:solidFill>
            <a:prstDash val="solid"/>
            <a:round/>
            <a:headEnd type="none" w="sm" len="sm"/>
            <a:tailEnd type="none" w="sm" len="sm"/>
          </a:ln>
        </p:spPr>
        <p:txBody>
          <a:bodyPr spcFirstLastPara="1" wrap="square" lIns="0" tIns="41275" rIns="0" bIns="0" anchor="t" anchorCtr="0">
            <a:spAutoFit/>
          </a:bodyPr>
          <a:lstStyle/>
          <a:p>
            <a:pPr marL="0" lvl="0" indent="0" algn="ctr" rtl="0">
              <a:lnSpc>
                <a:spcPct val="100000"/>
              </a:lnSpc>
              <a:spcBef>
                <a:spcPts val="0"/>
              </a:spcBef>
              <a:spcAft>
                <a:spcPts val="0"/>
              </a:spcAft>
              <a:buNone/>
            </a:pPr>
            <a:r>
              <a:rPr lang="en-US" sz="950" b="1">
                <a:latin typeface="Arial"/>
                <a:ea typeface="Arial"/>
                <a:cs typeface="Arial"/>
                <a:sym typeface="Arial"/>
              </a:rPr>
              <a:t>y</a:t>
            </a:r>
            <a:r>
              <a:rPr lang="en-US" sz="1650" baseline="30000">
                <a:latin typeface="Tahoma"/>
                <a:ea typeface="Tahoma"/>
                <a:cs typeface="Tahoma"/>
                <a:sym typeface="Tahoma"/>
              </a:rPr>
              <a:t>ˆ</a:t>
            </a:r>
            <a:endParaRPr sz="1650" baseline="30000">
              <a:latin typeface="Tahoma"/>
              <a:ea typeface="Tahoma"/>
              <a:cs typeface="Tahoma"/>
              <a:sym typeface="Tahoma"/>
            </a:endParaRPr>
          </a:p>
        </p:txBody>
      </p:sp>
      <p:grpSp>
        <p:nvGrpSpPr>
          <p:cNvPr id="633" name="Google Shape;633;p37"/>
          <p:cNvGrpSpPr/>
          <p:nvPr/>
        </p:nvGrpSpPr>
        <p:grpSpPr>
          <a:xfrm>
            <a:off x="3241914" y="2128899"/>
            <a:ext cx="360045" cy="360045"/>
            <a:chOff x="3241914" y="2128899"/>
            <a:chExt cx="360045" cy="360045"/>
          </a:xfrm>
        </p:grpSpPr>
        <p:sp>
          <p:nvSpPr>
            <p:cNvPr id="634" name="Google Shape;634;p37"/>
            <p:cNvSpPr/>
            <p:nvPr/>
          </p:nvSpPr>
          <p:spPr>
            <a:xfrm>
              <a:off x="3241914" y="2128899"/>
              <a:ext cx="360045" cy="360045"/>
            </a:xfrm>
            <a:custGeom>
              <a:avLst/>
              <a:gdLst/>
              <a:ahLst/>
              <a:cxnLst/>
              <a:rect l="l" t="t" r="r" b="b"/>
              <a:pathLst>
                <a:path w="360045" h="360044" extrusionOk="0">
                  <a:moveTo>
                    <a:pt x="180002" y="0"/>
                  </a:moveTo>
                  <a:lnTo>
                    <a:pt x="132150" y="6429"/>
                  </a:lnTo>
                  <a:lnTo>
                    <a:pt x="89151" y="24575"/>
                  </a:lnTo>
                  <a:lnTo>
                    <a:pt x="52720" y="52720"/>
                  </a:lnTo>
                  <a:lnTo>
                    <a:pt x="24575" y="89150"/>
                  </a:lnTo>
                  <a:lnTo>
                    <a:pt x="6429" y="132149"/>
                  </a:lnTo>
                  <a:lnTo>
                    <a:pt x="0" y="180001"/>
                  </a:lnTo>
                  <a:lnTo>
                    <a:pt x="6429" y="227854"/>
                  </a:lnTo>
                  <a:lnTo>
                    <a:pt x="24575" y="270853"/>
                  </a:lnTo>
                  <a:lnTo>
                    <a:pt x="52720" y="307283"/>
                  </a:lnTo>
                  <a:lnTo>
                    <a:pt x="89151" y="335428"/>
                  </a:lnTo>
                  <a:lnTo>
                    <a:pt x="132150" y="353574"/>
                  </a:lnTo>
                  <a:lnTo>
                    <a:pt x="180002" y="360004"/>
                  </a:lnTo>
                  <a:lnTo>
                    <a:pt x="227854" y="353574"/>
                  </a:lnTo>
                  <a:lnTo>
                    <a:pt x="270853" y="335428"/>
                  </a:lnTo>
                  <a:lnTo>
                    <a:pt x="307283" y="307283"/>
                  </a:lnTo>
                  <a:lnTo>
                    <a:pt x="335428" y="270853"/>
                  </a:lnTo>
                  <a:lnTo>
                    <a:pt x="353574" y="227854"/>
                  </a:lnTo>
                  <a:lnTo>
                    <a:pt x="360004" y="180001"/>
                  </a:lnTo>
                  <a:lnTo>
                    <a:pt x="353574" y="132149"/>
                  </a:lnTo>
                  <a:lnTo>
                    <a:pt x="335428" y="89150"/>
                  </a:lnTo>
                  <a:lnTo>
                    <a:pt x="307283" y="52720"/>
                  </a:lnTo>
                  <a:lnTo>
                    <a:pt x="270853" y="24575"/>
                  </a:lnTo>
                  <a:lnTo>
                    <a:pt x="227854" y="6429"/>
                  </a:lnTo>
                  <a:lnTo>
                    <a:pt x="180002" y="0"/>
                  </a:lnTo>
                  <a:close/>
                </a:path>
              </a:pathLst>
            </a:custGeom>
            <a:solidFill>
              <a:srgbClr val="F2F2F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35" name="Google Shape;635;p37"/>
            <p:cNvSpPr/>
            <p:nvPr/>
          </p:nvSpPr>
          <p:spPr>
            <a:xfrm>
              <a:off x="3241914" y="2128899"/>
              <a:ext cx="360045" cy="360045"/>
            </a:xfrm>
            <a:custGeom>
              <a:avLst/>
              <a:gdLst/>
              <a:ahLst/>
              <a:cxnLst/>
              <a:rect l="l" t="t" r="r" b="b"/>
              <a:pathLst>
                <a:path w="360045" h="360044" extrusionOk="0">
                  <a:moveTo>
                    <a:pt x="360004" y="180001"/>
                  </a:moveTo>
                  <a:lnTo>
                    <a:pt x="353574" y="132149"/>
                  </a:lnTo>
                  <a:lnTo>
                    <a:pt x="335428" y="89150"/>
                  </a:lnTo>
                  <a:lnTo>
                    <a:pt x="307283" y="52720"/>
                  </a:lnTo>
                  <a:lnTo>
                    <a:pt x="270853" y="24575"/>
                  </a:lnTo>
                  <a:lnTo>
                    <a:pt x="227854" y="6429"/>
                  </a:lnTo>
                  <a:lnTo>
                    <a:pt x="180002" y="0"/>
                  </a:lnTo>
                  <a:lnTo>
                    <a:pt x="132150" y="6429"/>
                  </a:lnTo>
                  <a:lnTo>
                    <a:pt x="89151" y="24575"/>
                  </a:lnTo>
                  <a:lnTo>
                    <a:pt x="52720" y="52720"/>
                  </a:lnTo>
                  <a:lnTo>
                    <a:pt x="24575" y="89150"/>
                  </a:lnTo>
                  <a:lnTo>
                    <a:pt x="6429" y="132149"/>
                  </a:lnTo>
                  <a:lnTo>
                    <a:pt x="0" y="180001"/>
                  </a:lnTo>
                  <a:lnTo>
                    <a:pt x="6429" y="227854"/>
                  </a:lnTo>
                  <a:lnTo>
                    <a:pt x="24575" y="270853"/>
                  </a:lnTo>
                  <a:lnTo>
                    <a:pt x="52720" y="307283"/>
                  </a:lnTo>
                  <a:lnTo>
                    <a:pt x="89151" y="335428"/>
                  </a:lnTo>
                  <a:lnTo>
                    <a:pt x="132150" y="353574"/>
                  </a:lnTo>
                  <a:lnTo>
                    <a:pt x="180002" y="360004"/>
                  </a:lnTo>
                  <a:lnTo>
                    <a:pt x="227854" y="353574"/>
                  </a:lnTo>
                  <a:lnTo>
                    <a:pt x="270853" y="335428"/>
                  </a:lnTo>
                  <a:lnTo>
                    <a:pt x="307283" y="307283"/>
                  </a:lnTo>
                  <a:lnTo>
                    <a:pt x="335428" y="270853"/>
                  </a:lnTo>
                  <a:lnTo>
                    <a:pt x="353574" y="227854"/>
                  </a:lnTo>
                  <a:lnTo>
                    <a:pt x="360004" y="180001"/>
                  </a:lnTo>
                  <a:close/>
                </a:path>
              </a:pathLst>
            </a:custGeom>
            <a:noFill/>
            <a:ln w="10100" cap="flat" cmpd="sng">
              <a:solidFill>
                <a:srgbClr val="CCCCC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36" name="Google Shape;636;p37"/>
          <p:cNvSpPr txBox="1"/>
          <p:nvPr/>
        </p:nvSpPr>
        <p:spPr>
          <a:xfrm>
            <a:off x="3355314" y="2192272"/>
            <a:ext cx="133350" cy="191770"/>
          </a:xfrm>
          <a:prstGeom prst="rect">
            <a:avLst/>
          </a:prstGeom>
          <a:noFill/>
          <a:ln>
            <a:noFill/>
          </a:ln>
        </p:spPr>
        <p:txBody>
          <a:bodyPr spcFirstLastPara="1" wrap="square" lIns="0" tIns="11425" rIns="0" bIns="0" anchor="t" anchorCtr="0">
            <a:spAutoFit/>
          </a:bodyPr>
          <a:lstStyle/>
          <a:p>
            <a:pPr marL="12700" lvl="0" indent="0" algn="l" rtl="0">
              <a:lnSpc>
                <a:spcPct val="100000"/>
              </a:lnSpc>
              <a:spcBef>
                <a:spcPts val="0"/>
              </a:spcBef>
              <a:spcAft>
                <a:spcPts val="0"/>
              </a:spcAft>
              <a:buNone/>
            </a:pPr>
            <a:r>
              <a:rPr lang="en-US" sz="1100">
                <a:latin typeface="Lucida Sans"/>
                <a:ea typeface="Lucida Sans"/>
                <a:cs typeface="Lucida Sans"/>
                <a:sym typeface="Lucida Sans"/>
              </a:rPr>
              <a:t>—</a:t>
            </a:r>
            <a:endParaRPr sz="1100">
              <a:latin typeface="Lucida Sans"/>
              <a:ea typeface="Lucida Sans"/>
              <a:cs typeface="Lucida Sans"/>
              <a:sym typeface="Lucida Sans"/>
            </a:endParaRPr>
          </a:p>
        </p:txBody>
      </p:sp>
      <p:sp>
        <p:nvSpPr>
          <p:cNvPr id="637" name="Google Shape;637;p37"/>
          <p:cNvSpPr txBox="1"/>
          <p:nvPr/>
        </p:nvSpPr>
        <p:spPr>
          <a:xfrm>
            <a:off x="3205914" y="2751027"/>
            <a:ext cx="432434" cy="288290"/>
          </a:xfrm>
          <a:prstGeom prst="rect">
            <a:avLst/>
          </a:prstGeom>
          <a:solidFill>
            <a:srgbClr val="9999FF"/>
          </a:solidFill>
          <a:ln w="10100" cap="flat" cmpd="sng">
            <a:solidFill>
              <a:srgbClr val="6666FF"/>
            </a:solidFill>
            <a:prstDash val="solid"/>
            <a:round/>
            <a:headEnd type="none" w="sm" len="sm"/>
            <a:tailEnd type="none" w="sm" len="sm"/>
          </a:ln>
        </p:spPr>
        <p:txBody>
          <a:bodyPr spcFirstLastPara="1" wrap="square" lIns="0" tIns="56500" rIns="0" bIns="0" anchor="t" anchorCtr="0">
            <a:spAutoFit/>
          </a:bodyPr>
          <a:lstStyle/>
          <a:p>
            <a:pPr marL="0" lvl="0" indent="0" algn="ctr" rtl="0">
              <a:lnSpc>
                <a:spcPct val="100000"/>
              </a:lnSpc>
              <a:spcBef>
                <a:spcPts val="0"/>
              </a:spcBef>
              <a:spcAft>
                <a:spcPts val="0"/>
              </a:spcAft>
              <a:buNone/>
            </a:pPr>
            <a:r>
              <a:rPr lang="en-US" sz="950" b="1">
                <a:latin typeface="Arial"/>
                <a:ea typeface="Arial"/>
                <a:cs typeface="Arial"/>
                <a:sym typeface="Arial"/>
              </a:rPr>
              <a:t>e</a:t>
            </a:r>
            <a:endParaRPr sz="950">
              <a:latin typeface="Arial"/>
              <a:ea typeface="Arial"/>
              <a:cs typeface="Arial"/>
              <a:sym typeface="Arial"/>
            </a:endParaRPr>
          </a:p>
        </p:txBody>
      </p:sp>
      <p:grpSp>
        <p:nvGrpSpPr>
          <p:cNvPr id="638" name="Google Shape;638;p37"/>
          <p:cNvGrpSpPr/>
          <p:nvPr/>
        </p:nvGrpSpPr>
        <p:grpSpPr>
          <a:xfrm>
            <a:off x="4008045" y="2667994"/>
            <a:ext cx="454659" cy="454659"/>
            <a:chOff x="4008045" y="2667994"/>
            <a:chExt cx="454659" cy="454659"/>
          </a:xfrm>
        </p:grpSpPr>
        <p:sp>
          <p:nvSpPr>
            <p:cNvPr id="639" name="Google Shape;639;p37"/>
            <p:cNvSpPr/>
            <p:nvPr/>
          </p:nvSpPr>
          <p:spPr>
            <a:xfrm>
              <a:off x="4008045" y="2667994"/>
              <a:ext cx="454659" cy="454659"/>
            </a:xfrm>
            <a:custGeom>
              <a:avLst/>
              <a:gdLst/>
              <a:ahLst/>
              <a:cxnLst/>
              <a:rect l="l" t="t" r="r" b="b"/>
              <a:pathLst>
                <a:path w="454660" h="454660" extrusionOk="0">
                  <a:moveTo>
                    <a:pt x="227035" y="0"/>
                  </a:moveTo>
                  <a:lnTo>
                    <a:pt x="181279" y="4612"/>
                  </a:lnTo>
                  <a:lnTo>
                    <a:pt x="138662" y="17841"/>
                  </a:lnTo>
                  <a:lnTo>
                    <a:pt x="100097" y="38773"/>
                  </a:lnTo>
                  <a:lnTo>
                    <a:pt x="66496" y="66496"/>
                  </a:lnTo>
                  <a:lnTo>
                    <a:pt x="38773" y="100097"/>
                  </a:lnTo>
                  <a:lnTo>
                    <a:pt x="17841" y="138662"/>
                  </a:lnTo>
                  <a:lnTo>
                    <a:pt x="4612" y="181279"/>
                  </a:lnTo>
                  <a:lnTo>
                    <a:pt x="0" y="227035"/>
                  </a:lnTo>
                  <a:lnTo>
                    <a:pt x="4612" y="272791"/>
                  </a:lnTo>
                  <a:lnTo>
                    <a:pt x="17841" y="315408"/>
                  </a:lnTo>
                  <a:lnTo>
                    <a:pt x="38773" y="353973"/>
                  </a:lnTo>
                  <a:lnTo>
                    <a:pt x="66496" y="387574"/>
                  </a:lnTo>
                  <a:lnTo>
                    <a:pt x="100097" y="415297"/>
                  </a:lnTo>
                  <a:lnTo>
                    <a:pt x="138662" y="436229"/>
                  </a:lnTo>
                  <a:lnTo>
                    <a:pt x="181279" y="449458"/>
                  </a:lnTo>
                  <a:lnTo>
                    <a:pt x="227035" y="454070"/>
                  </a:lnTo>
                  <a:lnTo>
                    <a:pt x="272791" y="449458"/>
                  </a:lnTo>
                  <a:lnTo>
                    <a:pt x="315408" y="436229"/>
                  </a:lnTo>
                  <a:lnTo>
                    <a:pt x="353973" y="415297"/>
                  </a:lnTo>
                  <a:lnTo>
                    <a:pt x="387574" y="387574"/>
                  </a:lnTo>
                  <a:lnTo>
                    <a:pt x="415297" y="353973"/>
                  </a:lnTo>
                  <a:lnTo>
                    <a:pt x="436229" y="315408"/>
                  </a:lnTo>
                  <a:lnTo>
                    <a:pt x="449458" y="272791"/>
                  </a:lnTo>
                  <a:lnTo>
                    <a:pt x="454070" y="227035"/>
                  </a:lnTo>
                  <a:lnTo>
                    <a:pt x="449458" y="181279"/>
                  </a:lnTo>
                  <a:lnTo>
                    <a:pt x="436229" y="138662"/>
                  </a:lnTo>
                  <a:lnTo>
                    <a:pt x="415297" y="100097"/>
                  </a:lnTo>
                  <a:lnTo>
                    <a:pt x="387574" y="66496"/>
                  </a:lnTo>
                  <a:lnTo>
                    <a:pt x="353973" y="38773"/>
                  </a:lnTo>
                  <a:lnTo>
                    <a:pt x="315408" y="17841"/>
                  </a:lnTo>
                  <a:lnTo>
                    <a:pt x="272791" y="4612"/>
                  </a:lnTo>
                  <a:lnTo>
                    <a:pt x="227035" y="0"/>
                  </a:lnTo>
                  <a:close/>
                </a:path>
              </a:pathLst>
            </a:custGeom>
            <a:solidFill>
              <a:srgbClr val="F2F2F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0" name="Google Shape;640;p37"/>
            <p:cNvSpPr/>
            <p:nvPr/>
          </p:nvSpPr>
          <p:spPr>
            <a:xfrm>
              <a:off x="4008045" y="2667994"/>
              <a:ext cx="454659" cy="454659"/>
            </a:xfrm>
            <a:custGeom>
              <a:avLst/>
              <a:gdLst/>
              <a:ahLst/>
              <a:cxnLst/>
              <a:rect l="l" t="t" r="r" b="b"/>
              <a:pathLst>
                <a:path w="454660" h="454660" extrusionOk="0">
                  <a:moveTo>
                    <a:pt x="454070" y="227035"/>
                  </a:moveTo>
                  <a:lnTo>
                    <a:pt x="449458" y="181279"/>
                  </a:lnTo>
                  <a:lnTo>
                    <a:pt x="436229" y="138662"/>
                  </a:lnTo>
                  <a:lnTo>
                    <a:pt x="415297" y="100097"/>
                  </a:lnTo>
                  <a:lnTo>
                    <a:pt x="387574" y="66496"/>
                  </a:lnTo>
                  <a:lnTo>
                    <a:pt x="353973" y="38773"/>
                  </a:lnTo>
                  <a:lnTo>
                    <a:pt x="315408" y="17841"/>
                  </a:lnTo>
                  <a:lnTo>
                    <a:pt x="272791" y="4612"/>
                  </a:lnTo>
                  <a:lnTo>
                    <a:pt x="227035" y="0"/>
                  </a:lnTo>
                  <a:lnTo>
                    <a:pt x="181279" y="4612"/>
                  </a:lnTo>
                  <a:lnTo>
                    <a:pt x="138662" y="17841"/>
                  </a:lnTo>
                  <a:lnTo>
                    <a:pt x="100097" y="38773"/>
                  </a:lnTo>
                  <a:lnTo>
                    <a:pt x="66496" y="66496"/>
                  </a:lnTo>
                  <a:lnTo>
                    <a:pt x="38773" y="100097"/>
                  </a:lnTo>
                  <a:lnTo>
                    <a:pt x="17841" y="138662"/>
                  </a:lnTo>
                  <a:lnTo>
                    <a:pt x="4612" y="181279"/>
                  </a:lnTo>
                  <a:lnTo>
                    <a:pt x="0" y="227035"/>
                  </a:lnTo>
                  <a:lnTo>
                    <a:pt x="4612" y="272791"/>
                  </a:lnTo>
                  <a:lnTo>
                    <a:pt x="17841" y="315408"/>
                  </a:lnTo>
                  <a:lnTo>
                    <a:pt x="38773" y="353973"/>
                  </a:lnTo>
                  <a:lnTo>
                    <a:pt x="66496" y="387574"/>
                  </a:lnTo>
                  <a:lnTo>
                    <a:pt x="100097" y="415297"/>
                  </a:lnTo>
                  <a:lnTo>
                    <a:pt x="138662" y="436229"/>
                  </a:lnTo>
                  <a:lnTo>
                    <a:pt x="181279" y="449458"/>
                  </a:lnTo>
                  <a:lnTo>
                    <a:pt x="227035" y="454070"/>
                  </a:lnTo>
                  <a:lnTo>
                    <a:pt x="272791" y="449458"/>
                  </a:lnTo>
                  <a:lnTo>
                    <a:pt x="315408" y="436229"/>
                  </a:lnTo>
                  <a:lnTo>
                    <a:pt x="353973" y="415297"/>
                  </a:lnTo>
                  <a:lnTo>
                    <a:pt x="387574" y="387574"/>
                  </a:lnTo>
                  <a:lnTo>
                    <a:pt x="415297" y="353973"/>
                  </a:lnTo>
                  <a:lnTo>
                    <a:pt x="436229" y="315408"/>
                  </a:lnTo>
                  <a:lnTo>
                    <a:pt x="449458" y="272791"/>
                  </a:lnTo>
                  <a:lnTo>
                    <a:pt x="454070" y="227035"/>
                  </a:lnTo>
                  <a:close/>
                </a:path>
              </a:pathLst>
            </a:custGeom>
            <a:noFill/>
            <a:ln w="10100" cap="flat" cmpd="sng">
              <a:solidFill>
                <a:srgbClr val="CCCCC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41" name="Google Shape;641;p37"/>
            <p:cNvPicPr preferRelativeResize="0"/>
            <p:nvPr/>
          </p:nvPicPr>
          <p:blipFill rotWithShape="1">
            <a:blip r:embed="rId3">
              <a:alphaModFix/>
            </a:blip>
            <a:srcRect/>
            <a:stretch/>
          </p:blipFill>
          <p:spPr>
            <a:xfrm>
              <a:off x="4103128" y="2830144"/>
              <a:ext cx="34925" cy="139700"/>
            </a:xfrm>
            <a:prstGeom prst="rect">
              <a:avLst/>
            </a:prstGeom>
            <a:noFill/>
            <a:ln>
              <a:noFill/>
            </a:ln>
          </p:spPr>
        </p:pic>
      </p:grpSp>
      <p:sp>
        <p:nvSpPr>
          <p:cNvPr id="642" name="Google Shape;642;p37"/>
          <p:cNvSpPr txBox="1"/>
          <p:nvPr/>
        </p:nvSpPr>
        <p:spPr>
          <a:xfrm>
            <a:off x="4174583" y="2783673"/>
            <a:ext cx="64135" cy="191770"/>
          </a:xfrm>
          <a:prstGeom prst="rect">
            <a:avLst/>
          </a:prstGeom>
          <a:noFill/>
          <a:ln>
            <a:noFill/>
          </a:ln>
        </p:spPr>
        <p:txBody>
          <a:bodyPr spcFirstLastPara="1" wrap="square" lIns="0" tIns="11425" rIns="0" bIns="0" anchor="t" anchorCtr="0">
            <a:spAutoFit/>
          </a:bodyPr>
          <a:lstStyle/>
          <a:p>
            <a:pPr marL="12700" lvl="0" indent="0" algn="l" rtl="0">
              <a:lnSpc>
                <a:spcPct val="100000"/>
              </a:lnSpc>
              <a:spcBef>
                <a:spcPts val="0"/>
              </a:spcBef>
              <a:spcAft>
                <a:spcPts val="0"/>
              </a:spcAft>
              <a:buNone/>
            </a:pPr>
            <a:r>
              <a:rPr lang="en-US" sz="1100">
                <a:latin typeface="Lucida Sans"/>
                <a:ea typeface="Lucida Sans"/>
                <a:cs typeface="Lucida Sans"/>
                <a:sym typeface="Lucida Sans"/>
              </a:rPr>
              <a:t>·</a:t>
            </a:r>
            <a:endParaRPr sz="1100">
              <a:latin typeface="Lucida Sans"/>
              <a:ea typeface="Lucida Sans"/>
              <a:cs typeface="Lucida Sans"/>
              <a:sym typeface="Lucida Sans"/>
            </a:endParaRPr>
          </a:p>
        </p:txBody>
      </p:sp>
      <p:pic>
        <p:nvPicPr>
          <p:cNvPr id="643" name="Google Shape;643;p37"/>
          <p:cNvPicPr preferRelativeResize="0"/>
          <p:nvPr/>
        </p:nvPicPr>
        <p:blipFill rotWithShape="1">
          <a:blip r:embed="rId3">
            <a:alphaModFix/>
          </a:blip>
          <a:srcRect/>
          <a:stretch/>
        </p:blipFill>
        <p:spPr>
          <a:xfrm>
            <a:off x="4272403" y="2830144"/>
            <a:ext cx="34925" cy="139700"/>
          </a:xfrm>
          <a:prstGeom prst="rect">
            <a:avLst/>
          </a:prstGeom>
          <a:noFill/>
          <a:ln>
            <a:noFill/>
          </a:ln>
        </p:spPr>
      </p:pic>
      <p:sp>
        <p:nvSpPr>
          <p:cNvPr id="644" name="Google Shape;644;p37"/>
          <p:cNvSpPr txBox="1"/>
          <p:nvPr/>
        </p:nvSpPr>
        <p:spPr>
          <a:xfrm>
            <a:off x="4313161" y="2780841"/>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2</a:t>
            </a:r>
            <a:endParaRPr sz="700">
              <a:latin typeface="Arial"/>
              <a:ea typeface="Arial"/>
              <a:cs typeface="Arial"/>
              <a:sym typeface="Arial"/>
            </a:endParaRPr>
          </a:p>
        </p:txBody>
      </p:sp>
      <p:sp>
        <p:nvSpPr>
          <p:cNvPr id="645" name="Google Shape;645;p37"/>
          <p:cNvSpPr txBox="1"/>
          <p:nvPr/>
        </p:nvSpPr>
        <p:spPr>
          <a:xfrm>
            <a:off x="4832243" y="2751027"/>
            <a:ext cx="432434" cy="288290"/>
          </a:xfrm>
          <a:prstGeom prst="rect">
            <a:avLst/>
          </a:prstGeom>
          <a:solidFill>
            <a:srgbClr val="E599B2"/>
          </a:solidFill>
          <a:ln w="10100" cap="flat" cmpd="sng">
            <a:solidFill>
              <a:srgbClr val="D8668C"/>
            </a:solidFill>
            <a:prstDash val="solid"/>
            <a:round/>
            <a:headEnd type="none" w="sm" len="sm"/>
            <a:tailEnd type="none" w="sm" len="sm"/>
          </a:ln>
        </p:spPr>
        <p:txBody>
          <a:bodyPr spcFirstLastPara="1" wrap="square" lIns="0" tIns="38725" rIns="0" bIns="0" anchor="t" anchorCtr="0">
            <a:spAutoFit/>
          </a:bodyPr>
          <a:lstStyle/>
          <a:p>
            <a:pPr marL="76835" lvl="0" indent="0" algn="l" rtl="0">
              <a:lnSpc>
                <a:spcPct val="100000"/>
              </a:lnSpc>
              <a:spcBef>
                <a:spcPts val="0"/>
              </a:spcBef>
              <a:spcAft>
                <a:spcPts val="0"/>
              </a:spcAft>
              <a:buNone/>
            </a:pPr>
            <a:r>
              <a:rPr lang="en-US" sz="950" i="1">
                <a:latin typeface="Arial"/>
                <a:ea typeface="Arial"/>
                <a:cs typeface="Arial"/>
                <a:sym typeface="Arial"/>
              </a:rPr>
              <a:t>J</a:t>
            </a:r>
            <a:r>
              <a:rPr lang="en-US" sz="1100">
                <a:latin typeface="Tahoma"/>
                <a:ea typeface="Tahoma"/>
                <a:cs typeface="Tahoma"/>
                <a:sym typeface="Tahoma"/>
              </a:rPr>
              <a:t>(</a:t>
            </a:r>
            <a:r>
              <a:rPr lang="en-US" sz="950" b="1">
                <a:latin typeface="Arial"/>
                <a:ea typeface="Arial"/>
                <a:cs typeface="Arial"/>
                <a:sym typeface="Arial"/>
              </a:rPr>
              <a:t>w</a:t>
            </a:r>
            <a:r>
              <a:rPr lang="en-US" sz="1100">
                <a:latin typeface="Tahoma"/>
                <a:ea typeface="Tahoma"/>
                <a:cs typeface="Tahoma"/>
                <a:sym typeface="Tahoma"/>
              </a:rPr>
              <a:t>)</a:t>
            </a:r>
            <a:endParaRPr sz="1100">
              <a:latin typeface="Tahoma"/>
              <a:ea typeface="Tahoma"/>
              <a:cs typeface="Tahoma"/>
              <a:sym typeface="Tahoma"/>
            </a:endParaRPr>
          </a:p>
        </p:txBody>
      </p:sp>
      <p:grpSp>
        <p:nvGrpSpPr>
          <p:cNvPr id="646" name="Google Shape;646;p37"/>
          <p:cNvGrpSpPr/>
          <p:nvPr/>
        </p:nvGrpSpPr>
        <p:grpSpPr>
          <a:xfrm>
            <a:off x="1642713" y="1105658"/>
            <a:ext cx="3184539" cy="1815759"/>
            <a:chOff x="1642713" y="1105658"/>
            <a:chExt cx="3184539" cy="1815759"/>
          </a:xfrm>
        </p:grpSpPr>
        <p:sp>
          <p:nvSpPr>
            <p:cNvPr id="647" name="Google Shape;647;p37"/>
            <p:cNvSpPr/>
            <p:nvPr/>
          </p:nvSpPr>
          <p:spPr>
            <a:xfrm>
              <a:off x="2583786" y="1141707"/>
              <a:ext cx="0" cy="291465"/>
            </a:xfrm>
            <a:custGeom>
              <a:avLst/>
              <a:gdLst/>
              <a:ahLst/>
              <a:cxnLst/>
              <a:rect l="l" t="t" r="r" b="b"/>
              <a:pathLst>
                <a:path w="120000" h="291465" extrusionOk="0">
                  <a:moveTo>
                    <a:pt x="0" y="0"/>
                  </a:moveTo>
                  <a:lnTo>
                    <a:pt x="0" y="291105"/>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8" name="Google Shape;648;p37"/>
            <p:cNvSpPr/>
            <p:nvPr/>
          </p:nvSpPr>
          <p:spPr>
            <a:xfrm>
              <a:off x="2557469" y="1413075"/>
              <a:ext cx="52705" cy="52705"/>
            </a:xfrm>
            <a:custGeom>
              <a:avLst/>
              <a:gdLst/>
              <a:ahLst/>
              <a:cxnLst/>
              <a:rect l="l" t="t" r="r" b="b"/>
              <a:pathLst>
                <a:path w="52705" h="52705" extrusionOk="0">
                  <a:moveTo>
                    <a:pt x="52633" y="0"/>
                  </a:moveTo>
                  <a:lnTo>
                    <a:pt x="26316" y="19737"/>
                  </a:lnTo>
                  <a:lnTo>
                    <a:pt x="0" y="0"/>
                  </a:lnTo>
                  <a:lnTo>
                    <a:pt x="26316" y="52634"/>
                  </a:lnTo>
                  <a:lnTo>
                    <a:pt x="52633"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9" name="Google Shape;649;p37"/>
            <p:cNvSpPr/>
            <p:nvPr/>
          </p:nvSpPr>
          <p:spPr>
            <a:xfrm>
              <a:off x="1642713" y="1105658"/>
              <a:ext cx="781050" cy="399415"/>
            </a:xfrm>
            <a:custGeom>
              <a:avLst/>
              <a:gdLst/>
              <a:ahLst/>
              <a:cxnLst/>
              <a:rect l="l" t="t" r="r" b="b"/>
              <a:pathLst>
                <a:path w="781050" h="399415" extrusionOk="0">
                  <a:moveTo>
                    <a:pt x="0" y="0"/>
                  </a:moveTo>
                  <a:lnTo>
                    <a:pt x="780924" y="399279"/>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0" name="Google Shape;650;p37"/>
            <p:cNvSpPr/>
            <p:nvPr/>
          </p:nvSpPr>
          <p:spPr>
            <a:xfrm>
              <a:off x="2394084" y="1472522"/>
              <a:ext cx="59055" cy="47625"/>
            </a:xfrm>
            <a:custGeom>
              <a:avLst/>
              <a:gdLst/>
              <a:ahLst/>
              <a:cxnLst/>
              <a:rect l="l" t="t" r="r" b="b"/>
              <a:pathLst>
                <a:path w="59055" h="47625" extrusionOk="0">
                  <a:moveTo>
                    <a:pt x="23959" y="0"/>
                  </a:moveTo>
                  <a:lnTo>
                    <a:pt x="29553" y="32416"/>
                  </a:lnTo>
                  <a:lnTo>
                    <a:pt x="0" y="46862"/>
                  </a:lnTo>
                  <a:lnTo>
                    <a:pt x="58842" y="47391"/>
                  </a:lnTo>
                  <a:lnTo>
                    <a:pt x="23959"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1" name="Google Shape;651;p37"/>
            <p:cNvSpPr/>
            <p:nvPr/>
          </p:nvSpPr>
          <p:spPr>
            <a:xfrm>
              <a:off x="2583786" y="1835836"/>
              <a:ext cx="0" cy="291465"/>
            </a:xfrm>
            <a:custGeom>
              <a:avLst/>
              <a:gdLst/>
              <a:ahLst/>
              <a:cxnLst/>
              <a:rect l="l" t="t" r="r" b="b"/>
              <a:pathLst>
                <a:path w="120000" h="291464" extrusionOk="0">
                  <a:moveTo>
                    <a:pt x="0" y="0"/>
                  </a:moveTo>
                  <a:lnTo>
                    <a:pt x="0" y="291105"/>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2" name="Google Shape;652;p37"/>
            <p:cNvSpPr/>
            <p:nvPr/>
          </p:nvSpPr>
          <p:spPr>
            <a:xfrm>
              <a:off x="2557469" y="2107203"/>
              <a:ext cx="52705" cy="52705"/>
            </a:xfrm>
            <a:custGeom>
              <a:avLst/>
              <a:gdLst/>
              <a:ahLst/>
              <a:cxnLst/>
              <a:rect l="l" t="t" r="r" b="b"/>
              <a:pathLst>
                <a:path w="52705" h="52705" extrusionOk="0">
                  <a:moveTo>
                    <a:pt x="52633" y="0"/>
                  </a:moveTo>
                  <a:lnTo>
                    <a:pt x="26316" y="19737"/>
                  </a:lnTo>
                  <a:lnTo>
                    <a:pt x="0" y="0"/>
                  </a:lnTo>
                  <a:lnTo>
                    <a:pt x="26316" y="52634"/>
                  </a:lnTo>
                  <a:lnTo>
                    <a:pt x="52633"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3" name="Google Shape;653;p37"/>
            <p:cNvSpPr/>
            <p:nvPr/>
          </p:nvSpPr>
          <p:spPr>
            <a:xfrm>
              <a:off x="2804849" y="2308901"/>
              <a:ext cx="399415" cy="0"/>
            </a:xfrm>
            <a:custGeom>
              <a:avLst/>
              <a:gdLst/>
              <a:ahLst/>
              <a:cxnLst/>
              <a:rect l="l" t="t" r="r" b="b"/>
              <a:pathLst>
                <a:path w="399414" h="120000" extrusionOk="0">
                  <a:moveTo>
                    <a:pt x="0" y="0"/>
                  </a:moveTo>
                  <a:lnTo>
                    <a:pt x="399108" y="0"/>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4" name="Google Shape;654;p37"/>
            <p:cNvSpPr/>
            <p:nvPr/>
          </p:nvSpPr>
          <p:spPr>
            <a:xfrm>
              <a:off x="3184219" y="2282584"/>
              <a:ext cx="52705" cy="52705"/>
            </a:xfrm>
            <a:custGeom>
              <a:avLst/>
              <a:gdLst/>
              <a:ahLst/>
              <a:cxnLst/>
              <a:rect l="l" t="t" r="r" b="b"/>
              <a:pathLst>
                <a:path w="52705" h="52705" extrusionOk="0">
                  <a:moveTo>
                    <a:pt x="0" y="0"/>
                  </a:moveTo>
                  <a:lnTo>
                    <a:pt x="19737" y="26316"/>
                  </a:lnTo>
                  <a:lnTo>
                    <a:pt x="0" y="52633"/>
                  </a:lnTo>
                  <a:lnTo>
                    <a:pt x="52634" y="26316"/>
                  </a:lnTo>
                  <a:lnTo>
                    <a:pt x="0"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5" name="Google Shape;655;p37"/>
            <p:cNvSpPr/>
            <p:nvPr/>
          </p:nvSpPr>
          <p:spPr>
            <a:xfrm>
              <a:off x="3474007" y="1141707"/>
              <a:ext cx="235585" cy="955675"/>
            </a:xfrm>
            <a:custGeom>
              <a:avLst/>
              <a:gdLst/>
              <a:ahLst/>
              <a:cxnLst/>
              <a:rect l="l" t="t" r="r" b="b"/>
              <a:pathLst>
                <a:path w="235585" h="955675" extrusionOk="0">
                  <a:moveTo>
                    <a:pt x="235251" y="0"/>
                  </a:moveTo>
                  <a:lnTo>
                    <a:pt x="0" y="955559"/>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6" name="Google Shape;656;p37"/>
            <p:cNvSpPr/>
            <p:nvPr/>
          </p:nvSpPr>
          <p:spPr>
            <a:xfrm>
              <a:off x="3453172" y="2071812"/>
              <a:ext cx="51435" cy="57785"/>
            </a:xfrm>
            <a:custGeom>
              <a:avLst/>
              <a:gdLst/>
              <a:ahLst/>
              <a:cxnLst/>
              <a:rect l="l" t="t" r="r" b="b"/>
              <a:pathLst>
                <a:path w="51435" h="57785" extrusionOk="0">
                  <a:moveTo>
                    <a:pt x="51106" y="12581"/>
                  </a:moveTo>
                  <a:lnTo>
                    <a:pt x="20835" y="25455"/>
                  </a:lnTo>
                  <a:lnTo>
                    <a:pt x="0" y="0"/>
                  </a:lnTo>
                  <a:lnTo>
                    <a:pt x="12972" y="57397"/>
                  </a:lnTo>
                  <a:lnTo>
                    <a:pt x="51106" y="12581"/>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7" name="Google Shape;657;p37"/>
            <p:cNvSpPr/>
            <p:nvPr/>
          </p:nvSpPr>
          <p:spPr>
            <a:xfrm>
              <a:off x="3421917" y="2493964"/>
              <a:ext cx="0" cy="219710"/>
            </a:xfrm>
            <a:custGeom>
              <a:avLst/>
              <a:gdLst/>
              <a:ahLst/>
              <a:cxnLst/>
              <a:rect l="l" t="t" r="r" b="b"/>
              <a:pathLst>
                <a:path w="120000" h="219710" extrusionOk="0">
                  <a:moveTo>
                    <a:pt x="0" y="0"/>
                  </a:moveTo>
                  <a:lnTo>
                    <a:pt x="0" y="219105"/>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8" name="Google Shape;658;p37"/>
            <p:cNvSpPr/>
            <p:nvPr/>
          </p:nvSpPr>
          <p:spPr>
            <a:xfrm>
              <a:off x="3395600" y="2693332"/>
              <a:ext cx="52705" cy="52705"/>
            </a:xfrm>
            <a:custGeom>
              <a:avLst/>
              <a:gdLst/>
              <a:ahLst/>
              <a:cxnLst/>
              <a:rect l="l" t="t" r="r" b="b"/>
              <a:pathLst>
                <a:path w="52704" h="52705" extrusionOk="0">
                  <a:moveTo>
                    <a:pt x="52633" y="0"/>
                  </a:moveTo>
                  <a:lnTo>
                    <a:pt x="26316" y="19737"/>
                  </a:lnTo>
                  <a:lnTo>
                    <a:pt x="0" y="0"/>
                  </a:lnTo>
                  <a:lnTo>
                    <a:pt x="26316" y="52634"/>
                  </a:lnTo>
                  <a:lnTo>
                    <a:pt x="52633"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9" name="Google Shape;659;p37"/>
            <p:cNvSpPr/>
            <p:nvPr/>
          </p:nvSpPr>
          <p:spPr>
            <a:xfrm>
              <a:off x="3642980" y="2895029"/>
              <a:ext cx="327660" cy="0"/>
            </a:xfrm>
            <a:custGeom>
              <a:avLst/>
              <a:gdLst/>
              <a:ahLst/>
              <a:cxnLst/>
              <a:rect l="l" t="t" r="r" b="b"/>
              <a:pathLst>
                <a:path w="327660" h="120000" extrusionOk="0">
                  <a:moveTo>
                    <a:pt x="0" y="0"/>
                  </a:moveTo>
                  <a:lnTo>
                    <a:pt x="327108" y="0"/>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0" name="Google Shape;660;p37"/>
            <p:cNvSpPr/>
            <p:nvPr/>
          </p:nvSpPr>
          <p:spPr>
            <a:xfrm>
              <a:off x="3950350" y="2868712"/>
              <a:ext cx="52705" cy="52705"/>
            </a:xfrm>
            <a:custGeom>
              <a:avLst/>
              <a:gdLst/>
              <a:ahLst/>
              <a:cxnLst/>
              <a:rect l="l" t="t" r="r" b="b"/>
              <a:pathLst>
                <a:path w="52704" h="52705" extrusionOk="0">
                  <a:moveTo>
                    <a:pt x="0" y="0"/>
                  </a:moveTo>
                  <a:lnTo>
                    <a:pt x="19737" y="26316"/>
                  </a:lnTo>
                  <a:lnTo>
                    <a:pt x="0" y="52633"/>
                  </a:lnTo>
                  <a:lnTo>
                    <a:pt x="52634" y="26316"/>
                  </a:lnTo>
                  <a:lnTo>
                    <a:pt x="0"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1" name="Google Shape;661;p37"/>
            <p:cNvSpPr/>
            <p:nvPr/>
          </p:nvSpPr>
          <p:spPr>
            <a:xfrm>
              <a:off x="4467177" y="2895029"/>
              <a:ext cx="327660" cy="0"/>
            </a:xfrm>
            <a:custGeom>
              <a:avLst/>
              <a:gdLst/>
              <a:ahLst/>
              <a:cxnLst/>
              <a:rect l="l" t="t" r="r" b="b"/>
              <a:pathLst>
                <a:path w="327660" h="120000" extrusionOk="0">
                  <a:moveTo>
                    <a:pt x="0" y="0"/>
                  </a:moveTo>
                  <a:lnTo>
                    <a:pt x="327108" y="0"/>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2" name="Google Shape;662;p37"/>
            <p:cNvSpPr/>
            <p:nvPr/>
          </p:nvSpPr>
          <p:spPr>
            <a:xfrm>
              <a:off x="4774547" y="2868712"/>
              <a:ext cx="52705" cy="52705"/>
            </a:xfrm>
            <a:custGeom>
              <a:avLst/>
              <a:gdLst/>
              <a:ahLst/>
              <a:cxnLst/>
              <a:rect l="l" t="t" r="r" b="b"/>
              <a:pathLst>
                <a:path w="52704" h="52705" extrusionOk="0">
                  <a:moveTo>
                    <a:pt x="0" y="0"/>
                  </a:moveTo>
                  <a:lnTo>
                    <a:pt x="19737" y="26316"/>
                  </a:lnTo>
                  <a:lnTo>
                    <a:pt x="0" y="52633"/>
                  </a:lnTo>
                  <a:lnTo>
                    <a:pt x="52634" y="26316"/>
                  </a:lnTo>
                  <a:lnTo>
                    <a:pt x="0"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63" name="Google Shape;663;p37"/>
          <p:cNvSpPr txBox="1"/>
          <p:nvPr/>
        </p:nvSpPr>
        <p:spPr>
          <a:xfrm>
            <a:off x="1198702" y="1470770"/>
            <a:ext cx="446405" cy="288290"/>
          </a:xfrm>
          <a:prstGeom prst="rect">
            <a:avLst/>
          </a:prstGeom>
          <a:solidFill>
            <a:srgbClr val="99FF99"/>
          </a:solidFill>
          <a:ln w="10100" cap="flat" cmpd="sng">
            <a:solidFill>
              <a:srgbClr val="66FF66"/>
            </a:solidFill>
            <a:prstDash val="solid"/>
            <a:round/>
            <a:headEnd type="none" w="sm" len="sm"/>
            <a:tailEnd type="none" w="sm" len="sm"/>
          </a:ln>
        </p:spPr>
        <p:txBody>
          <a:bodyPr spcFirstLastPara="1" wrap="square" lIns="0" tIns="36175" rIns="0" bIns="0" anchor="t" anchorCtr="0">
            <a:spAutoFit/>
          </a:bodyPr>
          <a:lstStyle/>
          <a:p>
            <a:pPr marL="45085" lvl="0" indent="0" algn="l" rtl="0">
              <a:lnSpc>
                <a:spcPct val="100000"/>
              </a:lnSpc>
              <a:spcBef>
                <a:spcPts val="0"/>
              </a:spcBef>
              <a:spcAft>
                <a:spcPts val="0"/>
              </a:spcAft>
              <a:buNone/>
            </a:pPr>
            <a:r>
              <a:rPr lang="en-US" sz="1425" b="1" baseline="-25000">
                <a:latin typeface="Arial"/>
                <a:ea typeface="Arial"/>
                <a:cs typeface="Arial"/>
                <a:sym typeface="Arial"/>
              </a:rPr>
              <a:t>w</a:t>
            </a:r>
            <a:r>
              <a:rPr lang="en-US" sz="800">
                <a:latin typeface="Tahoma"/>
                <a:ea typeface="Tahoma"/>
                <a:cs typeface="Tahoma"/>
                <a:sym typeface="Tahoma"/>
              </a:rPr>
              <a:t>(</a:t>
            </a:r>
            <a:r>
              <a:rPr lang="en-US" sz="700" i="1">
                <a:latin typeface="Arial"/>
                <a:ea typeface="Arial"/>
                <a:cs typeface="Arial"/>
                <a:sym typeface="Arial"/>
              </a:rPr>
              <a:t>t </a:t>
            </a:r>
            <a:r>
              <a:rPr lang="en-US" sz="800">
                <a:latin typeface="Tahoma"/>
                <a:ea typeface="Tahoma"/>
                <a:cs typeface="Tahoma"/>
                <a:sym typeface="Tahoma"/>
              </a:rPr>
              <a:t>+</a:t>
            </a:r>
            <a:r>
              <a:rPr lang="en-US" sz="700">
                <a:latin typeface="Arial"/>
                <a:ea typeface="Arial"/>
                <a:cs typeface="Arial"/>
                <a:sym typeface="Arial"/>
              </a:rPr>
              <a:t>1</a:t>
            </a:r>
            <a:r>
              <a:rPr lang="en-US" sz="800">
                <a:latin typeface="Tahoma"/>
                <a:ea typeface="Tahoma"/>
                <a:cs typeface="Tahoma"/>
                <a:sym typeface="Tahoma"/>
              </a:rPr>
              <a:t>)</a:t>
            </a:r>
            <a:endParaRPr sz="800">
              <a:latin typeface="Tahoma"/>
              <a:ea typeface="Tahoma"/>
              <a:cs typeface="Tahoma"/>
              <a:sym typeface="Tahoma"/>
            </a:endParaRPr>
          </a:p>
        </p:txBody>
      </p:sp>
      <p:grpSp>
        <p:nvGrpSpPr>
          <p:cNvPr id="664" name="Google Shape;664;p37"/>
          <p:cNvGrpSpPr/>
          <p:nvPr/>
        </p:nvGrpSpPr>
        <p:grpSpPr>
          <a:xfrm>
            <a:off x="1241648" y="2092899"/>
            <a:ext cx="360045" cy="360045"/>
            <a:chOff x="1241648" y="2092899"/>
            <a:chExt cx="360045" cy="360045"/>
          </a:xfrm>
        </p:grpSpPr>
        <p:sp>
          <p:nvSpPr>
            <p:cNvPr id="665" name="Google Shape;665;p37"/>
            <p:cNvSpPr/>
            <p:nvPr/>
          </p:nvSpPr>
          <p:spPr>
            <a:xfrm>
              <a:off x="1241648" y="2092899"/>
              <a:ext cx="360045" cy="360045"/>
            </a:xfrm>
            <a:custGeom>
              <a:avLst/>
              <a:gdLst/>
              <a:ahLst/>
              <a:cxnLst/>
              <a:rect l="l" t="t" r="r" b="b"/>
              <a:pathLst>
                <a:path w="360044" h="360044" extrusionOk="0">
                  <a:moveTo>
                    <a:pt x="180002" y="0"/>
                  </a:moveTo>
                  <a:lnTo>
                    <a:pt x="132149" y="6429"/>
                  </a:lnTo>
                  <a:lnTo>
                    <a:pt x="89151" y="24575"/>
                  </a:lnTo>
                  <a:lnTo>
                    <a:pt x="52720" y="52720"/>
                  </a:lnTo>
                  <a:lnTo>
                    <a:pt x="24575" y="89151"/>
                  </a:lnTo>
                  <a:lnTo>
                    <a:pt x="6429" y="132150"/>
                  </a:lnTo>
                  <a:lnTo>
                    <a:pt x="0" y="180002"/>
                  </a:lnTo>
                  <a:lnTo>
                    <a:pt x="6429" y="227854"/>
                  </a:lnTo>
                  <a:lnTo>
                    <a:pt x="24575" y="270853"/>
                  </a:lnTo>
                  <a:lnTo>
                    <a:pt x="52720" y="307283"/>
                  </a:lnTo>
                  <a:lnTo>
                    <a:pt x="89151" y="335428"/>
                  </a:lnTo>
                  <a:lnTo>
                    <a:pt x="132149" y="353574"/>
                  </a:lnTo>
                  <a:lnTo>
                    <a:pt x="180002" y="360004"/>
                  </a:lnTo>
                  <a:lnTo>
                    <a:pt x="227854" y="353574"/>
                  </a:lnTo>
                  <a:lnTo>
                    <a:pt x="270853" y="335428"/>
                  </a:lnTo>
                  <a:lnTo>
                    <a:pt x="307283" y="307283"/>
                  </a:lnTo>
                  <a:lnTo>
                    <a:pt x="335428" y="270853"/>
                  </a:lnTo>
                  <a:lnTo>
                    <a:pt x="353574" y="227854"/>
                  </a:lnTo>
                  <a:lnTo>
                    <a:pt x="360004" y="180002"/>
                  </a:lnTo>
                  <a:lnTo>
                    <a:pt x="353574" y="132150"/>
                  </a:lnTo>
                  <a:lnTo>
                    <a:pt x="335428" y="89151"/>
                  </a:lnTo>
                  <a:lnTo>
                    <a:pt x="307283" y="52720"/>
                  </a:lnTo>
                  <a:lnTo>
                    <a:pt x="270853" y="24575"/>
                  </a:lnTo>
                  <a:lnTo>
                    <a:pt x="227854" y="6429"/>
                  </a:lnTo>
                  <a:lnTo>
                    <a:pt x="180002" y="0"/>
                  </a:lnTo>
                  <a:close/>
                </a:path>
              </a:pathLst>
            </a:custGeom>
            <a:solidFill>
              <a:srgbClr val="FFCC99"/>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6" name="Google Shape;666;p37"/>
            <p:cNvSpPr/>
            <p:nvPr/>
          </p:nvSpPr>
          <p:spPr>
            <a:xfrm>
              <a:off x="1241648" y="2092899"/>
              <a:ext cx="360045" cy="360045"/>
            </a:xfrm>
            <a:custGeom>
              <a:avLst/>
              <a:gdLst/>
              <a:ahLst/>
              <a:cxnLst/>
              <a:rect l="l" t="t" r="r" b="b"/>
              <a:pathLst>
                <a:path w="360044" h="360044" extrusionOk="0">
                  <a:moveTo>
                    <a:pt x="360004" y="180002"/>
                  </a:moveTo>
                  <a:lnTo>
                    <a:pt x="353574" y="132150"/>
                  </a:lnTo>
                  <a:lnTo>
                    <a:pt x="335428" y="89151"/>
                  </a:lnTo>
                  <a:lnTo>
                    <a:pt x="307283" y="52720"/>
                  </a:lnTo>
                  <a:lnTo>
                    <a:pt x="270853" y="24575"/>
                  </a:lnTo>
                  <a:lnTo>
                    <a:pt x="227854" y="6429"/>
                  </a:lnTo>
                  <a:lnTo>
                    <a:pt x="180002" y="0"/>
                  </a:lnTo>
                  <a:lnTo>
                    <a:pt x="132149" y="6429"/>
                  </a:lnTo>
                  <a:lnTo>
                    <a:pt x="89151" y="24575"/>
                  </a:lnTo>
                  <a:lnTo>
                    <a:pt x="52720" y="52720"/>
                  </a:lnTo>
                  <a:lnTo>
                    <a:pt x="24575" y="89151"/>
                  </a:lnTo>
                  <a:lnTo>
                    <a:pt x="6429" y="132150"/>
                  </a:lnTo>
                  <a:lnTo>
                    <a:pt x="0" y="180002"/>
                  </a:lnTo>
                  <a:lnTo>
                    <a:pt x="6429" y="227854"/>
                  </a:lnTo>
                  <a:lnTo>
                    <a:pt x="24575" y="270853"/>
                  </a:lnTo>
                  <a:lnTo>
                    <a:pt x="52720" y="307283"/>
                  </a:lnTo>
                  <a:lnTo>
                    <a:pt x="89151" y="335428"/>
                  </a:lnTo>
                  <a:lnTo>
                    <a:pt x="132149" y="353574"/>
                  </a:lnTo>
                  <a:lnTo>
                    <a:pt x="180002" y="360004"/>
                  </a:lnTo>
                  <a:lnTo>
                    <a:pt x="227854" y="353574"/>
                  </a:lnTo>
                  <a:lnTo>
                    <a:pt x="270853" y="335428"/>
                  </a:lnTo>
                  <a:lnTo>
                    <a:pt x="307283" y="307283"/>
                  </a:lnTo>
                  <a:lnTo>
                    <a:pt x="335428" y="270853"/>
                  </a:lnTo>
                  <a:lnTo>
                    <a:pt x="353574" y="227854"/>
                  </a:lnTo>
                  <a:lnTo>
                    <a:pt x="360004" y="180002"/>
                  </a:lnTo>
                  <a:close/>
                </a:path>
              </a:pathLst>
            </a:custGeom>
            <a:noFill/>
            <a:ln w="10100" cap="flat" cmpd="sng">
              <a:solidFill>
                <a:srgbClr val="FFB26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67" name="Google Shape;667;p37"/>
          <p:cNvSpPr txBox="1"/>
          <p:nvPr/>
        </p:nvSpPr>
        <p:spPr>
          <a:xfrm>
            <a:off x="1296974" y="2145498"/>
            <a:ext cx="243204" cy="175260"/>
          </a:xfrm>
          <a:prstGeom prst="rect">
            <a:avLst/>
          </a:prstGeom>
          <a:noFill/>
          <a:ln>
            <a:noFill/>
          </a:ln>
        </p:spPr>
        <p:txBody>
          <a:bodyPr spcFirstLastPara="1" wrap="square" lIns="0" tIns="16500" rIns="0" bIns="0" anchor="t" anchorCtr="0">
            <a:spAutoFit/>
          </a:bodyPr>
          <a:lstStyle/>
          <a:p>
            <a:pPr marL="38100" lvl="0" indent="0" algn="l" rtl="0">
              <a:lnSpc>
                <a:spcPct val="100000"/>
              </a:lnSpc>
              <a:spcBef>
                <a:spcPts val="0"/>
              </a:spcBef>
              <a:spcAft>
                <a:spcPts val="0"/>
              </a:spcAft>
              <a:buNone/>
            </a:pPr>
            <a:r>
              <a:rPr lang="en-US" sz="1425" b="1" baseline="-25000">
                <a:latin typeface="Arial"/>
                <a:ea typeface="Arial"/>
                <a:cs typeface="Arial"/>
                <a:sym typeface="Arial"/>
              </a:rPr>
              <a:t>X</a:t>
            </a:r>
            <a:r>
              <a:rPr lang="en-US" sz="800">
                <a:latin typeface="Lucida Sans"/>
                <a:ea typeface="Lucida Sans"/>
                <a:cs typeface="Lucida Sans"/>
                <a:sym typeface="Lucida Sans"/>
              </a:rPr>
              <a:t>T</a:t>
            </a:r>
            <a:endParaRPr sz="800">
              <a:latin typeface="Lucida Sans"/>
              <a:ea typeface="Lucida Sans"/>
              <a:cs typeface="Lucida Sans"/>
              <a:sym typeface="Lucida Sans"/>
            </a:endParaRPr>
          </a:p>
        </p:txBody>
      </p:sp>
      <p:sp>
        <p:nvSpPr>
          <p:cNvPr id="668" name="Google Shape;668;p37"/>
          <p:cNvSpPr txBox="1"/>
          <p:nvPr/>
        </p:nvSpPr>
        <p:spPr>
          <a:xfrm>
            <a:off x="1205648" y="2751030"/>
            <a:ext cx="432434" cy="288290"/>
          </a:xfrm>
          <a:prstGeom prst="rect">
            <a:avLst/>
          </a:prstGeom>
          <a:solidFill>
            <a:srgbClr val="FFCC99"/>
          </a:solidFill>
          <a:ln w="10100" cap="flat" cmpd="sng">
            <a:solidFill>
              <a:srgbClr val="FFB266"/>
            </a:solidFill>
            <a:prstDash val="solid"/>
            <a:round/>
            <a:headEnd type="none" w="sm" len="sm"/>
            <a:tailEnd type="none" w="sm" len="sm"/>
          </a:ln>
        </p:spPr>
        <p:txBody>
          <a:bodyPr spcFirstLastPara="1" wrap="square" lIns="0" tIns="50150" rIns="0" bIns="0" anchor="t" anchorCtr="0">
            <a:spAutoFit/>
          </a:bodyPr>
          <a:lstStyle/>
          <a:p>
            <a:pPr marL="121920" lvl="0" indent="0" algn="l" rtl="0">
              <a:lnSpc>
                <a:spcPct val="100000"/>
              </a:lnSpc>
              <a:spcBef>
                <a:spcPts val="0"/>
              </a:spcBef>
              <a:spcAft>
                <a:spcPts val="0"/>
              </a:spcAft>
              <a:buNone/>
            </a:pPr>
            <a:r>
              <a:rPr lang="en-US" sz="1100">
                <a:latin typeface="Lucida Sans"/>
                <a:ea typeface="Lucida Sans"/>
                <a:cs typeface="Lucida Sans"/>
                <a:sym typeface="Lucida Sans"/>
              </a:rPr>
              <a:t>∇</a:t>
            </a:r>
            <a:r>
              <a:rPr lang="en-US" sz="950" i="1">
                <a:latin typeface="Arial"/>
                <a:ea typeface="Arial"/>
                <a:cs typeface="Arial"/>
                <a:sym typeface="Arial"/>
              </a:rPr>
              <a:t>J</a:t>
            </a:r>
            <a:endParaRPr sz="950">
              <a:latin typeface="Arial"/>
              <a:ea typeface="Arial"/>
              <a:cs typeface="Arial"/>
              <a:sym typeface="Arial"/>
            </a:endParaRPr>
          </a:p>
        </p:txBody>
      </p:sp>
      <p:grpSp>
        <p:nvGrpSpPr>
          <p:cNvPr id="669" name="Google Shape;669;p37"/>
          <p:cNvGrpSpPr/>
          <p:nvPr/>
        </p:nvGrpSpPr>
        <p:grpSpPr>
          <a:xfrm>
            <a:off x="1642713" y="2868715"/>
            <a:ext cx="1558167" cy="52705"/>
            <a:chOff x="1642713" y="2868715"/>
            <a:chExt cx="1558167" cy="52705"/>
          </a:xfrm>
        </p:grpSpPr>
        <p:sp>
          <p:nvSpPr>
            <p:cNvPr id="670" name="Google Shape;670;p37"/>
            <p:cNvSpPr/>
            <p:nvPr/>
          </p:nvSpPr>
          <p:spPr>
            <a:xfrm>
              <a:off x="1675610" y="2895029"/>
              <a:ext cx="1525270" cy="0"/>
            </a:xfrm>
            <a:custGeom>
              <a:avLst/>
              <a:gdLst/>
              <a:ahLst/>
              <a:cxnLst/>
              <a:rect l="l" t="t" r="r" b="b"/>
              <a:pathLst>
                <a:path w="1525270" h="120000" extrusionOk="0">
                  <a:moveTo>
                    <a:pt x="1525243" y="0"/>
                  </a:moveTo>
                  <a:lnTo>
                    <a:pt x="0" y="0"/>
                  </a:lnTo>
                </a:path>
              </a:pathLst>
            </a:custGeom>
            <a:noFill/>
            <a:ln w="10100" cap="flat" cmpd="sng">
              <a:solidFill>
                <a:srgbClr val="FF4C4C"/>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1" name="Google Shape;671;p37"/>
            <p:cNvSpPr/>
            <p:nvPr/>
          </p:nvSpPr>
          <p:spPr>
            <a:xfrm>
              <a:off x="1642713" y="2868715"/>
              <a:ext cx="52705" cy="52705"/>
            </a:xfrm>
            <a:custGeom>
              <a:avLst/>
              <a:gdLst/>
              <a:ahLst/>
              <a:cxnLst/>
              <a:rect l="l" t="t" r="r" b="b"/>
              <a:pathLst>
                <a:path w="52705" h="52705" extrusionOk="0">
                  <a:moveTo>
                    <a:pt x="52634" y="52633"/>
                  </a:moveTo>
                  <a:lnTo>
                    <a:pt x="32896" y="26316"/>
                  </a:lnTo>
                  <a:lnTo>
                    <a:pt x="52634" y="0"/>
                  </a:lnTo>
                  <a:lnTo>
                    <a:pt x="0" y="26316"/>
                  </a:lnTo>
                  <a:lnTo>
                    <a:pt x="52634" y="52633"/>
                  </a:lnTo>
                  <a:close/>
                </a:path>
              </a:pathLst>
            </a:custGeom>
            <a:solidFill>
              <a:srgbClr val="FF4C4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72" name="Google Shape;672;p37"/>
          <p:cNvSpPr txBox="1"/>
          <p:nvPr/>
        </p:nvSpPr>
        <p:spPr>
          <a:xfrm>
            <a:off x="2356446" y="2763382"/>
            <a:ext cx="7493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i="1">
                <a:solidFill>
                  <a:srgbClr val="FF4C4C"/>
                </a:solidFill>
                <a:latin typeface="Arial"/>
                <a:ea typeface="Arial"/>
                <a:cs typeface="Arial"/>
                <a:sym typeface="Arial"/>
              </a:rPr>
              <a:t>N</a:t>
            </a:r>
            <a:endParaRPr sz="500">
              <a:latin typeface="Arial"/>
              <a:ea typeface="Arial"/>
              <a:cs typeface="Arial"/>
              <a:sym typeface="Arial"/>
            </a:endParaRPr>
          </a:p>
        </p:txBody>
      </p:sp>
      <p:sp>
        <p:nvSpPr>
          <p:cNvPr id="673" name="Google Shape;673;p37"/>
          <p:cNvSpPr txBox="1"/>
          <p:nvPr/>
        </p:nvSpPr>
        <p:spPr>
          <a:xfrm>
            <a:off x="2342345" y="2633394"/>
            <a:ext cx="196800" cy="176400"/>
          </a:xfrm>
          <a:prstGeom prst="rect">
            <a:avLst/>
          </a:prstGeom>
          <a:noFill/>
          <a:ln>
            <a:noFill/>
          </a:ln>
        </p:spPr>
        <p:txBody>
          <a:bodyPr spcFirstLastPara="1" wrap="square" lIns="0" tIns="14600" rIns="0" bIns="0" anchor="t" anchorCtr="0">
            <a:spAutoFit/>
          </a:bodyPr>
          <a:lstStyle/>
          <a:p>
            <a:pPr marL="38100" lvl="0" indent="0" algn="l" rtl="0">
              <a:lnSpc>
                <a:spcPct val="100000"/>
              </a:lnSpc>
              <a:spcBef>
                <a:spcPts val="0"/>
              </a:spcBef>
              <a:spcAft>
                <a:spcPts val="0"/>
              </a:spcAft>
              <a:buNone/>
            </a:pPr>
            <a:r>
              <a:rPr lang="en-US" sz="500" u="sng">
                <a:solidFill>
                  <a:srgbClr val="FF4C4C"/>
                </a:solidFill>
                <a:latin typeface="Arial"/>
                <a:ea typeface="Arial"/>
                <a:cs typeface="Arial"/>
                <a:sym typeface="Arial"/>
              </a:rPr>
              <a:t>1</a:t>
            </a:r>
            <a:r>
              <a:rPr lang="en-US" sz="500">
                <a:solidFill>
                  <a:srgbClr val="FF4C4C"/>
                </a:solidFill>
                <a:latin typeface="Arial"/>
                <a:ea typeface="Arial"/>
                <a:cs typeface="Arial"/>
                <a:sym typeface="Arial"/>
              </a:rPr>
              <a:t> </a:t>
            </a:r>
            <a:r>
              <a:rPr lang="en-US" sz="1050" b="1" baseline="-25000">
                <a:solidFill>
                  <a:srgbClr val="FF4C4C"/>
                </a:solidFill>
                <a:latin typeface="Arial"/>
                <a:ea typeface="Arial"/>
                <a:cs typeface="Arial"/>
                <a:sym typeface="Arial"/>
              </a:rPr>
              <a:t>e</a:t>
            </a:r>
            <a:endParaRPr sz="1050" baseline="-25000">
              <a:latin typeface="Arial"/>
              <a:ea typeface="Arial"/>
              <a:cs typeface="Arial"/>
              <a:sym typeface="Arial"/>
            </a:endParaRPr>
          </a:p>
        </p:txBody>
      </p:sp>
      <p:grpSp>
        <p:nvGrpSpPr>
          <p:cNvPr id="674" name="Google Shape;674;p37"/>
          <p:cNvGrpSpPr/>
          <p:nvPr/>
        </p:nvGrpSpPr>
        <p:grpSpPr>
          <a:xfrm>
            <a:off x="1395333" y="1763836"/>
            <a:ext cx="52705" cy="982294"/>
            <a:chOff x="1395333" y="1763836"/>
            <a:chExt cx="52705" cy="982294"/>
          </a:xfrm>
        </p:grpSpPr>
        <p:sp>
          <p:nvSpPr>
            <p:cNvPr id="675" name="Google Shape;675;p37"/>
            <p:cNvSpPr/>
            <p:nvPr/>
          </p:nvSpPr>
          <p:spPr>
            <a:xfrm>
              <a:off x="1421650" y="2490860"/>
              <a:ext cx="0" cy="255270"/>
            </a:xfrm>
            <a:custGeom>
              <a:avLst/>
              <a:gdLst/>
              <a:ahLst/>
              <a:cxnLst/>
              <a:rect l="l" t="t" r="r" b="b"/>
              <a:pathLst>
                <a:path w="120000" h="255269" extrusionOk="0">
                  <a:moveTo>
                    <a:pt x="0" y="255108"/>
                  </a:moveTo>
                  <a:lnTo>
                    <a:pt x="0" y="0"/>
                  </a:lnTo>
                </a:path>
              </a:pathLst>
            </a:custGeom>
            <a:noFill/>
            <a:ln w="10100" cap="flat" cmpd="sng">
              <a:solidFill>
                <a:srgbClr val="FF4C4C"/>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6" name="Google Shape;676;p37"/>
            <p:cNvSpPr/>
            <p:nvPr/>
          </p:nvSpPr>
          <p:spPr>
            <a:xfrm>
              <a:off x="1395333" y="2457964"/>
              <a:ext cx="52705" cy="52705"/>
            </a:xfrm>
            <a:custGeom>
              <a:avLst/>
              <a:gdLst/>
              <a:ahLst/>
              <a:cxnLst/>
              <a:rect l="l" t="t" r="r" b="b"/>
              <a:pathLst>
                <a:path w="52705" h="52705" extrusionOk="0">
                  <a:moveTo>
                    <a:pt x="0" y="52634"/>
                  </a:moveTo>
                  <a:lnTo>
                    <a:pt x="26316" y="32896"/>
                  </a:lnTo>
                  <a:lnTo>
                    <a:pt x="52633" y="52634"/>
                  </a:lnTo>
                  <a:lnTo>
                    <a:pt x="26316" y="0"/>
                  </a:lnTo>
                  <a:lnTo>
                    <a:pt x="0" y="52634"/>
                  </a:lnTo>
                  <a:close/>
                </a:path>
              </a:pathLst>
            </a:custGeom>
            <a:solidFill>
              <a:srgbClr val="FF4C4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 name="Google Shape;677;p37"/>
            <p:cNvSpPr/>
            <p:nvPr/>
          </p:nvSpPr>
          <p:spPr>
            <a:xfrm>
              <a:off x="1421650" y="1796732"/>
              <a:ext cx="0" cy="291465"/>
            </a:xfrm>
            <a:custGeom>
              <a:avLst/>
              <a:gdLst/>
              <a:ahLst/>
              <a:cxnLst/>
              <a:rect l="l" t="t" r="r" b="b"/>
              <a:pathLst>
                <a:path w="120000" h="291464" extrusionOk="0">
                  <a:moveTo>
                    <a:pt x="0" y="291105"/>
                  </a:moveTo>
                  <a:lnTo>
                    <a:pt x="0" y="0"/>
                  </a:lnTo>
                </a:path>
              </a:pathLst>
            </a:custGeom>
            <a:noFill/>
            <a:ln w="10100" cap="flat" cmpd="sng">
              <a:solidFill>
                <a:srgbClr val="FF4C4C"/>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 name="Google Shape;678;p37"/>
            <p:cNvSpPr/>
            <p:nvPr/>
          </p:nvSpPr>
          <p:spPr>
            <a:xfrm>
              <a:off x="1395333" y="1763836"/>
              <a:ext cx="52705" cy="52705"/>
            </a:xfrm>
            <a:custGeom>
              <a:avLst/>
              <a:gdLst/>
              <a:ahLst/>
              <a:cxnLst/>
              <a:rect l="l" t="t" r="r" b="b"/>
              <a:pathLst>
                <a:path w="52705" h="52705" extrusionOk="0">
                  <a:moveTo>
                    <a:pt x="0" y="52634"/>
                  </a:moveTo>
                  <a:lnTo>
                    <a:pt x="26316" y="32896"/>
                  </a:lnTo>
                  <a:lnTo>
                    <a:pt x="52633" y="52634"/>
                  </a:lnTo>
                  <a:lnTo>
                    <a:pt x="26316" y="0"/>
                  </a:lnTo>
                  <a:lnTo>
                    <a:pt x="0" y="52634"/>
                  </a:lnTo>
                  <a:close/>
                </a:path>
              </a:pathLst>
            </a:custGeom>
            <a:solidFill>
              <a:srgbClr val="FF4C4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79" name="Google Shape;679;p37"/>
          <p:cNvSpPr txBox="1"/>
          <p:nvPr/>
        </p:nvSpPr>
        <p:spPr>
          <a:xfrm>
            <a:off x="1459560" y="1845740"/>
            <a:ext cx="160655"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F4C4C"/>
                </a:solidFill>
                <a:latin typeface="Lucida Sans"/>
                <a:ea typeface="Lucida Sans"/>
                <a:cs typeface="Lucida Sans"/>
                <a:sym typeface="Lucida Sans"/>
              </a:rPr>
              <a:t>∇</a:t>
            </a:r>
            <a:r>
              <a:rPr lang="en-US" sz="700" i="1">
                <a:solidFill>
                  <a:srgbClr val="FF4C4C"/>
                </a:solidFill>
                <a:latin typeface="Arial"/>
                <a:ea typeface="Arial"/>
                <a:cs typeface="Arial"/>
                <a:sym typeface="Arial"/>
              </a:rPr>
              <a:t>J</a:t>
            </a:r>
            <a:endParaRPr sz="700">
              <a:latin typeface="Arial"/>
              <a:ea typeface="Arial"/>
              <a:cs typeface="Arial"/>
              <a:sym typeface="Arial"/>
            </a:endParaRPr>
          </a:p>
        </p:txBody>
      </p:sp>
      <p:graphicFrame>
        <p:nvGraphicFramePr>
          <p:cNvPr id="680" name="Google Shape;680;p37"/>
          <p:cNvGraphicFramePr/>
          <p:nvPr/>
        </p:nvGraphicFramePr>
        <p:xfrm>
          <a:off x="1200587" y="843581"/>
          <a:ext cx="431800" cy="617215"/>
        </p:xfrm>
        <a:graphic>
          <a:graphicData uri="http://schemas.openxmlformats.org/drawingml/2006/table">
            <a:tbl>
              <a:tblPr firstRow="1" bandRow="1">
                <a:noFill/>
                <a:tableStyleId>{B25CBA27-72C7-434D-87B0-B6F36C1D0E5A}</a:tableStyleId>
              </a:tblPr>
              <a:tblGrid>
                <a:gridCol w="21590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tblGrid>
              <a:tr h="287650">
                <a:tc gridSpan="2">
                  <a:txBody>
                    <a:bodyPr/>
                    <a:lstStyle/>
                    <a:p>
                      <a:pPr marL="105410" marR="0" lvl="0" indent="0" algn="l" rtl="0">
                        <a:lnSpc>
                          <a:spcPct val="100000"/>
                        </a:lnSpc>
                        <a:spcBef>
                          <a:spcPts val="0"/>
                        </a:spcBef>
                        <a:spcAft>
                          <a:spcPts val="0"/>
                        </a:spcAft>
                        <a:buNone/>
                      </a:pPr>
                      <a:r>
                        <a:rPr lang="en-US" sz="1425" b="1" u="none" strike="noStrike" cap="none" baseline="-25000">
                          <a:latin typeface="Arial"/>
                          <a:ea typeface="Arial"/>
                          <a:cs typeface="Arial"/>
                          <a:sym typeface="Arial"/>
                        </a:rPr>
                        <a:t>w</a:t>
                      </a:r>
                      <a:r>
                        <a:rPr lang="en-US" sz="800" u="none" strike="noStrike" cap="none">
                          <a:latin typeface="Tahoma"/>
                          <a:ea typeface="Tahoma"/>
                          <a:cs typeface="Tahoma"/>
                          <a:sym typeface="Tahoma"/>
                        </a:rPr>
                        <a:t>(</a:t>
                      </a:r>
                      <a:r>
                        <a:rPr lang="en-US" sz="700" i="1" u="none" strike="noStrike" cap="none">
                          <a:latin typeface="Arial"/>
                          <a:ea typeface="Arial"/>
                          <a:cs typeface="Arial"/>
                          <a:sym typeface="Arial"/>
                        </a:rPr>
                        <a:t>t </a:t>
                      </a:r>
                      <a:r>
                        <a:rPr lang="en-US" sz="800" u="none" strike="noStrike" cap="none">
                          <a:latin typeface="Tahoma"/>
                          <a:ea typeface="Tahoma"/>
                          <a:cs typeface="Tahoma"/>
                          <a:sym typeface="Tahoma"/>
                        </a:rPr>
                        <a:t>)</a:t>
                      </a:r>
                      <a:endParaRPr sz="800" u="none" strike="noStrike" cap="none">
                        <a:latin typeface="Tahoma"/>
                        <a:ea typeface="Tahoma"/>
                        <a:cs typeface="Tahoma"/>
                        <a:sym typeface="Tahoma"/>
                      </a:endParaRPr>
                    </a:p>
                  </a:txBody>
                  <a:tcPr marL="0" marR="0" marT="36200" marB="0">
                    <a:lnL w="12700" cap="flat" cmpd="sng">
                      <a:solidFill>
                        <a:srgbClr val="66B2B2"/>
                      </a:solidFill>
                      <a:prstDash val="solid"/>
                      <a:round/>
                      <a:headEnd type="none" w="sm" len="sm"/>
                      <a:tailEnd type="none" w="sm" len="sm"/>
                    </a:lnL>
                    <a:lnR w="12700" cap="flat" cmpd="sng">
                      <a:solidFill>
                        <a:srgbClr val="66B2B2"/>
                      </a:solidFill>
                      <a:prstDash val="solid"/>
                      <a:round/>
                      <a:headEnd type="none" w="sm" len="sm"/>
                      <a:tailEnd type="none" w="sm" len="sm"/>
                    </a:lnR>
                    <a:lnT w="12700" cap="flat" cmpd="sng">
                      <a:solidFill>
                        <a:srgbClr val="66B2B2"/>
                      </a:solidFill>
                      <a:prstDash val="solid"/>
                      <a:round/>
                      <a:headEnd type="none" w="sm" len="sm"/>
                      <a:tailEnd type="none" w="sm" len="sm"/>
                    </a:lnT>
                    <a:lnB w="12700" cap="flat" cmpd="sng">
                      <a:solidFill>
                        <a:srgbClr val="66B2B2"/>
                      </a:solidFill>
                      <a:prstDash val="solid"/>
                      <a:round/>
                      <a:headEnd type="none" w="sm" len="sm"/>
                      <a:tailEnd type="none" w="sm" len="sm"/>
                    </a:lnB>
                    <a:solidFill>
                      <a:srgbClr val="99CCCC"/>
                    </a:solidFill>
                  </a:tcPr>
                </a:tc>
                <a:tc hMerge="1">
                  <a:txBody>
                    <a:bodyPr/>
                    <a:lstStyle/>
                    <a:p>
                      <a:endParaRPr lang="en-US"/>
                    </a:p>
                  </a:txBody>
                  <a:tcPr/>
                </a:tc>
                <a:extLst>
                  <a:ext uri="{0D108BD9-81ED-4DB2-BD59-A6C34878D82A}">
                    <a16:rowId xmlns:a16="http://schemas.microsoft.com/office/drawing/2014/main" val="10000"/>
                  </a:ext>
                </a:extLst>
              </a:tr>
              <a:tr h="295900">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R w="12700" cap="flat" cmpd="sng">
                      <a:solidFill>
                        <a:srgbClr val="FF4C4C"/>
                      </a:solidFill>
                      <a:prstDash val="dash"/>
                      <a:round/>
                      <a:headEnd type="none" w="sm" len="sm"/>
                      <a:tailEnd type="none" w="sm" len="sm"/>
                    </a:lnR>
                    <a:lnT w="12700" cap="flat" cmpd="sng">
                      <a:solidFill>
                        <a:srgbClr val="66B2B2"/>
                      </a:solidFill>
                      <a:prstDash val="solid"/>
                      <a:round/>
                      <a:headEnd type="none" w="sm" len="sm"/>
                      <a:tailEnd type="none" w="sm" len="sm"/>
                    </a:lnT>
                  </a:tcPr>
                </a:tc>
                <a:tc>
                  <a:txBody>
                    <a:bodyPr/>
                    <a:lstStyle/>
                    <a:p>
                      <a:pPr marL="50165" marR="0" lvl="0" indent="0" algn="l" rtl="0">
                        <a:lnSpc>
                          <a:spcPct val="100000"/>
                        </a:lnSpc>
                        <a:spcBef>
                          <a:spcPts val="0"/>
                        </a:spcBef>
                        <a:spcAft>
                          <a:spcPts val="0"/>
                        </a:spcAft>
                        <a:buNone/>
                      </a:pPr>
                      <a:r>
                        <a:rPr lang="en-US" sz="800" u="none" strike="noStrike" cap="none">
                          <a:solidFill>
                            <a:srgbClr val="FF4C4C"/>
                          </a:solidFill>
                          <a:latin typeface="Lucida Sans"/>
                          <a:ea typeface="Lucida Sans"/>
                          <a:cs typeface="Lucida Sans"/>
                          <a:sym typeface="Lucida Sans"/>
                        </a:rPr>
                        <a:t>—</a:t>
                      </a:r>
                      <a:r>
                        <a:rPr lang="en-US" sz="800" i="1" u="none" strike="noStrike" cap="none">
                          <a:solidFill>
                            <a:srgbClr val="FF4C4C"/>
                          </a:solidFill>
                          <a:latin typeface="Verdana"/>
                          <a:ea typeface="Verdana"/>
                          <a:cs typeface="Verdana"/>
                          <a:sym typeface="Verdana"/>
                        </a:rPr>
                        <a:t>η</a:t>
                      </a:r>
                      <a:endParaRPr sz="800" u="none" strike="noStrike" cap="none">
                        <a:latin typeface="Verdana"/>
                        <a:ea typeface="Verdana"/>
                        <a:cs typeface="Verdana"/>
                        <a:sym typeface="Verdana"/>
                      </a:endParaRPr>
                    </a:p>
                  </a:txBody>
                  <a:tcPr marL="0" marR="0" marT="85725" marB="0">
                    <a:lnL w="12700" cap="flat" cmpd="sng">
                      <a:solidFill>
                        <a:srgbClr val="FF4C4C"/>
                      </a:solidFill>
                      <a:prstDash val="dash"/>
                      <a:round/>
                      <a:headEnd type="none" w="sm" len="sm"/>
                      <a:tailEnd type="none" w="sm" len="sm"/>
                    </a:lnL>
                    <a:lnT w="12700" cap="flat" cmpd="sng">
                      <a:solidFill>
                        <a:srgbClr val="66B2B2"/>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
        <p:nvSpPr>
          <p:cNvPr id="681" name="Google Shape;681;p37"/>
          <p:cNvSpPr/>
          <p:nvPr/>
        </p:nvSpPr>
        <p:spPr>
          <a:xfrm>
            <a:off x="1395333" y="1413075"/>
            <a:ext cx="52705" cy="52705"/>
          </a:xfrm>
          <a:custGeom>
            <a:avLst/>
            <a:gdLst/>
            <a:ahLst/>
            <a:cxnLst/>
            <a:rect l="l" t="t" r="r" b="b"/>
            <a:pathLst>
              <a:path w="52705" h="52705" extrusionOk="0">
                <a:moveTo>
                  <a:pt x="52633" y="0"/>
                </a:moveTo>
                <a:lnTo>
                  <a:pt x="26316" y="19737"/>
                </a:lnTo>
                <a:lnTo>
                  <a:pt x="0" y="0"/>
                </a:lnTo>
                <a:lnTo>
                  <a:pt x="26316" y="52634"/>
                </a:lnTo>
                <a:lnTo>
                  <a:pt x="52633" y="0"/>
                </a:lnTo>
                <a:close/>
              </a:path>
            </a:pathLst>
          </a:custGeom>
          <a:solidFill>
            <a:srgbClr val="FF4C4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 name="Google Shape;682;p37"/>
          <p:cNvSpPr txBox="1"/>
          <p:nvPr/>
        </p:nvSpPr>
        <p:spPr>
          <a:xfrm>
            <a:off x="1059475" y="565150"/>
            <a:ext cx="3213000" cy="236100"/>
          </a:xfrm>
          <a:prstGeom prst="rect">
            <a:avLst/>
          </a:prstGeom>
          <a:noFill/>
          <a:ln>
            <a:noFill/>
          </a:ln>
        </p:spPr>
        <p:txBody>
          <a:bodyPr spcFirstLastPara="1" wrap="square" lIns="0" tIns="16500" rIns="0" bIns="0" anchor="t" anchorCtr="0">
            <a:spAutoFit/>
          </a:bodyPr>
          <a:lstStyle/>
          <a:p>
            <a:pPr marL="25400" lvl="0" indent="0" algn="l" rtl="0">
              <a:lnSpc>
                <a:spcPct val="100000"/>
              </a:lnSpc>
              <a:spcBef>
                <a:spcPts val="0"/>
              </a:spcBef>
              <a:spcAft>
                <a:spcPts val="0"/>
              </a:spcAft>
              <a:buNone/>
            </a:pPr>
            <a:r>
              <a:rPr lang="en-US" sz="950" b="1">
                <a:solidFill>
                  <a:srgbClr val="4CA5A5"/>
                </a:solidFill>
                <a:latin typeface="Arial"/>
                <a:ea typeface="Arial"/>
                <a:cs typeface="Arial"/>
                <a:sym typeface="Arial"/>
              </a:rPr>
              <a:t>Parameters	        </a:t>
            </a:r>
            <a:r>
              <a:rPr lang="en-US" sz="1425" b="1" baseline="30000">
                <a:solidFill>
                  <a:srgbClr val="4CA5A5"/>
                </a:solidFill>
                <a:latin typeface="Arial"/>
                <a:ea typeface="Arial"/>
                <a:cs typeface="Arial"/>
                <a:sym typeface="Arial"/>
              </a:rPr>
              <a:t>Input Data	                      Targets </a:t>
            </a:r>
            <a:endParaRPr sz="1425" baseline="30000">
              <a:latin typeface="Arial"/>
              <a:ea typeface="Arial"/>
              <a:cs typeface="Arial"/>
              <a:sym typeface="Arial"/>
            </a:endParaRPr>
          </a:p>
        </p:txBody>
      </p:sp>
      <p:sp>
        <p:nvSpPr>
          <p:cNvPr id="683" name="Google Shape;683;p37"/>
          <p:cNvSpPr txBox="1"/>
          <p:nvPr/>
        </p:nvSpPr>
        <p:spPr>
          <a:xfrm>
            <a:off x="4889982" y="2467507"/>
            <a:ext cx="316865"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b="1">
                <a:solidFill>
                  <a:srgbClr val="D24C79"/>
                </a:solidFill>
                <a:latin typeface="Arial"/>
                <a:ea typeface="Arial"/>
                <a:cs typeface="Arial"/>
                <a:sym typeface="Arial"/>
              </a:rPr>
              <a:t>Loss</a:t>
            </a:r>
            <a:endParaRPr sz="950">
              <a:latin typeface="Arial"/>
              <a:ea typeface="Arial"/>
              <a:cs typeface="Arial"/>
              <a:sym typeface="Arial"/>
            </a:endParaRPr>
          </a:p>
        </p:txBody>
      </p:sp>
      <p:sp>
        <p:nvSpPr>
          <p:cNvPr id="684" name="Google Shape;684;p37"/>
          <p:cNvSpPr txBox="1"/>
          <p:nvPr/>
        </p:nvSpPr>
        <p:spPr>
          <a:xfrm>
            <a:off x="523582" y="1508885"/>
            <a:ext cx="52451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b="1">
                <a:solidFill>
                  <a:srgbClr val="4CFF4C"/>
                </a:solidFill>
                <a:latin typeface="Arial"/>
                <a:ea typeface="Arial"/>
                <a:cs typeface="Arial"/>
                <a:sym typeface="Arial"/>
              </a:rPr>
              <a:t>Updated</a:t>
            </a:r>
            <a:endParaRPr sz="950">
              <a:latin typeface="Arial"/>
              <a:ea typeface="Arial"/>
              <a:cs typeface="Arial"/>
              <a:sym typeface="Arial"/>
            </a:endParaRPr>
          </a:p>
        </p:txBody>
      </p:sp>
      <p:grpSp>
        <p:nvGrpSpPr>
          <p:cNvPr id="685" name="Google Shape;685;p37"/>
          <p:cNvGrpSpPr/>
          <p:nvPr/>
        </p:nvGrpSpPr>
        <p:grpSpPr>
          <a:xfrm>
            <a:off x="0" y="3109250"/>
            <a:ext cx="5760261" cy="92075"/>
            <a:chOff x="0" y="3109250"/>
            <a:chExt cx="5760261" cy="92075"/>
          </a:xfrm>
        </p:grpSpPr>
        <p:sp>
          <p:nvSpPr>
            <p:cNvPr id="686" name="Google Shape;686;p3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7" name="Google Shape;687;p3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8" name="Google Shape;688;p3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89" name="Google Shape;689;p3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90" name="Google Shape;690;p3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691" name="Google Shape;691;p3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31</a:t>
            </a:fld>
            <a:r>
              <a:rPr lang="en-US"/>
              <a:t> / 46</a:t>
            </a:r>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97" name="Google Shape;697;p38"/>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98" name="Google Shape;698;p38"/>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699" name="Google Shape;699;p38"/>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700" name="Google Shape;700;p38"/>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1" name="Google Shape;701;p38"/>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02" name="Google Shape;702;p38"/>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03" name="Google Shape;703;p38"/>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04" name="Google Shape;704;p38"/>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05" name="Google Shape;705;p38"/>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06" name="Google Shape;706;p38"/>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5</a:t>
            </a:r>
            <a:endParaRPr sz="800">
              <a:latin typeface="Calibri"/>
              <a:ea typeface="Calibri"/>
              <a:cs typeface="Calibri"/>
              <a:sym typeface="Calibri"/>
            </a:endParaRPr>
          </a:p>
        </p:txBody>
      </p:sp>
      <p:pic>
        <p:nvPicPr>
          <p:cNvPr id="707" name="Google Shape;707;p38"/>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08" name="Google Shape;708;p38"/>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09" name="Google Shape;709;p38"/>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10" name="Google Shape;710;p38"/>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711" name="Google Shape;711;p38"/>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712" name="Google Shape;712;p38"/>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713" name="Google Shape;713;p38"/>
          <p:cNvSpPr txBox="1"/>
          <p:nvPr/>
        </p:nvSpPr>
        <p:spPr>
          <a:xfrm>
            <a:off x="563029" y="500281"/>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714" name="Google Shape;714;p38"/>
          <p:cNvGrpSpPr/>
          <p:nvPr/>
        </p:nvGrpSpPr>
        <p:grpSpPr>
          <a:xfrm>
            <a:off x="0" y="3109250"/>
            <a:ext cx="5760261" cy="92075"/>
            <a:chOff x="0" y="3109250"/>
            <a:chExt cx="5760261" cy="92075"/>
          </a:xfrm>
        </p:grpSpPr>
        <p:sp>
          <p:nvSpPr>
            <p:cNvPr id="715" name="Google Shape;715;p3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6" name="Google Shape;716;p3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7" name="Google Shape;717;p3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18" name="Google Shape;718;p3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19" name="Google Shape;719;p3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720" name="Google Shape;720;p3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32</a:t>
            </a:fld>
            <a:r>
              <a:rPr lang="en-US"/>
              <a:t> / 46</a:t>
            </a:r>
            <a:endParaRPr/>
          </a:p>
        </p:txBody>
      </p:sp>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3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odel</a:t>
            </a:r>
            <a:r>
              <a:rPr lang="en-US">
                <a:solidFill>
                  <a:srgbClr val="FFFFFF"/>
                </a:solidFill>
              </a:rPr>
              <a:t> E</a:t>
            </a:r>
            <a:r>
              <a:rPr lang="en-US" cap="small">
                <a:solidFill>
                  <a:srgbClr val="FFFFFF"/>
                </a:solidFill>
              </a:rPr>
              <a:t>valuation</a:t>
            </a:r>
            <a:r>
              <a:rPr lang="en-US">
                <a:solidFill>
                  <a:srgbClr val="FFFFFF"/>
                </a:solidFill>
              </a:rPr>
              <a:t>: T</a:t>
            </a:r>
            <a:r>
              <a:rPr lang="en-US" cap="small">
                <a:solidFill>
                  <a:srgbClr val="FFFFFF"/>
                </a:solidFill>
              </a:rPr>
              <a:t>raining</a:t>
            </a:r>
            <a:r>
              <a:rPr lang="en-US">
                <a:solidFill>
                  <a:srgbClr val="FFFFFF"/>
                </a:solidFill>
              </a:rPr>
              <a:t> </a:t>
            </a:r>
            <a:r>
              <a:rPr lang="en-US" cap="small">
                <a:solidFill>
                  <a:srgbClr val="FFFFFF"/>
                </a:solidFill>
              </a:rPr>
              <a:t>vs</a:t>
            </a:r>
            <a:r>
              <a:rPr lang="en-US">
                <a:solidFill>
                  <a:srgbClr val="FFFFFF"/>
                </a:solidFill>
              </a:rPr>
              <a:t> T</a:t>
            </a:r>
            <a:r>
              <a:rPr lang="en-US" cap="small">
                <a:solidFill>
                  <a:srgbClr val="FFFFFF"/>
                </a:solidFill>
              </a:rPr>
              <a:t>est</a:t>
            </a:r>
            <a:r>
              <a:rPr lang="en-US">
                <a:solidFill>
                  <a:srgbClr val="FFFFFF"/>
                </a:solidFill>
              </a:rPr>
              <a:t> E</a:t>
            </a:r>
            <a:r>
              <a:rPr lang="en-US" cap="small">
                <a:solidFill>
                  <a:srgbClr val="FFFFFF"/>
                </a:solidFill>
              </a:rPr>
              <a:t>rror</a:t>
            </a:r>
            <a:endParaRPr/>
          </a:p>
        </p:txBody>
      </p:sp>
      <p:grpSp>
        <p:nvGrpSpPr>
          <p:cNvPr id="726" name="Google Shape;726;p39"/>
          <p:cNvGrpSpPr/>
          <p:nvPr/>
        </p:nvGrpSpPr>
        <p:grpSpPr>
          <a:xfrm>
            <a:off x="0" y="3109250"/>
            <a:ext cx="5760261" cy="92075"/>
            <a:chOff x="0" y="3109250"/>
            <a:chExt cx="5760261" cy="92075"/>
          </a:xfrm>
        </p:grpSpPr>
        <p:sp>
          <p:nvSpPr>
            <p:cNvPr id="727" name="Google Shape;727;p3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8" name="Google Shape;728;p3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9" name="Google Shape;729;p3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30" name="Google Shape;730;p3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31" name="Google Shape;731;p3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32" name="Google Shape;732;p3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33</a:t>
            </a:fld>
            <a:r>
              <a:rPr lang="en-US"/>
              <a:t> / 46</a:t>
            </a:r>
            <a:endParaRPr/>
          </a:p>
        </p:txBody>
      </p:sp>
      <p:pic>
        <p:nvPicPr>
          <p:cNvPr id="733" name="Google Shape;733;p39"/>
          <p:cNvPicPr preferRelativeResize="0"/>
          <p:nvPr/>
        </p:nvPicPr>
        <p:blipFill>
          <a:blip r:embed="rId4">
            <a:alphaModFix/>
          </a:blip>
          <a:stretch>
            <a:fillRect/>
          </a:stretch>
        </p:blipFill>
        <p:spPr>
          <a:xfrm>
            <a:off x="152400" y="550235"/>
            <a:ext cx="5150208" cy="2406616"/>
          </a:xfrm>
          <a:prstGeom prst="rect">
            <a:avLst/>
          </a:prstGeom>
          <a:noFill/>
          <a:ln>
            <a:noFill/>
          </a:ln>
        </p:spPr>
      </p:pic>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4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valuation</a:t>
            </a:r>
            <a:r>
              <a:rPr lang="en-US">
                <a:solidFill>
                  <a:srgbClr val="FFFFFF"/>
                </a:solidFill>
              </a:rPr>
              <a:t> M</a:t>
            </a:r>
            <a:r>
              <a:rPr lang="en-US" cap="small">
                <a:solidFill>
                  <a:srgbClr val="FFFFFF"/>
                </a:solidFill>
              </a:rPr>
              <a:t>etrics</a:t>
            </a:r>
            <a:endParaRPr/>
          </a:p>
        </p:txBody>
      </p:sp>
      <p:grpSp>
        <p:nvGrpSpPr>
          <p:cNvPr id="739" name="Google Shape;739;p40"/>
          <p:cNvGrpSpPr/>
          <p:nvPr/>
        </p:nvGrpSpPr>
        <p:grpSpPr>
          <a:xfrm>
            <a:off x="0" y="3109250"/>
            <a:ext cx="5760261" cy="92075"/>
            <a:chOff x="0" y="3109250"/>
            <a:chExt cx="5760261" cy="92075"/>
          </a:xfrm>
        </p:grpSpPr>
        <p:sp>
          <p:nvSpPr>
            <p:cNvPr id="740" name="Google Shape;740;p4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1" name="Google Shape;741;p4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2" name="Google Shape;742;p4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43" name="Google Shape;743;p4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44" name="Google Shape;744;p4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45" name="Google Shape;745;p4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34</a:t>
            </a:fld>
            <a:r>
              <a:rPr lang="en-US"/>
              <a:t> / 46</a:t>
            </a:r>
            <a:endParaRPr/>
          </a:p>
        </p:txBody>
      </p:sp>
      <p:pic>
        <p:nvPicPr>
          <p:cNvPr id="746" name="Google Shape;746;p40"/>
          <p:cNvPicPr preferRelativeResize="0"/>
          <p:nvPr/>
        </p:nvPicPr>
        <p:blipFill>
          <a:blip r:embed="rId4">
            <a:alphaModFix/>
          </a:blip>
          <a:stretch>
            <a:fillRect/>
          </a:stretch>
        </p:blipFill>
        <p:spPr>
          <a:xfrm>
            <a:off x="152400" y="550235"/>
            <a:ext cx="5096950" cy="2406616"/>
          </a:xfrm>
          <a:prstGeom prst="rect">
            <a:avLst/>
          </a:prstGeom>
          <a:noFill/>
          <a:ln>
            <a:noFill/>
          </a:ln>
        </p:spPr>
      </p:pic>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4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sz="1550" i="1">
                <a:solidFill>
                  <a:srgbClr val="FFFFFF"/>
                </a:solidFill>
                <a:latin typeface="Arial"/>
                <a:ea typeface="Arial"/>
                <a:cs typeface="Arial"/>
                <a:sym typeface="Arial"/>
              </a:rPr>
              <a:t>R</a:t>
            </a:r>
            <a:r>
              <a:rPr lang="en-US" sz="1575" baseline="30000">
                <a:solidFill>
                  <a:srgbClr val="FFFFFF"/>
                </a:solidFill>
                <a:latin typeface="Arial"/>
                <a:ea typeface="Arial"/>
                <a:cs typeface="Arial"/>
                <a:sym typeface="Arial"/>
              </a:rPr>
              <a:t>2 </a:t>
            </a:r>
            <a:r>
              <a:rPr lang="en-US" sz="1700">
                <a:solidFill>
                  <a:srgbClr val="FFFFFF"/>
                </a:solidFill>
              </a:rPr>
              <a:t>S</a:t>
            </a:r>
            <a:r>
              <a:rPr lang="en-US" sz="1700" cap="small">
                <a:solidFill>
                  <a:srgbClr val="FFFFFF"/>
                </a:solidFill>
              </a:rPr>
              <a:t>core</a:t>
            </a:r>
            <a:r>
              <a:rPr lang="en-US" sz="1700">
                <a:solidFill>
                  <a:srgbClr val="FFFFFF"/>
                </a:solidFill>
              </a:rPr>
              <a:t> (C</a:t>
            </a:r>
            <a:r>
              <a:rPr lang="en-US" sz="1700" cap="small">
                <a:solidFill>
                  <a:srgbClr val="FFFFFF"/>
                </a:solidFill>
              </a:rPr>
              <a:t>oefficient</a:t>
            </a:r>
            <a:r>
              <a:rPr lang="en-US" sz="1700">
                <a:solidFill>
                  <a:srgbClr val="FFFFFF"/>
                </a:solidFill>
              </a:rPr>
              <a:t> </a:t>
            </a:r>
            <a:r>
              <a:rPr lang="en-US" sz="1700" cap="small">
                <a:solidFill>
                  <a:srgbClr val="FFFFFF"/>
                </a:solidFill>
              </a:rPr>
              <a:t>of</a:t>
            </a:r>
            <a:r>
              <a:rPr lang="en-US" sz="1700">
                <a:solidFill>
                  <a:srgbClr val="FFFFFF"/>
                </a:solidFill>
              </a:rPr>
              <a:t> D</a:t>
            </a:r>
            <a:r>
              <a:rPr lang="en-US" sz="1700" cap="small">
                <a:solidFill>
                  <a:srgbClr val="FFFFFF"/>
                </a:solidFill>
              </a:rPr>
              <a:t>etermination</a:t>
            </a:r>
            <a:r>
              <a:rPr lang="en-US" sz="1700">
                <a:solidFill>
                  <a:srgbClr val="FFFFFF"/>
                </a:solidFill>
              </a:rPr>
              <a:t>)</a:t>
            </a:r>
            <a:endParaRPr sz="1700">
              <a:latin typeface="Arial"/>
              <a:ea typeface="Arial"/>
              <a:cs typeface="Arial"/>
              <a:sym typeface="Arial"/>
            </a:endParaRPr>
          </a:p>
        </p:txBody>
      </p:sp>
      <p:grpSp>
        <p:nvGrpSpPr>
          <p:cNvPr id="752" name="Google Shape;752;p41"/>
          <p:cNvGrpSpPr/>
          <p:nvPr/>
        </p:nvGrpSpPr>
        <p:grpSpPr>
          <a:xfrm>
            <a:off x="0" y="3109250"/>
            <a:ext cx="5760261" cy="92075"/>
            <a:chOff x="0" y="3109250"/>
            <a:chExt cx="5760261" cy="92075"/>
          </a:xfrm>
        </p:grpSpPr>
        <p:sp>
          <p:nvSpPr>
            <p:cNvPr id="753" name="Google Shape;753;p4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4" name="Google Shape;754;p4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4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56" name="Google Shape;756;p4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57" name="Google Shape;757;p4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58" name="Google Shape;758;p4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35</a:t>
            </a:fld>
            <a:r>
              <a:rPr lang="en-US"/>
              <a:t> / 46</a:t>
            </a:r>
            <a:endParaRPr/>
          </a:p>
        </p:txBody>
      </p:sp>
      <p:pic>
        <p:nvPicPr>
          <p:cNvPr id="759" name="Google Shape;759;p41"/>
          <p:cNvPicPr preferRelativeResize="0"/>
          <p:nvPr/>
        </p:nvPicPr>
        <p:blipFill>
          <a:blip r:embed="rId4">
            <a:alphaModFix/>
          </a:blip>
          <a:stretch>
            <a:fillRect/>
          </a:stretch>
        </p:blipFill>
        <p:spPr>
          <a:xfrm>
            <a:off x="152400" y="550235"/>
            <a:ext cx="5311150" cy="2406615"/>
          </a:xfrm>
          <a:prstGeom prst="rect">
            <a:avLst/>
          </a:prstGeom>
          <a:noFill/>
          <a:ln>
            <a:noFill/>
          </a:ln>
        </p:spPr>
      </p:pic>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4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765" name="Google Shape;765;p42"/>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766" name="Google Shape;766;p42"/>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767" name="Google Shape;767;p42"/>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768" name="Google Shape;768;p42"/>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69" name="Google Shape;769;p42"/>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70" name="Google Shape;770;p42"/>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71" name="Google Shape;771;p42"/>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72" name="Google Shape;772;p42"/>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73" name="Google Shape;773;p42"/>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74" name="Google Shape;774;p42"/>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75" name="Google Shape;775;p42"/>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6" name="Google Shape;776;p42"/>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6</a:t>
            </a:r>
            <a:endParaRPr sz="800">
              <a:latin typeface="Calibri"/>
              <a:ea typeface="Calibri"/>
              <a:cs typeface="Calibri"/>
              <a:sym typeface="Calibri"/>
            </a:endParaRPr>
          </a:p>
        </p:txBody>
      </p:sp>
      <p:pic>
        <p:nvPicPr>
          <p:cNvPr id="777" name="Google Shape;777;p42"/>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78" name="Google Shape;778;p42"/>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779" name="Google Shape;779;p42"/>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780" name="Google Shape;780;p42"/>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781" name="Google Shape;781;p42"/>
          <p:cNvSpPr txBox="1"/>
          <p:nvPr/>
        </p:nvSpPr>
        <p:spPr>
          <a:xfrm>
            <a:off x="563025" y="565985"/>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3333B2"/>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782" name="Google Shape;782;p42"/>
          <p:cNvGrpSpPr/>
          <p:nvPr/>
        </p:nvGrpSpPr>
        <p:grpSpPr>
          <a:xfrm>
            <a:off x="0" y="3109250"/>
            <a:ext cx="5760261" cy="92075"/>
            <a:chOff x="0" y="3109250"/>
            <a:chExt cx="5760261" cy="92075"/>
          </a:xfrm>
        </p:grpSpPr>
        <p:sp>
          <p:nvSpPr>
            <p:cNvPr id="783" name="Google Shape;783;p4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4" name="Google Shape;784;p4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5" name="Google Shape;785;p4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86" name="Google Shape;786;p4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87" name="Google Shape;787;p4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788" name="Google Shape;788;p4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36</a:t>
            </a:fld>
            <a:r>
              <a:rPr lang="en-US"/>
              <a:t> / 46</a:t>
            </a:r>
            <a:endParaRPr/>
          </a:p>
        </p:txBody>
      </p:sp>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4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P</a:t>
            </a:r>
            <a:r>
              <a:rPr lang="en-US" cap="small">
                <a:solidFill>
                  <a:srgbClr val="FFFFFF"/>
                </a:solidFill>
              </a:rPr>
              <a:t>erceptron</a:t>
            </a:r>
            <a:r>
              <a:rPr lang="en-US">
                <a:solidFill>
                  <a:srgbClr val="FFFFFF"/>
                </a:solidFill>
              </a:rPr>
              <a:t> D</a:t>
            </a:r>
            <a:r>
              <a:rPr lang="en-US" cap="small">
                <a:solidFill>
                  <a:srgbClr val="FFFFFF"/>
                </a:solidFill>
              </a:rPr>
              <a:t>emo</a:t>
            </a:r>
            <a:r>
              <a:rPr lang="en-US">
                <a:solidFill>
                  <a:srgbClr val="FFFFFF"/>
                </a:solidFill>
              </a:rPr>
              <a:t> P</a:t>
            </a:r>
            <a:r>
              <a:rPr lang="en-US" cap="small">
                <a:solidFill>
                  <a:srgbClr val="FFFFFF"/>
                </a:solidFill>
              </a:rPr>
              <a:t>ython</a:t>
            </a:r>
            <a:r>
              <a:rPr lang="en-US">
                <a:solidFill>
                  <a:srgbClr val="FFFFFF"/>
                </a:solidFill>
              </a:rPr>
              <a:t> C</a:t>
            </a:r>
            <a:r>
              <a:rPr lang="en-US" cap="small">
                <a:solidFill>
                  <a:srgbClr val="FFFFFF"/>
                </a:solidFill>
              </a:rPr>
              <a:t>ode</a:t>
            </a:r>
            <a:endParaRPr/>
          </a:p>
        </p:txBody>
      </p:sp>
      <p:pic>
        <p:nvPicPr>
          <p:cNvPr id="794" name="Google Shape;794;p43"/>
          <p:cNvPicPr preferRelativeResize="0"/>
          <p:nvPr/>
        </p:nvPicPr>
        <p:blipFill rotWithShape="1">
          <a:blip r:embed="rId3">
            <a:alphaModFix/>
          </a:blip>
          <a:srcRect/>
          <a:stretch/>
        </p:blipFill>
        <p:spPr>
          <a:xfrm>
            <a:off x="513702" y="1017866"/>
            <a:ext cx="69291" cy="69291"/>
          </a:xfrm>
          <a:prstGeom prst="rect">
            <a:avLst/>
          </a:prstGeom>
          <a:noFill/>
          <a:ln>
            <a:noFill/>
          </a:ln>
        </p:spPr>
      </p:pic>
      <p:sp>
        <p:nvSpPr>
          <p:cNvPr id="795" name="Google Shape;795;p43"/>
          <p:cNvSpPr txBox="1"/>
          <p:nvPr/>
        </p:nvSpPr>
        <p:spPr>
          <a:xfrm>
            <a:off x="347294" y="925166"/>
            <a:ext cx="5065395" cy="1520190"/>
          </a:xfrm>
          <a:prstGeom prst="rect">
            <a:avLst/>
          </a:prstGeom>
          <a:noFill/>
          <a:ln>
            <a:noFill/>
          </a:ln>
        </p:spPr>
        <p:txBody>
          <a:bodyPr spcFirstLastPara="1" wrap="square" lIns="0" tIns="12050" rIns="0" bIns="0" anchor="t" anchorCtr="0">
            <a:spAutoFit/>
          </a:bodyPr>
          <a:lstStyle/>
          <a:p>
            <a:pPr marL="309880" marR="1232535" lvl="0" indent="0" algn="l" rtl="0">
              <a:lnSpc>
                <a:spcPct val="100000"/>
              </a:lnSpc>
              <a:spcBef>
                <a:spcPts val="0"/>
              </a:spcBef>
              <a:spcAft>
                <a:spcPts val="0"/>
              </a:spcAft>
              <a:buNone/>
            </a:pPr>
            <a:r>
              <a:rPr lang="en-US" sz="1200" u="sng">
                <a:solidFill>
                  <a:schemeClr val="hlink"/>
                </a:solidFill>
                <a:latin typeface="Calibri"/>
                <a:ea typeface="Calibri"/>
                <a:cs typeface="Calibri"/>
                <a:sym typeface="Calibri"/>
                <a:hlinkClick r:id="rId4"/>
              </a:rPr>
              <a:t>https://colab.research.google.com/drive/</a:t>
            </a:r>
            <a:r>
              <a:rPr lang="en-US" sz="1200">
                <a:latin typeface="Calibri"/>
                <a:ea typeface="Calibri"/>
                <a:cs typeface="Calibri"/>
                <a:sym typeface="Calibri"/>
              </a:rPr>
              <a:t> </a:t>
            </a:r>
            <a:r>
              <a:rPr lang="en-US" sz="1200" u="sng">
                <a:solidFill>
                  <a:schemeClr val="hlink"/>
                </a:solidFill>
                <a:latin typeface="Calibri"/>
                <a:ea typeface="Calibri"/>
                <a:cs typeface="Calibri"/>
                <a:sym typeface="Calibri"/>
                <a:hlinkClick r:id="rId4"/>
              </a:rPr>
              <a:t>10whoZYodz1H02mbVwsmTudwxaU18ukaI?usp=sharing</a:t>
            </a:r>
            <a:endParaRPr sz="1200">
              <a:latin typeface="Calibri"/>
              <a:ea typeface="Calibri"/>
              <a:cs typeface="Calibri"/>
              <a:sym typeface="Calibri"/>
            </a:endParaRPr>
          </a:p>
          <a:p>
            <a:pPr marL="0" lvl="0" indent="0" algn="l" rtl="0">
              <a:lnSpc>
                <a:spcPct val="100000"/>
              </a:lnSpc>
              <a:spcBef>
                <a:spcPts val="0"/>
              </a:spcBef>
              <a:spcAft>
                <a:spcPts val="0"/>
              </a:spcAft>
              <a:buNone/>
            </a:pPr>
            <a:endParaRPr sz="1200">
              <a:latin typeface="Calibri"/>
              <a:ea typeface="Calibri"/>
              <a:cs typeface="Calibri"/>
              <a:sym typeface="Calibri"/>
            </a:endParaRPr>
          </a:p>
          <a:p>
            <a:pPr marL="0" lvl="0" indent="0" algn="l" rtl="0">
              <a:lnSpc>
                <a:spcPct val="100000"/>
              </a:lnSpc>
              <a:spcBef>
                <a:spcPts val="360"/>
              </a:spcBef>
              <a:spcAft>
                <a:spcPts val="0"/>
              </a:spcAft>
              <a:buNone/>
            </a:pPr>
            <a:endParaRPr sz="1200">
              <a:latin typeface="Calibri"/>
              <a:ea typeface="Calibri"/>
              <a:cs typeface="Calibri"/>
              <a:sym typeface="Calibri"/>
            </a:endParaRPr>
          </a:p>
          <a:p>
            <a:pPr marL="12700" lvl="0" indent="0" algn="just" rtl="0">
              <a:lnSpc>
                <a:spcPct val="100000"/>
              </a:lnSpc>
              <a:spcBef>
                <a:spcPts val="0"/>
              </a:spcBef>
              <a:spcAft>
                <a:spcPts val="0"/>
              </a:spcAft>
              <a:buNone/>
            </a:pPr>
            <a:r>
              <a:rPr lang="en-US" sz="1050">
                <a:latin typeface="Arial"/>
                <a:ea typeface="Arial"/>
                <a:cs typeface="Arial"/>
                <a:sym typeface="Arial"/>
              </a:rPr>
              <a:t>Student pl note:</a:t>
            </a:r>
            <a:endParaRPr sz="1050">
              <a:latin typeface="Arial"/>
              <a:ea typeface="Arial"/>
              <a:cs typeface="Arial"/>
              <a:sym typeface="Arial"/>
            </a:endParaRPr>
          </a:p>
          <a:p>
            <a:pPr marL="12700" marR="5080" lvl="0" indent="0" algn="just" rtl="0">
              <a:lnSpc>
                <a:spcPct val="114700"/>
              </a:lnSpc>
              <a:spcBef>
                <a:spcPts val="0"/>
              </a:spcBef>
              <a:spcAft>
                <a:spcPts val="0"/>
              </a:spcAft>
              <a:buNone/>
            </a:pPr>
            <a:r>
              <a:rPr lang="en-US" sz="1050">
                <a:latin typeface="Arial"/>
                <a:ea typeface="Arial"/>
                <a:cs typeface="Arial"/>
                <a:sym typeface="Arial"/>
              </a:rPr>
              <a:t>The Python notebook is shared for anyone who has access to the link and the access is restricted to </a:t>
            </a:r>
            <a:r>
              <a:rPr lang="en-US" sz="1050">
                <a:solidFill>
                  <a:srgbClr val="FF0000"/>
                </a:solidFill>
                <a:latin typeface="Arial"/>
                <a:ea typeface="Arial"/>
                <a:cs typeface="Arial"/>
                <a:sym typeface="Arial"/>
              </a:rPr>
              <a:t>use BITS email id</a:t>
            </a:r>
            <a:r>
              <a:rPr lang="en-US" sz="1050">
                <a:latin typeface="Arial"/>
                <a:ea typeface="Arial"/>
                <a:cs typeface="Arial"/>
                <a:sym typeface="Arial"/>
              </a:rPr>
              <a:t>. So please do not access from non-BITS email id and send requests for access. Access for non-BITS email id will NOT be granted.</a:t>
            </a:r>
            <a:endParaRPr sz="1050">
              <a:latin typeface="Arial"/>
              <a:ea typeface="Arial"/>
              <a:cs typeface="Arial"/>
              <a:sym typeface="Arial"/>
            </a:endParaRPr>
          </a:p>
        </p:txBody>
      </p:sp>
      <p:grpSp>
        <p:nvGrpSpPr>
          <p:cNvPr id="796" name="Google Shape;796;p43"/>
          <p:cNvGrpSpPr/>
          <p:nvPr/>
        </p:nvGrpSpPr>
        <p:grpSpPr>
          <a:xfrm>
            <a:off x="0" y="3109250"/>
            <a:ext cx="5760261" cy="92075"/>
            <a:chOff x="0" y="3109250"/>
            <a:chExt cx="5760261" cy="92075"/>
          </a:xfrm>
        </p:grpSpPr>
        <p:sp>
          <p:nvSpPr>
            <p:cNvPr id="797" name="Google Shape;797;p4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8" name="Google Shape;798;p4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9" name="Google Shape;799;p4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00" name="Google Shape;800;p4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01" name="Google Shape;801;p4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5"/>
              </a:rPr>
              <a:t>D</a:t>
            </a:r>
            <a:r>
              <a:rPr lang="en-US" sz="600" u="sng" cap="small">
                <a:solidFill>
                  <a:schemeClr val="hlink"/>
                </a:solidFill>
                <a:latin typeface="Calibri"/>
                <a:ea typeface="Calibri"/>
                <a:cs typeface="Calibri"/>
                <a:sym typeface="Calibri"/>
                <a:hlinkClick r:id="rId5"/>
              </a:rPr>
              <a:t>eep</a:t>
            </a:r>
            <a:r>
              <a:rPr lang="en-US" sz="600" u="sng">
                <a:solidFill>
                  <a:schemeClr val="hlink"/>
                </a:solidFill>
                <a:latin typeface="Calibri"/>
                <a:ea typeface="Calibri"/>
                <a:cs typeface="Calibri"/>
                <a:sym typeface="Calibri"/>
                <a:hlinkClick r:id="rId5"/>
              </a:rPr>
              <a:t> L</a:t>
            </a:r>
            <a:r>
              <a:rPr lang="en-US" sz="600" u="sng" cap="small">
                <a:solidFill>
                  <a:schemeClr val="hlink"/>
                </a:solidFill>
                <a:latin typeface="Calibri"/>
                <a:ea typeface="Calibri"/>
                <a:cs typeface="Calibri"/>
                <a:sym typeface="Calibri"/>
                <a:hlinkClick r:id="rId5"/>
              </a:rPr>
              <a:t>earning</a:t>
            </a:r>
            <a:endParaRPr sz="600">
              <a:latin typeface="Calibri"/>
              <a:ea typeface="Calibri"/>
              <a:cs typeface="Calibri"/>
              <a:sym typeface="Calibri"/>
            </a:endParaRPr>
          </a:p>
        </p:txBody>
      </p:sp>
      <p:sp>
        <p:nvSpPr>
          <p:cNvPr id="802" name="Google Shape;802;p4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37</a:t>
            </a:fld>
            <a:r>
              <a:rPr lang="en-US"/>
              <a:t> / 46</a:t>
            </a:r>
            <a:endParaRPr/>
          </a:p>
        </p:txBody>
      </p:sp>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4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808" name="Google Shape;808;p44"/>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809" name="Google Shape;809;p44"/>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810" name="Google Shape;810;p44"/>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811" name="Google Shape;811;p44"/>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812" name="Google Shape;812;p44"/>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813" name="Google Shape;813;p44"/>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814" name="Google Shape;814;p44"/>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815" name="Google Shape;815;p44"/>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816" name="Google Shape;816;p44"/>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817" name="Google Shape;817;p44"/>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818" name="Google Shape;818;p44"/>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819" name="Google Shape;819;p44"/>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820" name="Google Shape;820;p44"/>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821" name="Google Shape;821;p44"/>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7</a:t>
            </a:r>
            <a:endParaRPr sz="800">
              <a:latin typeface="Calibri"/>
              <a:ea typeface="Calibri"/>
              <a:cs typeface="Calibri"/>
              <a:sym typeface="Calibri"/>
            </a:endParaRPr>
          </a:p>
        </p:txBody>
      </p:sp>
      <p:pic>
        <p:nvPicPr>
          <p:cNvPr id="822" name="Google Shape;822;p44"/>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23" name="Google Shape;823;p44"/>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4" name="Google Shape;824;p44"/>
          <p:cNvSpPr txBox="1"/>
          <p:nvPr/>
        </p:nvSpPr>
        <p:spPr>
          <a:xfrm>
            <a:off x="563029" y="562863"/>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25" name="Google Shape;825;p44"/>
          <p:cNvGrpSpPr/>
          <p:nvPr/>
        </p:nvGrpSpPr>
        <p:grpSpPr>
          <a:xfrm>
            <a:off x="0" y="3109250"/>
            <a:ext cx="5760261" cy="92075"/>
            <a:chOff x="0" y="3109250"/>
            <a:chExt cx="5760261" cy="92075"/>
          </a:xfrm>
        </p:grpSpPr>
        <p:sp>
          <p:nvSpPr>
            <p:cNvPr id="826" name="Google Shape;826;p4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7" name="Google Shape;827;p4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8" name="Google Shape;828;p4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29" name="Google Shape;829;p4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30" name="Google Shape;830;p4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31" name="Google Shape;831;p4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38</a:t>
            </a:fld>
            <a:r>
              <a:rPr lang="en-US"/>
              <a:t> / 46</a:t>
            </a:r>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45"/>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ips</a:t>
            </a:r>
            <a:r>
              <a:rPr lang="en-US">
                <a:solidFill>
                  <a:srgbClr val="FFFFFF"/>
                </a:solidFill>
              </a:rPr>
              <a:t> </a:t>
            </a:r>
            <a:r>
              <a:rPr lang="en-US" cap="small">
                <a:solidFill>
                  <a:srgbClr val="FFFFFF"/>
                </a:solidFill>
              </a:rPr>
              <a:t>for</a:t>
            </a:r>
            <a:r>
              <a:rPr lang="en-US">
                <a:solidFill>
                  <a:srgbClr val="FFFFFF"/>
                </a:solidFill>
              </a:rPr>
              <a:t> I</a:t>
            </a:r>
            <a:r>
              <a:rPr lang="en-US" cap="small">
                <a:solidFill>
                  <a:srgbClr val="FFFFFF"/>
                </a:solidFill>
              </a:rPr>
              <a:t>mplementation</a:t>
            </a:r>
            <a:endParaRPr/>
          </a:p>
        </p:txBody>
      </p:sp>
      <p:grpSp>
        <p:nvGrpSpPr>
          <p:cNvPr id="837" name="Google Shape;837;p45"/>
          <p:cNvGrpSpPr/>
          <p:nvPr/>
        </p:nvGrpSpPr>
        <p:grpSpPr>
          <a:xfrm>
            <a:off x="0" y="3109250"/>
            <a:ext cx="5760261" cy="92075"/>
            <a:chOff x="0" y="3109250"/>
            <a:chExt cx="5760261" cy="92075"/>
          </a:xfrm>
        </p:grpSpPr>
        <p:sp>
          <p:nvSpPr>
            <p:cNvPr id="838" name="Google Shape;838;p4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9" name="Google Shape;839;p4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0" name="Google Shape;840;p4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41" name="Google Shape;841;p4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42" name="Google Shape;842;p4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43" name="Google Shape;843;p4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39</a:t>
            </a:fld>
            <a:r>
              <a:rPr lang="en-US"/>
              <a:t> / 46</a:t>
            </a:r>
            <a:endParaRPr/>
          </a:p>
        </p:txBody>
      </p:sp>
      <p:pic>
        <p:nvPicPr>
          <p:cNvPr id="844" name="Google Shape;844;p45"/>
          <p:cNvPicPr preferRelativeResize="0"/>
          <p:nvPr/>
        </p:nvPicPr>
        <p:blipFill>
          <a:blip r:embed="rId4">
            <a:alphaModFix/>
          </a:blip>
          <a:stretch>
            <a:fillRect/>
          </a:stretch>
        </p:blipFill>
        <p:spPr>
          <a:xfrm>
            <a:off x="152400" y="550235"/>
            <a:ext cx="4998733" cy="2406616"/>
          </a:xfrm>
          <a:prstGeom prst="rect">
            <a:avLst/>
          </a:prstGeom>
          <a:noFill/>
          <a:ln>
            <a:noFill/>
          </a:ln>
        </p:spPr>
      </p:pic>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4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ore</a:t>
            </a:r>
            <a:r>
              <a:rPr lang="en-US">
                <a:solidFill>
                  <a:srgbClr val="FFFFFF"/>
                </a:solidFill>
              </a:rPr>
              <a:t> P</a:t>
            </a:r>
            <a:r>
              <a:rPr lang="en-US" cap="small">
                <a:solidFill>
                  <a:srgbClr val="FFFFFF"/>
                </a:solidFill>
              </a:rPr>
              <a:t>ractical</a:t>
            </a:r>
            <a:r>
              <a:rPr lang="en-US">
                <a:solidFill>
                  <a:srgbClr val="FFFFFF"/>
                </a:solidFill>
              </a:rPr>
              <a:t> T</a:t>
            </a:r>
            <a:r>
              <a:rPr lang="en-US" cap="small">
                <a:solidFill>
                  <a:srgbClr val="FFFFFF"/>
                </a:solidFill>
              </a:rPr>
              <a:t>ips</a:t>
            </a:r>
            <a:endParaRPr/>
          </a:p>
        </p:txBody>
      </p:sp>
      <p:sp>
        <p:nvSpPr>
          <p:cNvPr id="850" name="Google Shape;850;p4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51" name="Google Shape;851;p4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52" name="Google Shape;852;p46"/>
          <p:cNvSpPr txBox="1"/>
          <p:nvPr/>
        </p:nvSpPr>
        <p:spPr>
          <a:xfrm>
            <a:off x="4674248" y="3137672"/>
            <a:ext cx="29273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Calibri"/>
                <a:ea typeface="Calibri"/>
                <a:cs typeface="Calibri"/>
                <a:sym typeface="Calibri"/>
              </a:rPr>
              <a:t>40 / 46</a:t>
            </a:r>
            <a:endParaRPr sz="600">
              <a:latin typeface="Calibri"/>
              <a:ea typeface="Calibri"/>
              <a:cs typeface="Calibri"/>
              <a:sym typeface="Calibri"/>
            </a:endParaRPr>
          </a:p>
        </p:txBody>
      </p:sp>
      <p:pic>
        <p:nvPicPr>
          <p:cNvPr id="853" name="Google Shape;853;p46"/>
          <p:cNvPicPr preferRelativeResize="0"/>
          <p:nvPr/>
        </p:nvPicPr>
        <p:blipFill>
          <a:blip r:embed="rId4">
            <a:alphaModFix/>
          </a:blip>
          <a:stretch>
            <a:fillRect/>
          </a:stretch>
        </p:blipFill>
        <p:spPr>
          <a:xfrm>
            <a:off x="152400" y="550235"/>
            <a:ext cx="5397140" cy="2435038"/>
          </a:xfrm>
          <a:prstGeom prst="rect">
            <a:avLst/>
          </a:prstGeom>
          <a:noFill/>
          <a:ln>
            <a:noFill/>
          </a:ln>
        </p:spPr>
      </p:pic>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4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D</a:t>
            </a:r>
            <a:r>
              <a:rPr lang="en-US" cap="small">
                <a:solidFill>
                  <a:srgbClr val="FFFFFF"/>
                </a:solidFill>
              </a:rPr>
              <a:t>ebugging</a:t>
            </a:r>
            <a:r>
              <a:rPr lang="en-US">
                <a:solidFill>
                  <a:srgbClr val="FFFFFF"/>
                </a:solidFill>
              </a:rPr>
              <a:t> C</a:t>
            </a:r>
            <a:r>
              <a:rPr lang="en-US" cap="small">
                <a:solidFill>
                  <a:srgbClr val="FFFFFF"/>
                </a:solidFill>
              </a:rPr>
              <a:t>hecklist</a:t>
            </a:r>
            <a:endParaRPr/>
          </a:p>
        </p:txBody>
      </p:sp>
      <p:grpSp>
        <p:nvGrpSpPr>
          <p:cNvPr id="859" name="Google Shape;859;p47"/>
          <p:cNvGrpSpPr/>
          <p:nvPr/>
        </p:nvGrpSpPr>
        <p:grpSpPr>
          <a:xfrm>
            <a:off x="0" y="3109250"/>
            <a:ext cx="5760261" cy="92075"/>
            <a:chOff x="0" y="3109250"/>
            <a:chExt cx="5760261" cy="92075"/>
          </a:xfrm>
        </p:grpSpPr>
        <p:sp>
          <p:nvSpPr>
            <p:cNvPr id="860" name="Google Shape;860;p4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1" name="Google Shape;861;p4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2" name="Google Shape;862;p4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63" name="Google Shape;863;p4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64" name="Google Shape;864;p4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65" name="Google Shape;865;p4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41</a:t>
            </a:fld>
            <a:r>
              <a:rPr lang="en-US"/>
              <a:t> / 46</a:t>
            </a:r>
            <a:endParaRPr/>
          </a:p>
        </p:txBody>
      </p:sp>
      <p:pic>
        <p:nvPicPr>
          <p:cNvPr id="866" name="Google Shape;866;p47"/>
          <p:cNvPicPr preferRelativeResize="0"/>
          <p:nvPr/>
        </p:nvPicPr>
        <p:blipFill>
          <a:blip r:embed="rId4">
            <a:alphaModFix/>
          </a:blip>
          <a:stretch>
            <a:fillRect/>
          </a:stretch>
        </p:blipFill>
        <p:spPr>
          <a:xfrm>
            <a:off x="152400" y="550235"/>
            <a:ext cx="5322624" cy="2406616"/>
          </a:xfrm>
          <a:prstGeom prst="rect">
            <a:avLst/>
          </a:prstGeom>
          <a:noFill/>
          <a:ln>
            <a:noFill/>
          </a:ln>
        </p:spPr>
      </p:pic>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872" name="Google Shape;872;p48"/>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873" name="Google Shape;873;p48"/>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874" name="Google Shape;874;p48"/>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875" name="Google Shape;875;p48"/>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876" name="Google Shape;876;p48"/>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877" name="Google Shape;877;p48"/>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878" name="Google Shape;878;p48"/>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879" name="Google Shape;879;p48"/>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880" name="Google Shape;880;p48"/>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881" name="Google Shape;881;p48"/>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882" name="Google Shape;882;p48"/>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883" name="Google Shape;883;p48"/>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884" name="Google Shape;884;p48"/>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885" name="Google Shape;885;p48"/>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86" name="Google Shape;886;p48"/>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87" name="Google Shape;887;p48"/>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8</a:t>
            </a:r>
            <a:endParaRPr sz="800">
              <a:latin typeface="Calibri"/>
              <a:ea typeface="Calibri"/>
              <a:cs typeface="Calibri"/>
              <a:sym typeface="Calibri"/>
            </a:endParaRPr>
          </a:p>
        </p:txBody>
      </p:sp>
      <p:sp>
        <p:nvSpPr>
          <p:cNvPr id="888" name="Google Shape;888;p48"/>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89" name="Google Shape;889;p48"/>
          <p:cNvGrpSpPr/>
          <p:nvPr/>
        </p:nvGrpSpPr>
        <p:grpSpPr>
          <a:xfrm>
            <a:off x="0" y="3109250"/>
            <a:ext cx="5760261" cy="92075"/>
            <a:chOff x="0" y="3109250"/>
            <a:chExt cx="5760261" cy="92075"/>
          </a:xfrm>
        </p:grpSpPr>
        <p:sp>
          <p:nvSpPr>
            <p:cNvPr id="890" name="Google Shape;890;p4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1" name="Google Shape;891;p4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2" name="Google Shape;892;p4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93" name="Google Shape;893;p4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94" name="Google Shape;894;p4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5" name="Google Shape;895;p4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42</a:t>
            </a:fld>
            <a:r>
              <a:rPr lang="en-US"/>
              <a:t> / 46</a:t>
            </a:r>
            <a:endParaRPr/>
          </a:p>
        </p:txBody>
      </p:sp>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4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S</a:t>
            </a:r>
            <a:r>
              <a:rPr lang="en-US" cap="small">
                <a:solidFill>
                  <a:srgbClr val="FFFFFF"/>
                </a:solidFill>
              </a:rPr>
              <a:t>ummary</a:t>
            </a:r>
            <a:r>
              <a:rPr lang="en-US">
                <a:solidFill>
                  <a:srgbClr val="FFFFFF"/>
                </a:solidFill>
              </a:rPr>
              <a:t>: P</a:t>
            </a:r>
            <a:r>
              <a:rPr lang="en-US" cap="small">
                <a:solidFill>
                  <a:srgbClr val="FFFFFF"/>
                </a:solidFill>
              </a:rPr>
              <a:t>utting</a:t>
            </a:r>
            <a:r>
              <a:rPr lang="en-US">
                <a:solidFill>
                  <a:srgbClr val="FFFFFF"/>
                </a:solidFill>
              </a:rPr>
              <a:t> I</a:t>
            </a:r>
            <a:r>
              <a:rPr lang="en-US" cap="small">
                <a:solidFill>
                  <a:srgbClr val="FFFFFF"/>
                </a:solidFill>
              </a:rPr>
              <a:t>t</a:t>
            </a:r>
            <a:r>
              <a:rPr lang="en-US">
                <a:solidFill>
                  <a:srgbClr val="FFFFFF"/>
                </a:solidFill>
              </a:rPr>
              <a:t> A</a:t>
            </a:r>
            <a:r>
              <a:rPr lang="en-US" cap="small">
                <a:solidFill>
                  <a:srgbClr val="FFFFFF"/>
                </a:solidFill>
              </a:rPr>
              <a:t>ll</a:t>
            </a:r>
            <a:r>
              <a:rPr lang="en-US">
                <a:solidFill>
                  <a:srgbClr val="FFFFFF"/>
                </a:solidFill>
              </a:rPr>
              <a:t> T</a:t>
            </a:r>
            <a:r>
              <a:rPr lang="en-US" cap="small">
                <a:solidFill>
                  <a:srgbClr val="FFFFFF"/>
                </a:solidFill>
              </a:rPr>
              <a:t>ogether</a:t>
            </a:r>
            <a:endParaRPr/>
          </a:p>
        </p:txBody>
      </p:sp>
      <p:grpSp>
        <p:nvGrpSpPr>
          <p:cNvPr id="901" name="Google Shape;901;p49"/>
          <p:cNvGrpSpPr/>
          <p:nvPr/>
        </p:nvGrpSpPr>
        <p:grpSpPr>
          <a:xfrm>
            <a:off x="1079987" y="504721"/>
            <a:ext cx="3600207" cy="2340448"/>
            <a:chOff x="1079987" y="504721"/>
            <a:chExt cx="3600207" cy="2340448"/>
          </a:xfrm>
        </p:grpSpPr>
        <p:sp>
          <p:nvSpPr>
            <p:cNvPr id="902" name="Google Shape;902;p49"/>
            <p:cNvSpPr/>
            <p:nvPr/>
          </p:nvSpPr>
          <p:spPr>
            <a:xfrm>
              <a:off x="1079987" y="504721"/>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3" name="Google Shape;903;p49"/>
            <p:cNvSpPr/>
            <p:nvPr/>
          </p:nvSpPr>
          <p:spPr>
            <a:xfrm>
              <a:off x="1079987" y="504721"/>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4" name="Google Shape;904;p49"/>
            <p:cNvSpPr/>
            <p:nvPr/>
          </p:nvSpPr>
          <p:spPr>
            <a:xfrm>
              <a:off x="3240014" y="504721"/>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5" name="Google Shape;905;p49"/>
            <p:cNvSpPr/>
            <p:nvPr/>
          </p:nvSpPr>
          <p:spPr>
            <a:xfrm>
              <a:off x="3240014" y="504721"/>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6" name="Google Shape;906;p49"/>
            <p:cNvSpPr/>
            <p:nvPr/>
          </p:nvSpPr>
          <p:spPr>
            <a:xfrm>
              <a:off x="3240014" y="1944739"/>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7" name="Google Shape;907;p49"/>
            <p:cNvSpPr/>
            <p:nvPr/>
          </p:nvSpPr>
          <p:spPr>
            <a:xfrm>
              <a:off x="3240014" y="1944739"/>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8" name="Google Shape;908;p49"/>
            <p:cNvSpPr/>
            <p:nvPr/>
          </p:nvSpPr>
          <p:spPr>
            <a:xfrm>
              <a:off x="1079987" y="1944739"/>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9" name="Google Shape;909;p49"/>
            <p:cNvSpPr/>
            <p:nvPr/>
          </p:nvSpPr>
          <p:spPr>
            <a:xfrm>
              <a:off x="1079987" y="1944739"/>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10" name="Google Shape;910;p49"/>
          <p:cNvSpPr txBox="1"/>
          <p:nvPr/>
        </p:nvSpPr>
        <p:spPr>
          <a:xfrm>
            <a:off x="2054809" y="1560403"/>
            <a:ext cx="16510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b="1">
                <a:solidFill>
                  <a:srgbClr val="EC2027"/>
                </a:solidFill>
                <a:latin typeface="Arial"/>
                <a:ea typeface="Arial"/>
                <a:cs typeface="Arial"/>
                <a:sym typeface="Arial"/>
              </a:rPr>
              <a:t>Linear Regression Model</a:t>
            </a:r>
            <a:endParaRPr sz="1050">
              <a:latin typeface="Arial"/>
              <a:ea typeface="Arial"/>
              <a:cs typeface="Arial"/>
              <a:sym typeface="Arial"/>
            </a:endParaRPr>
          </a:p>
        </p:txBody>
      </p:sp>
      <p:sp>
        <p:nvSpPr>
          <p:cNvPr id="911" name="Google Shape;911;p49"/>
          <p:cNvSpPr txBox="1"/>
          <p:nvPr/>
        </p:nvSpPr>
        <p:spPr>
          <a:xfrm>
            <a:off x="1061636" y="537323"/>
            <a:ext cx="1477010" cy="685800"/>
          </a:xfrm>
          <a:prstGeom prst="rect">
            <a:avLst/>
          </a:prstGeom>
          <a:noFill/>
          <a:ln>
            <a:noFill/>
          </a:ln>
        </p:spPr>
        <p:txBody>
          <a:bodyPr spcFirstLastPara="1" wrap="square" lIns="0" tIns="16500" rIns="0" bIns="0" anchor="t" anchorCtr="0">
            <a:spAutoFit/>
          </a:bodyPr>
          <a:lstStyle/>
          <a:p>
            <a:pPr marL="89535" lvl="0" indent="0" algn="l" rtl="0">
              <a:lnSpc>
                <a:spcPct val="100000"/>
              </a:lnSpc>
              <a:spcBef>
                <a:spcPts val="0"/>
              </a:spcBef>
              <a:spcAft>
                <a:spcPts val="0"/>
              </a:spcAft>
              <a:buNone/>
            </a:pPr>
            <a:r>
              <a:rPr lang="en-US" sz="950" b="1" dirty="0">
                <a:solidFill>
                  <a:srgbClr val="1B1472"/>
                </a:solidFill>
                <a:latin typeface="Arial"/>
                <a:ea typeface="Arial"/>
                <a:cs typeface="Arial"/>
                <a:sym typeface="Arial"/>
              </a:rPr>
              <a:t>1. Data &amp; Initialization</a:t>
            </a:r>
            <a:endParaRPr sz="950" dirty="0">
              <a:latin typeface="Arial"/>
              <a:ea typeface="Arial"/>
              <a:cs typeface="Arial"/>
              <a:sym typeface="Arial"/>
            </a:endParaRPr>
          </a:p>
          <a:p>
            <a:pPr marL="0" lvl="0" indent="0" algn="l" rtl="0">
              <a:lnSpc>
                <a:spcPct val="100000"/>
              </a:lnSpc>
              <a:spcBef>
                <a:spcPts val="180"/>
              </a:spcBef>
              <a:spcAft>
                <a:spcPts val="0"/>
              </a:spcAft>
              <a:buNone/>
            </a:pPr>
            <a:endParaRPr sz="950" dirty="0">
              <a:latin typeface="Arial"/>
              <a:ea typeface="Arial"/>
              <a:cs typeface="Arial"/>
              <a:sym typeface="Arial"/>
            </a:endParaRPr>
          </a:p>
          <a:p>
            <a:pPr marL="0" lvl="0" indent="0" algn="ctr" rtl="0">
              <a:lnSpc>
                <a:spcPct val="100000"/>
              </a:lnSpc>
              <a:spcBef>
                <a:spcPts val="5"/>
              </a:spcBef>
              <a:spcAft>
                <a:spcPts val="0"/>
              </a:spcAft>
              <a:buNone/>
            </a:pPr>
            <a:r>
              <a:rPr lang="en-US" sz="1100" dirty="0">
                <a:latin typeface="Lucida Sans"/>
                <a:ea typeface="Lucida Sans"/>
                <a:cs typeface="Lucida Sans"/>
                <a:sym typeface="Lucida Sans"/>
              </a:rPr>
              <a:t>D </a:t>
            </a:r>
            <a:r>
              <a:rPr lang="en-US" sz="1100" dirty="0">
                <a:latin typeface="Tahoma"/>
                <a:ea typeface="Tahoma"/>
                <a:cs typeface="Tahoma"/>
                <a:sym typeface="Tahoma"/>
              </a:rPr>
              <a:t>= </a:t>
            </a:r>
            <a:r>
              <a:rPr lang="en-US" sz="1100" dirty="0">
                <a:latin typeface="Lucida Sans"/>
                <a:ea typeface="Lucida Sans"/>
                <a:cs typeface="Lucida Sans"/>
                <a:sym typeface="Lucida Sans"/>
              </a:rPr>
              <a:t>{</a:t>
            </a:r>
            <a:r>
              <a:rPr lang="en-US" sz="1100" dirty="0">
                <a:latin typeface="Tahoma"/>
                <a:ea typeface="Tahoma"/>
                <a:cs typeface="Tahoma"/>
                <a:sym typeface="Tahoma"/>
              </a:rPr>
              <a:t>(</a:t>
            </a:r>
            <a:r>
              <a:rPr lang="en-US" sz="950" b="1" dirty="0">
                <a:latin typeface="Arial"/>
                <a:ea typeface="Arial"/>
                <a:cs typeface="Arial"/>
                <a:sym typeface="Arial"/>
              </a:rPr>
              <a:t>x</a:t>
            </a:r>
            <a:r>
              <a:rPr lang="en-US" sz="1200" baseline="30000" dirty="0">
                <a:latin typeface="Tahoma"/>
                <a:ea typeface="Tahoma"/>
                <a:cs typeface="Tahoma"/>
                <a:sym typeface="Tahoma"/>
              </a:rPr>
              <a:t>(</a:t>
            </a:r>
            <a:r>
              <a:rPr lang="en-US" sz="1050" i="1" baseline="30000" dirty="0" err="1">
                <a:latin typeface="Arial"/>
                <a:ea typeface="Arial"/>
                <a:cs typeface="Arial"/>
                <a:sym typeface="Arial"/>
              </a:rPr>
              <a:t>i</a:t>
            </a:r>
            <a:r>
              <a:rPr lang="en-US" sz="1200" baseline="30000" dirty="0">
                <a:latin typeface="Tahoma"/>
                <a:ea typeface="Tahoma"/>
                <a:cs typeface="Tahoma"/>
                <a:sym typeface="Tahoma"/>
              </a:rPr>
              <a:t>)</a:t>
            </a:r>
            <a:r>
              <a:rPr lang="en-US" sz="1100" i="1" dirty="0">
                <a:latin typeface="Georgia"/>
                <a:ea typeface="Georgia"/>
                <a:cs typeface="Georgia"/>
                <a:sym typeface="Georgia"/>
              </a:rPr>
              <a:t>, </a:t>
            </a:r>
            <a:r>
              <a:rPr lang="en-US" sz="950" i="1" dirty="0">
                <a:latin typeface="Arial"/>
                <a:ea typeface="Arial"/>
                <a:cs typeface="Arial"/>
                <a:sym typeface="Arial"/>
              </a:rPr>
              <a:t>y </a:t>
            </a:r>
            <a:r>
              <a:rPr lang="en-US" sz="1200" baseline="30000" dirty="0">
                <a:latin typeface="Tahoma"/>
                <a:ea typeface="Tahoma"/>
                <a:cs typeface="Tahoma"/>
                <a:sym typeface="Tahoma"/>
              </a:rPr>
              <a:t>(</a:t>
            </a:r>
            <a:r>
              <a:rPr lang="en-US" sz="1050" i="1" baseline="30000" dirty="0" err="1">
                <a:latin typeface="Arial"/>
                <a:ea typeface="Arial"/>
                <a:cs typeface="Arial"/>
                <a:sym typeface="Arial"/>
              </a:rPr>
              <a:t>i</a:t>
            </a:r>
            <a:r>
              <a:rPr lang="en-US" sz="1200" baseline="30000" dirty="0">
                <a:latin typeface="Tahoma"/>
                <a:ea typeface="Tahoma"/>
                <a:cs typeface="Tahoma"/>
                <a:sym typeface="Tahoma"/>
              </a:rPr>
              <a:t>)</a:t>
            </a:r>
            <a:r>
              <a:rPr lang="en-US" sz="1100" dirty="0">
                <a:latin typeface="Tahoma"/>
                <a:ea typeface="Tahoma"/>
                <a:cs typeface="Tahoma"/>
                <a:sym typeface="Tahoma"/>
              </a:rPr>
              <a:t>)</a:t>
            </a:r>
            <a:r>
              <a:rPr lang="en-US" sz="1100" dirty="0">
                <a:latin typeface="Lucida Sans"/>
                <a:ea typeface="Lucida Sans"/>
                <a:cs typeface="Lucida Sans"/>
                <a:sym typeface="Lucida Sans"/>
              </a:rPr>
              <a:t>}</a:t>
            </a:r>
            <a:endParaRPr sz="1100" dirty="0">
              <a:latin typeface="Lucida Sans"/>
              <a:ea typeface="Lucida Sans"/>
              <a:cs typeface="Lucida Sans"/>
              <a:sym typeface="Lucida Sans"/>
            </a:endParaRPr>
          </a:p>
          <a:p>
            <a:pPr marL="0" lvl="0" indent="0" algn="ctr" rtl="0">
              <a:lnSpc>
                <a:spcPct val="100000"/>
              </a:lnSpc>
              <a:spcBef>
                <a:spcPts val="110"/>
              </a:spcBef>
              <a:spcAft>
                <a:spcPts val="0"/>
              </a:spcAft>
              <a:buNone/>
            </a:pPr>
            <a:r>
              <a:rPr lang="en-US" sz="1425" b="1" baseline="-25000" dirty="0">
                <a:latin typeface="Arial"/>
                <a:ea typeface="Arial"/>
                <a:cs typeface="Arial"/>
                <a:sym typeface="Arial"/>
              </a:rPr>
              <a:t>w</a:t>
            </a:r>
            <a:r>
              <a:rPr lang="en-US" sz="800" dirty="0">
                <a:latin typeface="Tahoma"/>
                <a:ea typeface="Tahoma"/>
                <a:cs typeface="Tahoma"/>
                <a:sym typeface="Tahoma"/>
              </a:rPr>
              <a:t>(</a:t>
            </a:r>
            <a:r>
              <a:rPr lang="en-US" sz="700" dirty="0">
                <a:latin typeface="Arial"/>
                <a:ea typeface="Arial"/>
                <a:cs typeface="Arial"/>
                <a:sym typeface="Arial"/>
              </a:rPr>
              <a:t>0</a:t>
            </a:r>
            <a:r>
              <a:rPr lang="en-US" sz="800" dirty="0">
                <a:latin typeface="Tahoma"/>
                <a:ea typeface="Tahoma"/>
                <a:cs typeface="Tahoma"/>
                <a:sym typeface="Tahoma"/>
              </a:rPr>
              <a:t>) </a:t>
            </a:r>
            <a:r>
              <a:rPr lang="en-US" sz="1650" baseline="-25000" dirty="0">
                <a:latin typeface="Tahoma"/>
                <a:ea typeface="Tahoma"/>
                <a:cs typeface="Tahoma"/>
                <a:sym typeface="Tahoma"/>
              </a:rPr>
              <a:t>= </a:t>
            </a:r>
            <a:r>
              <a:rPr lang="en-US" sz="1425" b="1" baseline="-25000" dirty="0">
                <a:latin typeface="Arial"/>
                <a:ea typeface="Arial"/>
                <a:cs typeface="Arial"/>
                <a:sym typeface="Arial"/>
              </a:rPr>
              <a:t>0</a:t>
            </a:r>
            <a:endParaRPr sz="1425" baseline="-25000" dirty="0">
              <a:latin typeface="Arial"/>
              <a:ea typeface="Arial"/>
              <a:cs typeface="Arial"/>
              <a:sym typeface="Arial"/>
            </a:endParaRPr>
          </a:p>
        </p:txBody>
      </p:sp>
      <p:grpSp>
        <p:nvGrpSpPr>
          <p:cNvPr id="912" name="Google Shape;912;p49"/>
          <p:cNvGrpSpPr/>
          <p:nvPr/>
        </p:nvGrpSpPr>
        <p:grpSpPr>
          <a:xfrm>
            <a:off x="3533072" y="671776"/>
            <a:ext cx="804407" cy="565901"/>
            <a:chOff x="3533072" y="671776"/>
            <a:chExt cx="804407" cy="565901"/>
          </a:xfrm>
        </p:grpSpPr>
        <p:pic>
          <p:nvPicPr>
            <p:cNvPr id="913" name="Google Shape;913;p49"/>
            <p:cNvPicPr preferRelativeResize="0"/>
            <p:nvPr/>
          </p:nvPicPr>
          <p:blipFill rotWithShape="1">
            <a:blip r:embed="rId3">
              <a:alphaModFix/>
            </a:blip>
            <a:srcRect/>
            <a:stretch/>
          </p:blipFill>
          <p:spPr>
            <a:xfrm>
              <a:off x="3533072" y="671776"/>
              <a:ext cx="133892" cy="133892"/>
            </a:xfrm>
            <a:prstGeom prst="rect">
              <a:avLst/>
            </a:prstGeom>
            <a:noFill/>
            <a:ln>
              <a:noFill/>
            </a:ln>
          </p:spPr>
        </p:pic>
        <p:pic>
          <p:nvPicPr>
            <p:cNvPr id="914" name="Google Shape;914;p49"/>
            <p:cNvPicPr preferRelativeResize="0"/>
            <p:nvPr/>
          </p:nvPicPr>
          <p:blipFill rotWithShape="1">
            <a:blip r:embed="rId3">
              <a:alphaModFix/>
            </a:blip>
            <a:srcRect/>
            <a:stretch/>
          </p:blipFill>
          <p:spPr>
            <a:xfrm>
              <a:off x="3533072" y="887781"/>
              <a:ext cx="133892" cy="133892"/>
            </a:xfrm>
            <a:prstGeom prst="rect">
              <a:avLst/>
            </a:prstGeom>
            <a:noFill/>
            <a:ln>
              <a:noFill/>
            </a:ln>
          </p:spPr>
        </p:pic>
        <p:pic>
          <p:nvPicPr>
            <p:cNvPr id="915" name="Google Shape;915;p49"/>
            <p:cNvPicPr preferRelativeResize="0"/>
            <p:nvPr/>
          </p:nvPicPr>
          <p:blipFill rotWithShape="1">
            <a:blip r:embed="rId4">
              <a:alphaModFix/>
            </a:blip>
            <a:srcRect/>
            <a:stretch/>
          </p:blipFill>
          <p:spPr>
            <a:xfrm>
              <a:off x="3533072" y="1103785"/>
              <a:ext cx="133892" cy="133892"/>
            </a:xfrm>
            <a:prstGeom prst="rect">
              <a:avLst/>
            </a:prstGeom>
            <a:noFill/>
            <a:ln>
              <a:noFill/>
            </a:ln>
          </p:spPr>
        </p:pic>
        <p:pic>
          <p:nvPicPr>
            <p:cNvPr id="916" name="Google Shape;916;p49"/>
            <p:cNvPicPr preferRelativeResize="0"/>
            <p:nvPr/>
          </p:nvPicPr>
          <p:blipFill rotWithShape="1">
            <a:blip r:embed="rId5">
              <a:alphaModFix/>
            </a:blip>
            <a:srcRect/>
            <a:stretch/>
          </p:blipFill>
          <p:spPr>
            <a:xfrm>
              <a:off x="3948729" y="835431"/>
              <a:ext cx="238592" cy="238592"/>
            </a:xfrm>
            <a:prstGeom prst="rect">
              <a:avLst/>
            </a:prstGeom>
            <a:noFill/>
            <a:ln>
              <a:noFill/>
            </a:ln>
          </p:spPr>
        </p:pic>
        <p:sp>
          <p:nvSpPr>
            <p:cNvPr id="917" name="Google Shape;917;p49"/>
            <p:cNvSpPr/>
            <p:nvPr/>
          </p:nvSpPr>
          <p:spPr>
            <a:xfrm>
              <a:off x="3660799" y="766775"/>
              <a:ext cx="290195" cy="133985"/>
            </a:xfrm>
            <a:custGeom>
              <a:avLst/>
              <a:gdLst/>
              <a:ahLst/>
              <a:cxnLst/>
              <a:rect l="l" t="t" r="r" b="b"/>
              <a:pathLst>
                <a:path w="290195" h="133984" extrusionOk="0">
                  <a:moveTo>
                    <a:pt x="0" y="0"/>
                  </a:moveTo>
                  <a:lnTo>
                    <a:pt x="289725" y="13372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8" name="Google Shape;918;p49"/>
            <p:cNvSpPr/>
            <p:nvPr/>
          </p:nvSpPr>
          <p:spPr>
            <a:xfrm>
              <a:off x="3909155" y="853172"/>
              <a:ext cx="46355" cy="71755"/>
            </a:xfrm>
            <a:custGeom>
              <a:avLst/>
              <a:gdLst/>
              <a:ahLst/>
              <a:cxnLst/>
              <a:rect l="l" t="t" r="r" b="b"/>
              <a:pathLst>
                <a:path w="46354" h="71755" extrusionOk="0">
                  <a:moveTo>
                    <a:pt x="33111" y="0"/>
                  </a:moveTo>
                  <a:lnTo>
                    <a:pt x="31771" y="16480"/>
                  </a:lnTo>
                  <a:lnTo>
                    <a:pt x="34028" y="30066"/>
                  </a:lnTo>
                  <a:lnTo>
                    <a:pt x="39040" y="40979"/>
                  </a:lnTo>
                  <a:lnTo>
                    <a:pt x="45964" y="49444"/>
                  </a:lnTo>
                  <a:lnTo>
                    <a:pt x="35031" y="49667"/>
                  </a:lnTo>
                  <a:lnTo>
                    <a:pt x="23474" y="52934"/>
                  </a:lnTo>
                  <a:lnTo>
                    <a:pt x="11671" y="60030"/>
                  </a:lnTo>
                  <a:lnTo>
                    <a:pt x="0" y="71742"/>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9" name="Google Shape;919;p49"/>
            <p:cNvSpPr/>
            <p:nvPr/>
          </p:nvSpPr>
          <p:spPr>
            <a:xfrm>
              <a:off x="3666964" y="954727"/>
              <a:ext cx="271780" cy="0"/>
            </a:xfrm>
            <a:custGeom>
              <a:avLst/>
              <a:gdLst/>
              <a:ahLst/>
              <a:cxnLst/>
              <a:rect l="l" t="t" r="r" b="b"/>
              <a:pathLst>
                <a:path w="271779" h="120000" extrusionOk="0">
                  <a:moveTo>
                    <a:pt x="0" y="0"/>
                  </a:moveTo>
                  <a:lnTo>
                    <a:pt x="271642"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0" name="Google Shape;920;p49"/>
            <p:cNvSpPr/>
            <p:nvPr/>
          </p:nvSpPr>
          <p:spPr>
            <a:xfrm>
              <a:off x="3911277" y="9152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1" name="Google Shape;921;p49"/>
            <p:cNvSpPr/>
            <p:nvPr/>
          </p:nvSpPr>
          <p:spPr>
            <a:xfrm>
              <a:off x="3660799" y="1008958"/>
              <a:ext cx="290195" cy="133985"/>
            </a:xfrm>
            <a:custGeom>
              <a:avLst/>
              <a:gdLst/>
              <a:ahLst/>
              <a:cxnLst/>
              <a:rect l="l" t="t" r="r" b="b"/>
              <a:pathLst>
                <a:path w="290195" h="133984" extrusionOk="0">
                  <a:moveTo>
                    <a:pt x="0" y="133720"/>
                  </a:moveTo>
                  <a:lnTo>
                    <a:pt x="28972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2" name="Google Shape;922;p49"/>
            <p:cNvSpPr/>
            <p:nvPr/>
          </p:nvSpPr>
          <p:spPr>
            <a:xfrm>
              <a:off x="3909155" y="984539"/>
              <a:ext cx="46355" cy="71755"/>
            </a:xfrm>
            <a:custGeom>
              <a:avLst/>
              <a:gdLst/>
              <a:ahLst/>
              <a:cxnLst/>
              <a:rect l="l" t="t" r="r" b="b"/>
              <a:pathLst>
                <a:path w="46354" h="71755" extrusionOk="0">
                  <a:moveTo>
                    <a:pt x="0" y="0"/>
                  </a:moveTo>
                  <a:lnTo>
                    <a:pt x="11671" y="11712"/>
                  </a:lnTo>
                  <a:lnTo>
                    <a:pt x="23474" y="18808"/>
                  </a:lnTo>
                  <a:lnTo>
                    <a:pt x="35031" y="22075"/>
                  </a:lnTo>
                  <a:lnTo>
                    <a:pt x="45964" y="22298"/>
                  </a:lnTo>
                  <a:lnTo>
                    <a:pt x="39040" y="30763"/>
                  </a:lnTo>
                  <a:lnTo>
                    <a:pt x="34028" y="41676"/>
                  </a:lnTo>
                  <a:lnTo>
                    <a:pt x="31771" y="55262"/>
                  </a:lnTo>
                  <a:lnTo>
                    <a:pt x="33111" y="71742"/>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3" name="Google Shape;923;p49"/>
            <p:cNvSpPr/>
            <p:nvPr/>
          </p:nvSpPr>
          <p:spPr>
            <a:xfrm>
              <a:off x="4187321" y="954727"/>
              <a:ext cx="145415" cy="0"/>
            </a:xfrm>
            <a:custGeom>
              <a:avLst/>
              <a:gdLst/>
              <a:ahLst/>
              <a:cxnLst/>
              <a:rect l="l" t="t" r="r" b="b"/>
              <a:pathLst>
                <a:path w="145414" h="120000" extrusionOk="0">
                  <a:moveTo>
                    <a:pt x="0" y="0"/>
                  </a:moveTo>
                  <a:lnTo>
                    <a:pt x="145103"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4" name="Google Shape;924;p49"/>
            <p:cNvSpPr/>
            <p:nvPr/>
          </p:nvSpPr>
          <p:spPr>
            <a:xfrm>
              <a:off x="4305095" y="9152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25" name="Google Shape;925;p49"/>
          <p:cNvSpPr txBox="1"/>
          <p:nvPr/>
        </p:nvSpPr>
        <p:spPr>
          <a:xfrm>
            <a:off x="3221663" y="535633"/>
            <a:ext cx="1477010" cy="827405"/>
          </a:xfrm>
          <a:prstGeom prst="rect">
            <a:avLst/>
          </a:prstGeom>
          <a:noFill/>
          <a:ln>
            <a:noFill/>
          </a:ln>
        </p:spPr>
        <p:txBody>
          <a:bodyPr spcFirstLastPara="1" wrap="square" lIns="0" tIns="16500" rIns="0" bIns="0" anchor="t" anchorCtr="0">
            <a:spAutoFit/>
          </a:bodyPr>
          <a:lstStyle/>
          <a:p>
            <a:pPr marL="484505" lvl="0" indent="0" algn="l" rtl="0">
              <a:lnSpc>
                <a:spcPct val="107263"/>
              </a:lnSpc>
              <a:spcBef>
                <a:spcPts val="0"/>
              </a:spcBef>
              <a:spcAft>
                <a:spcPts val="0"/>
              </a:spcAft>
              <a:buNone/>
            </a:pPr>
            <a:r>
              <a:rPr lang="en-US" sz="950" b="1">
                <a:solidFill>
                  <a:srgbClr val="1B1472"/>
                </a:solidFill>
                <a:latin typeface="Arial"/>
                <a:ea typeface="Arial"/>
                <a:cs typeface="Arial"/>
                <a:sym typeface="Arial"/>
              </a:rPr>
              <a:t>2. Model</a:t>
            </a:r>
            <a:endParaRPr sz="950">
              <a:latin typeface="Arial"/>
              <a:ea typeface="Arial"/>
              <a:cs typeface="Arial"/>
              <a:sym typeface="Arial"/>
            </a:endParaRPr>
          </a:p>
          <a:p>
            <a:pPr marL="154940" lvl="0" indent="0" algn="l" rtl="0">
              <a:lnSpc>
                <a:spcPct val="96000"/>
              </a:lnSpc>
              <a:spcBef>
                <a:spcPts val="0"/>
              </a:spcBef>
              <a:spcAft>
                <a:spcPts val="0"/>
              </a:spcAft>
              <a:buNone/>
            </a:pPr>
            <a:r>
              <a:rPr lang="en-US" sz="700" i="1">
                <a:latin typeface="Arial"/>
                <a:ea typeface="Arial"/>
                <a:cs typeface="Arial"/>
                <a:sym typeface="Arial"/>
              </a:rPr>
              <a:t>x</a:t>
            </a:r>
            <a:r>
              <a:rPr lang="en-US" sz="750" baseline="-25000">
                <a:latin typeface="Arial"/>
                <a:ea typeface="Arial"/>
                <a:cs typeface="Arial"/>
                <a:sym typeface="Arial"/>
              </a:rPr>
              <a:t>1</a:t>
            </a:r>
            <a:endParaRPr sz="750" baseline="-25000">
              <a:latin typeface="Arial"/>
              <a:ea typeface="Arial"/>
              <a:cs typeface="Arial"/>
              <a:sym typeface="Arial"/>
            </a:endParaRPr>
          </a:p>
          <a:p>
            <a:pPr marL="0" lvl="0" indent="0" algn="l" rtl="0">
              <a:lnSpc>
                <a:spcPct val="100000"/>
              </a:lnSpc>
              <a:spcBef>
                <a:spcPts val="40"/>
              </a:spcBef>
              <a:spcAft>
                <a:spcPts val="0"/>
              </a:spcAft>
              <a:buNone/>
            </a:pPr>
            <a:endParaRPr sz="500">
              <a:latin typeface="Arial"/>
              <a:ea typeface="Arial"/>
              <a:cs typeface="Arial"/>
              <a:sym typeface="Arial"/>
            </a:endParaRPr>
          </a:p>
          <a:p>
            <a:pPr marL="154940" lvl="0" indent="0" algn="l" rtl="0">
              <a:lnSpc>
                <a:spcPct val="100000"/>
              </a:lnSpc>
              <a:spcBef>
                <a:spcPts val="0"/>
              </a:spcBef>
              <a:spcAft>
                <a:spcPts val="0"/>
              </a:spcAft>
              <a:buNone/>
            </a:pPr>
            <a:r>
              <a:rPr lang="en-US" sz="1050" i="1" baseline="30000">
                <a:latin typeface="Arial"/>
                <a:ea typeface="Arial"/>
                <a:cs typeface="Arial"/>
                <a:sym typeface="Arial"/>
              </a:rPr>
              <a:t>x</a:t>
            </a:r>
            <a:r>
              <a:rPr lang="en-US" sz="750" baseline="30000">
                <a:latin typeface="Arial"/>
                <a:ea typeface="Arial"/>
                <a:cs typeface="Arial"/>
                <a:sym typeface="Arial"/>
              </a:rPr>
              <a:t>2	</a:t>
            </a:r>
            <a:r>
              <a:rPr lang="en-US" sz="800">
                <a:latin typeface="Tahoma"/>
                <a:ea typeface="Tahoma"/>
                <a:cs typeface="Tahoma"/>
                <a:sym typeface="Tahoma"/>
              </a:rPr>
              <a:t>Σ	</a:t>
            </a:r>
            <a:r>
              <a:rPr lang="en-US" sz="950" i="1">
                <a:latin typeface="Arial"/>
                <a:ea typeface="Arial"/>
                <a:cs typeface="Arial"/>
                <a:sym typeface="Arial"/>
              </a:rPr>
              <a:t>y</a:t>
            </a:r>
            <a:r>
              <a:rPr lang="en-US" sz="1650" baseline="30000">
                <a:latin typeface="Tahoma"/>
                <a:ea typeface="Tahoma"/>
                <a:cs typeface="Tahoma"/>
                <a:sym typeface="Tahoma"/>
              </a:rPr>
              <a:t>ˆ</a:t>
            </a:r>
            <a:endParaRPr sz="1650" baseline="30000">
              <a:latin typeface="Tahoma"/>
              <a:ea typeface="Tahoma"/>
              <a:cs typeface="Tahoma"/>
              <a:sym typeface="Tahoma"/>
            </a:endParaRPr>
          </a:p>
          <a:p>
            <a:pPr marL="0" lvl="0" indent="0" algn="l" rtl="0">
              <a:lnSpc>
                <a:spcPct val="100000"/>
              </a:lnSpc>
              <a:spcBef>
                <a:spcPts val="15"/>
              </a:spcBef>
              <a:spcAft>
                <a:spcPts val="0"/>
              </a:spcAft>
              <a:buNone/>
            </a:pPr>
            <a:endParaRPr sz="500">
              <a:latin typeface="Tahoma"/>
              <a:ea typeface="Tahoma"/>
              <a:cs typeface="Tahoma"/>
              <a:sym typeface="Tahoma"/>
            </a:endParaRPr>
          </a:p>
          <a:p>
            <a:pPr marL="148590" lvl="0" indent="0" algn="l" rtl="0">
              <a:lnSpc>
                <a:spcPct val="100000"/>
              </a:lnSpc>
              <a:spcBef>
                <a:spcPts val="0"/>
              </a:spcBef>
              <a:spcAft>
                <a:spcPts val="0"/>
              </a:spcAft>
              <a:buNone/>
            </a:pPr>
            <a:r>
              <a:rPr lang="en-US" sz="700" i="1">
                <a:latin typeface="Arial"/>
                <a:ea typeface="Arial"/>
                <a:cs typeface="Arial"/>
                <a:sym typeface="Arial"/>
              </a:rPr>
              <a:t>x</a:t>
            </a:r>
            <a:r>
              <a:rPr lang="en-US" sz="750" i="1" baseline="-25000">
                <a:latin typeface="Arial"/>
                <a:ea typeface="Arial"/>
                <a:cs typeface="Arial"/>
                <a:sym typeface="Arial"/>
              </a:rPr>
              <a:t>d</a:t>
            </a:r>
            <a:endParaRPr sz="750" baseline="-25000">
              <a:latin typeface="Arial"/>
              <a:ea typeface="Arial"/>
              <a:cs typeface="Arial"/>
              <a:sym typeface="Arial"/>
            </a:endParaRPr>
          </a:p>
          <a:p>
            <a:pPr marL="323215" lvl="0" indent="0" algn="l" rtl="0">
              <a:lnSpc>
                <a:spcPct val="100000"/>
              </a:lnSpc>
              <a:spcBef>
                <a:spcPts val="305"/>
              </a:spcBef>
              <a:spcAft>
                <a:spcPts val="0"/>
              </a:spcAft>
              <a:buNone/>
            </a:pPr>
            <a:r>
              <a:rPr lang="en-US" sz="700">
                <a:latin typeface="Arial"/>
                <a:ea typeface="Arial"/>
                <a:cs typeface="Arial"/>
                <a:sym typeface="Arial"/>
              </a:rPr>
              <a:t>Linear Activation Function</a:t>
            </a:r>
            <a:endParaRPr sz="700">
              <a:latin typeface="Arial"/>
              <a:ea typeface="Arial"/>
              <a:cs typeface="Arial"/>
              <a:sym typeface="Arial"/>
            </a:endParaRPr>
          </a:p>
        </p:txBody>
      </p:sp>
      <p:grpSp>
        <p:nvGrpSpPr>
          <p:cNvPr id="926" name="Google Shape;926;p49"/>
          <p:cNvGrpSpPr/>
          <p:nvPr/>
        </p:nvGrpSpPr>
        <p:grpSpPr>
          <a:xfrm>
            <a:off x="3600018" y="2322745"/>
            <a:ext cx="720090" cy="205307"/>
            <a:chOff x="3600018" y="2322745"/>
            <a:chExt cx="720090" cy="205307"/>
          </a:xfrm>
        </p:grpSpPr>
        <p:sp>
          <p:nvSpPr>
            <p:cNvPr id="927" name="Google Shape;927;p49"/>
            <p:cNvSpPr/>
            <p:nvPr/>
          </p:nvSpPr>
          <p:spPr>
            <a:xfrm>
              <a:off x="3600018" y="2322745"/>
              <a:ext cx="720090" cy="180340"/>
            </a:xfrm>
            <a:custGeom>
              <a:avLst/>
              <a:gdLst/>
              <a:ahLst/>
              <a:cxnLst/>
              <a:rect l="l" t="t" r="r" b="b"/>
              <a:pathLst>
                <a:path w="720089" h="180339" extrusionOk="0">
                  <a:moveTo>
                    <a:pt x="0" y="0"/>
                  </a:moveTo>
                  <a:lnTo>
                    <a:pt x="10612" y="10482"/>
                  </a:lnTo>
                  <a:lnTo>
                    <a:pt x="14689" y="14392"/>
                  </a:lnTo>
                  <a:lnTo>
                    <a:pt x="44066" y="41374"/>
                  </a:lnTo>
                  <a:lnTo>
                    <a:pt x="58755" y="53965"/>
                  </a:lnTo>
                  <a:lnTo>
                    <a:pt x="62831" y="57376"/>
                  </a:lnTo>
                  <a:lnTo>
                    <a:pt x="69368" y="62712"/>
                  </a:lnTo>
                  <a:lnTo>
                    <a:pt x="73444" y="65957"/>
                  </a:lnTo>
                  <a:lnTo>
                    <a:pt x="77520" y="69201"/>
                  </a:lnTo>
                  <a:lnTo>
                    <a:pt x="84057" y="74272"/>
                  </a:lnTo>
                  <a:lnTo>
                    <a:pt x="88133" y="77349"/>
                  </a:lnTo>
                  <a:lnTo>
                    <a:pt x="92209" y="80427"/>
                  </a:lnTo>
                  <a:lnTo>
                    <a:pt x="128124" y="105351"/>
                  </a:lnTo>
                  <a:lnTo>
                    <a:pt x="146889" y="116923"/>
                  </a:lnTo>
                  <a:lnTo>
                    <a:pt x="150965" y="119336"/>
                  </a:lnTo>
                  <a:lnTo>
                    <a:pt x="157501" y="123075"/>
                  </a:lnTo>
                  <a:lnTo>
                    <a:pt x="161577" y="125322"/>
                  </a:lnTo>
                  <a:lnTo>
                    <a:pt x="165653" y="127569"/>
                  </a:lnTo>
                  <a:lnTo>
                    <a:pt x="190955" y="140313"/>
                  </a:lnTo>
                  <a:lnTo>
                    <a:pt x="195031" y="142227"/>
                  </a:lnTo>
                  <a:lnTo>
                    <a:pt x="201568" y="145163"/>
                  </a:lnTo>
                  <a:lnTo>
                    <a:pt x="205644" y="146910"/>
                  </a:lnTo>
                  <a:lnTo>
                    <a:pt x="209720" y="148658"/>
                  </a:lnTo>
                  <a:lnTo>
                    <a:pt x="216257" y="151328"/>
                  </a:lnTo>
                  <a:lnTo>
                    <a:pt x="220333" y="152909"/>
                  </a:lnTo>
                  <a:lnTo>
                    <a:pt x="224409" y="154490"/>
                  </a:lnTo>
                  <a:lnTo>
                    <a:pt x="230946" y="156893"/>
                  </a:lnTo>
                  <a:lnTo>
                    <a:pt x="235022" y="158309"/>
                  </a:lnTo>
                  <a:lnTo>
                    <a:pt x="239098" y="159724"/>
                  </a:lnTo>
                  <a:lnTo>
                    <a:pt x="279089" y="170910"/>
                  </a:lnTo>
                  <a:lnTo>
                    <a:pt x="293778" y="173915"/>
                  </a:lnTo>
                  <a:lnTo>
                    <a:pt x="297854" y="174665"/>
                  </a:lnTo>
                  <a:lnTo>
                    <a:pt x="304391" y="175733"/>
                  </a:lnTo>
                  <a:lnTo>
                    <a:pt x="308467" y="176316"/>
                  </a:lnTo>
                  <a:lnTo>
                    <a:pt x="312543" y="176899"/>
                  </a:lnTo>
                  <a:lnTo>
                    <a:pt x="337844" y="179320"/>
                  </a:lnTo>
                  <a:lnTo>
                    <a:pt x="341920" y="179571"/>
                  </a:lnTo>
                  <a:lnTo>
                    <a:pt x="348457" y="179840"/>
                  </a:lnTo>
                  <a:lnTo>
                    <a:pt x="352533" y="179925"/>
                  </a:lnTo>
                  <a:lnTo>
                    <a:pt x="356609" y="180009"/>
                  </a:lnTo>
                  <a:lnTo>
                    <a:pt x="363146" y="180012"/>
                  </a:lnTo>
                  <a:lnTo>
                    <a:pt x="367222" y="179930"/>
                  </a:lnTo>
                  <a:lnTo>
                    <a:pt x="371298" y="179849"/>
                  </a:lnTo>
                  <a:lnTo>
                    <a:pt x="396600" y="178145"/>
                  </a:lnTo>
                  <a:lnTo>
                    <a:pt x="400676" y="177731"/>
                  </a:lnTo>
                  <a:lnTo>
                    <a:pt x="425978" y="173959"/>
                  </a:lnTo>
                  <a:lnTo>
                    <a:pt x="430054" y="173212"/>
                  </a:lnTo>
                  <a:lnTo>
                    <a:pt x="436591" y="171878"/>
                  </a:lnTo>
                  <a:lnTo>
                    <a:pt x="440667" y="170965"/>
                  </a:lnTo>
                  <a:lnTo>
                    <a:pt x="444743" y="170052"/>
                  </a:lnTo>
                  <a:lnTo>
                    <a:pt x="470044" y="163187"/>
                  </a:lnTo>
                  <a:lnTo>
                    <a:pt x="474120" y="161941"/>
                  </a:lnTo>
                  <a:lnTo>
                    <a:pt x="480657" y="159809"/>
                  </a:lnTo>
                  <a:lnTo>
                    <a:pt x="484733" y="158397"/>
                  </a:lnTo>
                  <a:lnTo>
                    <a:pt x="488809" y="156984"/>
                  </a:lnTo>
                  <a:lnTo>
                    <a:pt x="495346" y="154586"/>
                  </a:lnTo>
                  <a:lnTo>
                    <a:pt x="499422" y="153008"/>
                  </a:lnTo>
                  <a:lnTo>
                    <a:pt x="503498" y="151430"/>
                  </a:lnTo>
                  <a:lnTo>
                    <a:pt x="539413" y="135321"/>
                  </a:lnTo>
                  <a:lnTo>
                    <a:pt x="572867" y="117071"/>
                  </a:lnTo>
                  <a:lnTo>
                    <a:pt x="576943" y="114661"/>
                  </a:lnTo>
                  <a:lnTo>
                    <a:pt x="602244" y="98504"/>
                  </a:lnTo>
                  <a:lnTo>
                    <a:pt x="606321" y="95761"/>
                  </a:lnTo>
                  <a:lnTo>
                    <a:pt x="612857" y="91229"/>
                  </a:lnTo>
                  <a:lnTo>
                    <a:pt x="616933" y="88320"/>
                  </a:lnTo>
                  <a:lnTo>
                    <a:pt x="621009" y="85411"/>
                  </a:lnTo>
                  <a:lnTo>
                    <a:pt x="646311" y="66155"/>
                  </a:lnTo>
                  <a:lnTo>
                    <a:pt x="650387" y="62913"/>
                  </a:lnTo>
                  <a:lnTo>
                    <a:pt x="656924" y="57581"/>
                  </a:lnTo>
                  <a:lnTo>
                    <a:pt x="661000" y="54174"/>
                  </a:lnTo>
                  <a:lnTo>
                    <a:pt x="665076" y="50766"/>
                  </a:lnTo>
                  <a:lnTo>
                    <a:pt x="694454" y="24675"/>
                  </a:lnTo>
                  <a:lnTo>
                    <a:pt x="705067" y="14633"/>
                  </a:lnTo>
                  <a:lnTo>
                    <a:pt x="709143" y="10726"/>
                  </a:lnTo>
                  <a:lnTo>
                    <a:pt x="719756" y="252"/>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928" name="Google Shape;928;p49"/>
            <p:cNvPicPr preferRelativeResize="0"/>
            <p:nvPr/>
          </p:nvPicPr>
          <p:blipFill rotWithShape="1">
            <a:blip r:embed="rId6">
              <a:alphaModFix/>
            </a:blip>
            <a:srcRect/>
            <a:stretch/>
          </p:blipFill>
          <p:spPr>
            <a:xfrm>
              <a:off x="3934717" y="2353681"/>
              <a:ext cx="210368" cy="174371"/>
            </a:xfrm>
            <a:prstGeom prst="rect">
              <a:avLst/>
            </a:prstGeom>
            <a:noFill/>
            <a:ln>
              <a:noFill/>
            </a:ln>
          </p:spPr>
        </p:pic>
      </p:grpSp>
      <p:sp>
        <p:nvSpPr>
          <p:cNvPr id="929" name="Google Shape;929;p49"/>
          <p:cNvSpPr txBox="1"/>
          <p:nvPr/>
        </p:nvSpPr>
        <p:spPr>
          <a:xfrm>
            <a:off x="3247063" y="1978747"/>
            <a:ext cx="1426210" cy="814705"/>
          </a:xfrm>
          <a:prstGeom prst="rect">
            <a:avLst/>
          </a:prstGeom>
          <a:noFill/>
          <a:ln>
            <a:noFill/>
          </a:ln>
        </p:spPr>
        <p:txBody>
          <a:bodyPr spcFirstLastPara="1" wrap="square" lIns="0" tIns="16500" rIns="0" bIns="0" anchor="t" anchorCtr="0">
            <a:spAutoFit/>
          </a:bodyPr>
          <a:lstStyle/>
          <a:p>
            <a:pPr marL="358775" lvl="0" indent="0" algn="l" rtl="0">
              <a:lnSpc>
                <a:spcPct val="100000"/>
              </a:lnSpc>
              <a:spcBef>
                <a:spcPts val="0"/>
              </a:spcBef>
              <a:spcAft>
                <a:spcPts val="0"/>
              </a:spcAft>
              <a:buNone/>
            </a:pPr>
            <a:r>
              <a:rPr lang="en-US" sz="950" b="1">
                <a:solidFill>
                  <a:srgbClr val="1B1472"/>
                </a:solidFill>
                <a:latin typeface="Arial"/>
                <a:ea typeface="Arial"/>
                <a:cs typeface="Arial"/>
                <a:sym typeface="Arial"/>
              </a:rPr>
              <a:t>3. Objective</a:t>
            </a:r>
            <a:endParaRPr sz="950">
              <a:latin typeface="Arial"/>
              <a:ea typeface="Arial"/>
              <a:cs typeface="Arial"/>
              <a:sym typeface="Arial"/>
            </a:endParaRPr>
          </a:p>
          <a:p>
            <a:pPr marL="826135" lvl="0" indent="0" algn="l" rtl="0">
              <a:lnSpc>
                <a:spcPct val="100000"/>
              </a:lnSpc>
              <a:spcBef>
                <a:spcPts val="844"/>
              </a:spcBef>
              <a:spcAft>
                <a:spcPts val="0"/>
              </a:spcAft>
              <a:buNone/>
            </a:pPr>
            <a:r>
              <a:rPr lang="en-US" sz="500">
                <a:solidFill>
                  <a:srgbClr val="FF0000"/>
                </a:solidFill>
                <a:latin typeface="Arial"/>
                <a:ea typeface="Arial"/>
                <a:cs typeface="Arial"/>
                <a:sym typeface="Arial"/>
              </a:rPr>
              <a:t>minimum</a:t>
            </a:r>
            <a:endParaRPr sz="500">
              <a:latin typeface="Arial"/>
              <a:ea typeface="Arial"/>
              <a:cs typeface="Arial"/>
              <a:sym typeface="Arial"/>
            </a:endParaRPr>
          </a:p>
          <a:p>
            <a:pPr marL="0" lvl="0" indent="0" algn="l" rtl="0">
              <a:lnSpc>
                <a:spcPct val="100000"/>
              </a:lnSpc>
              <a:spcBef>
                <a:spcPts val="0"/>
              </a:spcBef>
              <a:spcAft>
                <a:spcPts val="0"/>
              </a:spcAft>
              <a:buNone/>
            </a:pPr>
            <a:endParaRPr sz="500">
              <a:latin typeface="Arial"/>
              <a:ea typeface="Arial"/>
              <a:cs typeface="Arial"/>
              <a:sym typeface="Arial"/>
            </a:endParaRPr>
          </a:p>
          <a:p>
            <a:pPr marL="0" lvl="0" indent="0" algn="l" rtl="0">
              <a:lnSpc>
                <a:spcPct val="100000"/>
              </a:lnSpc>
              <a:spcBef>
                <a:spcPts val="270"/>
              </a:spcBef>
              <a:spcAft>
                <a:spcPts val="0"/>
              </a:spcAft>
              <a:buNone/>
            </a:pPr>
            <a:endParaRPr sz="500">
              <a:latin typeface="Arial"/>
              <a:ea typeface="Arial"/>
              <a:cs typeface="Arial"/>
              <a:sym typeface="Arial"/>
            </a:endParaRPr>
          </a:p>
          <a:p>
            <a:pPr marL="0" lvl="0" indent="0" algn="ctr" rtl="0">
              <a:lnSpc>
                <a:spcPct val="100000"/>
              </a:lnSpc>
              <a:spcBef>
                <a:spcPts val="0"/>
              </a:spcBef>
              <a:spcAft>
                <a:spcPts val="0"/>
              </a:spcAft>
              <a:buNone/>
            </a:pPr>
            <a:r>
              <a:rPr lang="en-US" sz="700" i="1">
                <a:latin typeface="Arial"/>
                <a:ea typeface="Arial"/>
                <a:cs typeface="Arial"/>
                <a:sym typeface="Arial"/>
              </a:rPr>
              <a:t>J</a:t>
            </a:r>
            <a:r>
              <a:rPr lang="en-US" sz="800">
                <a:latin typeface="Tahoma"/>
                <a:ea typeface="Tahoma"/>
                <a:cs typeface="Tahoma"/>
                <a:sym typeface="Tahoma"/>
              </a:rPr>
              <a:t>(</a:t>
            </a:r>
            <a:r>
              <a:rPr lang="en-US" sz="700" b="1">
                <a:latin typeface="Arial"/>
                <a:ea typeface="Arial"/>
                <a:cs typeface="Arial"/>
                <a:sym typeface="Arial"/>
              </a:rPr>
              <a:t>w</a:t>
            </a:r>
            <a:r>
              <a:rPr lang="en-US" sz="800">
                <a:latin typeface="Tahoma"/>
                <a:ea typeface="Tahoma"/>
                <a:cs typeface="Tahoma"/>
                <a:sym typeface="Tahoma"/>
              </a:rPr>
              <a:t>)</a:t>
            </a:r>
            <a:endParaRPr sz="800">
              <a:latin typeface="Tahoma"/>
              <a:ea typeface="Tahoma"/>
              <a:cs typeface="Tahoma"/>
              <a:sym typeface="Tahoma"/>
            </a:endParaRPr>
          </a:p>
          <a:p>
            <a:pPr marL="0" lvl="0" indent="0" algn="ctr" rtl="0">
              <a:lnSpc>
                <a:spcPct val="100000"/>
              </a:lnSpc>
              <a:spcBef>
                <a:spcPts val="370"/>
              </a:spcBef>
              <a:spcAft>
                <a:spcPts val="0"/>
              </a:spcAft>
              <a:buNone/>
            </a:pPr>
            <a:r>
              <a:rPr lang="en-US" sz="700">
                <a:latin typeface="Arial"/>
                <a:ea typeface="Arial"/>
                <a:cs typeface="Arial"/>
                <a:sym typeface="Arial"/>
              </a:rPr>
              <a:t>MSE Loss Function</a:t>
            </a:r>
            <a:endParaRPr sz="700">
              <a:latin typeface="Arial"/>
              <a:ea typeface="Arial"/>
              <a:cs typeface="Arial"/>
              <a:sym typeface="Arial"/>
            </a:endParaRPr>
          </a:p>
        </p:txBody>
      </p:sp>
      <p:grpSp>
        <p:nvGrpSpPr>
          <p:cNvPr id="930" name="Google Shape;930;p49"/>
          <p:cNvGrpSpPr/>
          <p:nvPr/>
        </p:nvGrpSpPr>
        <p:grpSpPr>
          <a:xfrm>
            <a:off x="1246349" y="2302389"/>
            <a:ext cx="1150616" cy="401320"/>
            <a:chOff x="1246349" y="2302389"/>
            <a:chExt cx="1150616" cy="401320"/>
          </a:xfrm>
        </p:grpSpPr>
        <p:sp>
          <p:nvSpPr>
            <p:cNvPr id="931" name="Google Shape;931;p49"/>
            <p:cNvSpPr/>
            <p:nvPr/>
          </p:nvSpPr>
          <p:spPr>
            <a:xfrm>
              <a:off x="1246349" y="2345107"/>
              <a:ext cx="315595" cy="315595"/>
            </a:xfrm>
            <a:custGeom>
              <a:avLst/>
              <a:gdLst/>
              <a:ahLst/>
              <a:cxnLst/>
              <a:rect l="l" t="t" r="r" b="b"/>
              <a:pathLst>
                <a:path w="315594" h="315594" extrusionOk="0">
                  <a:moveTo>
                    <a:pt x="157639" y="0"/>
                  </a:moveTo>
                  <a:lnTo>
                    <a:pt x="107813" y="8036"/>
                  </a:lnTo>
                  <a:lnTo>
                    <a:pt x="64539" y="30415"/>
                  </a:lnTo>
                  <a:lnTo>
                    <a:pt x="30415" y="64539"/>
                  </a:lnTo>
                  <a:lnTo>
                    <a:pt x="8036" y="107813"/>
                  </a:lnTo>
                  <a:lnTo>
                    <a:pt x="0" y="157640"/>
                  </a:lnTo>
                  <a:lnTo>
                    <a:pt x="8036" y="207466"/>
                  </a:lnTo>
                  <a:lnTo>
                    <a:pt x="30415" y="250740"/>
                  </a:lnTo>
                  <a:lnTo>
                    <a:pt x="64539" y="284864"/>
                  </a:lnTo>
                  <a:lnTo>
                    <a:pt x="107813" y="307243"/>
                  </a:lnTo>
                  <a:lnTo>
                    <a:pt x="157639" y="315280"/>
                  </a:lnTo>
                  <a:lnTo>
                    <a:pt x="207466" y="307243"/>
                  </a:lnTo>
                  <a:lnTo>
                    <a:pt x="250740" y="284864"/>
                  </a:lnTo>
                  <a:lnTo>
                    <a:pt x="284864" y="250740"/>
                  </a:lnTo>
                  <a:lnTo>
                    <a:pt x="307243" y="207466"/>
                  </a:lnTo>
                  <a:lnTo>
                    <a:pt x="315279" y="157640"/>
                  </a:lnTo>
                  <a:lnTo>
                    <a:pt x="307243" y="107813"/>
                  </a:lnTo>
                  <a:lnTo>
                    <a:pt x="284864" y="64539"/>
                  </a:lnTo>
                  <a:lnTo>
                    <a:pt x="250740" y="30415"/>
                  </a:lnTo>
                  <a:lnTo>
                    <a:pt x="207466" y="8036"/>
                  </a:lnTo>
                  <a:lnTo>
                    <a:pt x="157639" y="0"/>
                  </a:lnTo>
                  <a:close/>
                </a:path>
              </a:pathLst>
            </a:custGeom>
            <a:solidFill>
              <a:srgbClr val="CCC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2" name="Google Shape;932;p49"/>
            <p:cNvSpPr/>
            <p:nvPr/>
          </p:nvSpPr>
          <p:spPr>
            <a:xfrm>
              <a:off x="1246349" y="2345107"/>
              <a:ext cx="315595" cy="315595"/>
            </a:xfrm>
            <a:custGeom>
              <a:avLst/>
              <a:gdLst/>
              <a:ahLst/>
              <a:cxnLst/>
              <a:rect l="l" t="t" r="r" b="b"/>
              <a:pathLst>
                <a:path w="315594" h="315594" extrusionOk="0">
                  <a:moveTo>
                    <a:pt x="315279" y="157640"/>
                  </a:moveTo>
                  <a:lnTo>
                    <a:pt x="307243" y="107813"/>
                  </a:lnTo>
                  <a:lnTo>
                    <a:pt x="284864" y="64539"/>
                  </a:lnTo>
                  <a:lnTo>
                    <a:pt x="250740" y="30415"/>
                  </a:lnTo>
                  <a:lnTo>
                    <a:pt x="207466" y="8036"/>
                  </a:lnTo>
                  <a:lnTo>
                    <a:pt x="157639" y="0"/>
                  </a:lnTo>
                  <a:lnTo>
                    <a:pt x="107813" y="8036"/>
                  </a:lnTo>
                  <a:lnTo>
                    <a:pt x="64539" y="30415"/>
                  </a:lnTo>
                  <a:lnTo>
                    <a:pt x="30415" y="64539"/>
                  </a:lnTo>
                  <a:lnTo>
                    <a:pt x="8036" y="107813"/>
                  </a:lnTo>
                  <a:lnTo>
                    <a:pt x="0" y="157640"/>
                  </a:lnTo>
                  <a:lnTo>
                    <a:pt x="8036" y="207466"/>
                  </a:lnTo>
                  <a:lnTo>
                    <a:pt x="30415" y="250740"/>
                  </a:lnTo>
                  <a:lnTo>
                    <a:pt x="64539" y="284864"/>
                  </a:lnTo>
                  <a:lnTo>
                    <a:pt x="107813" y="307243"/>
                  </a:lnTo>
                  <a:lnTo>
                    <a:pt x="157639" y="315280"/>
                  </a:lnTo>
                  <a:lnTo>
                    <a:pt x="207466" y="307243"/>
                  </a:lnTo>
                  <a:lnTo>
                    <a:pt x="250740" y="284864"/>
                  </a:lnTo>
                  <a:lnTo>
                    <a:pt x="284864" y="250740"/>
                  </a:lnTo>
                  <a:lnTo>
                    <a:pt x="307243" y="207466"/>
                  </a:lnTo>
                  <a:lnTo>
                    <a:pt x="315279" y="157640"/>
                  </a:lnTo>
                  <a:close/>
                </a:path>
              </a:pathLst>
            </a:custGeom>
            <a:noFill/>
            <a:ln w="952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3" name="Google Shape;933;p49"/>
            <p:cNvSpPr/>
            <p:nvPr/>
          </p:nvSpPr>
          <p:spPr>
            <a:xfrm>
              <a:off x="1995645" y="2302389"/>
              <a:ext cx="401320" cy="401320"/>
            </a:xfrm>
            <a:custGeom>
              <a:avLst/>
              <a:gdLst/>
              <a:ahLst/>
              <a:cxnLst/>
              <a:rect l="l" t="t" r="r" b="b"/>
              <a:pathLst>
                <a:path w="401319" h="401319" extrusionOk="0">
                  <a:moveTo>
                    <a:pt x="200358" y="0"/>
                  </a:moveTo>
                  <a:lnTo>
                    <a:pt x="154417" y="5291"/>
                  </a:lnTo>
                  <a:lnTo>
                    <a:pt x="112245" y="20364"/>
                  </a:lnTo>
                  <a:lnTo>
                    <a:pt x="75043" y="44016"/>
                  </a:lnTo>
                  <a:lnTo>
                    <a:pt x="44016" y="75043"/>
                  </a:lnTo>
                  <a:lnTo>
                    <a:pt x="20364" y="112245"/>
                  </a:lnTo>
                  <a:lnTo>
                    <a:pt x="5291" y="154417"/>
                  </a:lnTo>
                  <a:lnTo>
                    <a:pt x="0" y="200358"/>
                  </a:lnTo>
                  <a:lnTo>
                    <a:pt x="5291" y="246299"/>
                  </a:lnTo>
                  <a:lnTo>
                    <a:pt x="20364" y="288471"/>
                  </a:lnTo>
                  <a:lnTo>
                    <a:pt x="44016" y="325672"/>
                  </a:lnTo>
                  <a:lnTo>
                    <a:pt x="75043" y="356700"/>
                  </a:lnTo>
                  <a:lnTo>
                    <a:pt x="112245" y="380352"/>
                  </a:lnTo>
                  <a:lnTo>
                    <a:pt x="154417" y="395424"/>
                  </a:lnTo>
                  <a:lnTo>
                    <a:pt x="200358" y="400716"/>
                  </a:lnTo>
                  <a:lnTo>
                    <a:pt x="246299" y="395424"/>
                  </a:lnTo>
                  <a:lnTo>
                    <a:pt x="288471" y="380352"/>
                  </a:lnTo>
                  <a:lnTo>
                    <a:pt x="325672" y="356700"/>
                  </a:lnTo>
                  <a:lnTo>
                    <a:pt x="356700" y="325672"/>
                  </a:lnTo>
                  <a:lnTo>
                    <a:pt x="380352" y="288471"/>
                  </a:lnTo>
                  <a:lnTo>
                    <a:pt x="395425" y="246299"/>
                  </a:lnTo>
                  <a:lnTo>
                    <a:pt x="400716" y="200358"/>
                  </a:lnTo>
                  <a:lnTo>
                    <a:pt x="395425" y="154417"/>
                  </a:lnTo>
                  <a:lnTo>
                    <a:pt x="380352" y="112245"/>
                  </a:lnTo>
                  <a:lnTo>
                    <a:pt x="356700" y="75043"/>
                  </a:lnTo>
                  <a:lnTo>
                    <a:pt x="325672" y="44016"/>
                  </a:lnTo>
                  <a:lnTo>
                    <a:pt x="288471" y="20364"/>
                  </a:lnTo>
                  <a:lnTo>
                    <a:pt x="246299" y="5291"/>
                  </a:lnTo>
                  <a:lnTo>
                    <a:pt x="200358" y="0"/>
                  </a:lnTo>
                  <a:close/>
                </a:path>
              </a:pathLst>
            </a:custGeom>
            <a:solidFill>
              <a:srgbClr val="99FF99"/>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4" name="Google Shape;934;p49"/>
            <p:cNvSpPr/>
            <p:nvPr/>
          </p:nvSpPr>
          <p:spPr>
            <a:xfrm>
              <a:off x="1995645" y="2302389"/>
              <a:ext cx="401320" cy="401320"/>
            </a:xfrm>
            <a:custGeom>
              <a:avLst/>
              <a:gdLst/>
              <a:ahLst/>
              <a:cxnLst/>
              <a:rect l="l" t="t" r="r" b="b"/>
              <a:pathLst>
                <a:path w="401319" h="401319" extrusionOk="0">
                  <a:moveTo>
                    <a:pt x="400716" y="200358"/>
                  </a:moveTo>
                  <a:lnTo>
                    <a:pt x="395425" y="154417"/>
                  </a:lnTo>
                  <a:lnTo>
                    <a:pt x="380352" y="112245"/>
                  </a:lnTo>
                  <a:lnTo>
                    <a:pt x="356700" y="75043"/>
                  </a:lnTo>
                  <a:lnTo>
                    <a:pt x="325672" y="44016"/>
                  </a:lnTo>
                  <a:lnTo>
                    <a:pt x="288471" y="20364"/>
                  </a:lnTo>
                  <a:lnTo>
                    <a:pt x="246299" y="5291"/>
                  </a:lnTo>
                  <a:lnTo>
                    <a:pt x="200358" y="0"/>
                  </a:lnTo>
                  <a:lnTo>
                    <a:pt x="154417" y="5291"/>
                  </a:lnTo>
                  <a:lnTo>
                    <a:pt x="112245" y="20364"/>
                  </a:lnTo>
                  <a:lnTo>
                    <a:pt x="75043" y="44016"/>
                  </a:lnTo>
                  <a:lnTo>
                    <a:pt x="44016" y="75043"/>
                  </a:lnTo>
                  <a:lnTo>
                    <a:pt x="20364" y="112245"/>
                  </a:lnTo>
                  <a:lnTo>
                    <a:pt x="5291" y="154417"/>
                  </a:lnTo>
                  <a:lnTo>
                    <a:pt x="0" y="200358"/>
                  </a:lnTo>
                  <a:lnTo>
                    <a:pt x="5291" y="246299"/>
                  </a:lnTo>
                  <a:lnTo>
                    <a:pt x="20364" y="288471"/>
                  </a:lnTo>
                  <a:lnTo>
                    <a:pt x="44016" y="325672"/>
                  </a:lnTo>
                  <a:lnTo>
                    <a:pt x="75043" y="356700"/>
                  </a:lnTo>
                  <a:lnTo>
                    <a:pt x="112245" y="380352"/>
                  </a:lnTo>
                  <a:lnTo>
                    <a:pt x="154417" y="395424"/>
                  </a:lnTo>
                  <a:lnTo>
                    <a:pt x="200358" y="400716"/>
                  </a:lnTo>
                  <a:lnTo>
                    <a:pt x="246299" y="395424"/>
                  </a:lnTo>
                  <a:lnTo>
                    <a:pt x="288471" y="380352"/>
                  </a:lnTo>
                  <a:lnTo>
                    <a:pt x="325672" y="356700"/>
                  </a:lnTo>
                  <a:lnTo>
                    <a:pt x="356700" y="325672"/>
                  </a:lnTo>
                  <a:lnTo>
                    <a:pt x="380352" y="288471"/>
                  </a:lnTo>
                  <a:lnTo>
                    <a:pt x="395425" y="246299"/>
                  </a:lnTo>
                  <a:lnTo>
                    <a:pt x="400716" y="200358"/>
                  </a:lnTo>
                  <a:close/>
                </a:path>
              </a:pathLst>
            </a:custGeom>
            <a:noFill/>
            <a:ln w="9525" cap="flat" cmpd="sng">
              <a:solidFill>
                <a:srgbClr val="33FF3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5" name="Google Shape;935;p49"/>
            <p:cNvSpPr/>
            <p:nvPr/>
          </p:nvSpPr>
          <p:spPr>
            <a:xfrm>
              <a:off x="1564159" y="2502747"/>
              <a:ext cx="414020" cy="0"/>
            </a:xfrm>
            <a:custGeom>
              <a:avLst/>
              <a:gdLst/>
              <a:ahLst/>
              <a:cxnLst/>
              <a:rect l="l" t="t" r="r" b="b"/>
              <a:pathLst>
                <a:path w="414019" h="120000" extrusionOk="0">
                  <a:moveTo>
                    <a:pt x="0" y="0"/>
                  </a:moveTo>
                  <a:lnTo>
                    <a:pt x="413771" y="0"/>
                  </a:lnTo>
                </a:path>
              </a:pathLst>
            </a:custGeom>
            <a:noFill/>
            <a:ln w="15175" cap="flat" cmpd="sng">
              <a:solidFill>
                <a:srgbClr val="FF4C4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6" name="Google Shape;936;p49"/>
            <p:cNvSpPr/>
            <p:nvPr/>
          </p:nvSpPr>
          <p:spPr>
            <a:xfrm>
              <a:off x="1947059" y="2454096"/>
              <a:ext cx="38735" cy="97790"/>
            </a:xfrm>
            <a:custGeom>
              <a:avLst/>
              <a:gdLst/>
              <a:ahLst/>
              <a:cxnLst/>
              <a:rect l="l" t="t" r="r" b="b"/>
              <a:pathLst>
                <a:path w="38735" h="97789" extrusionOk="0">
                  <a:moveTo>
                    <a:pt x="0" y="0"/>
                  </a:moveTo>
                  <a:lnTo>
                    <a:pt x="6755" y="19118"/>
                  </a:lnTo>
                  <a:lnTo>
                    <a:pt x="15950" y="33143"/>
                  </a:lnTo>
                  <a:lnTo>
                    <a:pt x="26786" y="42760"/>
                  </a:lnTo>
                  <a:lnTo>
                    <a:pt x="38464" y="48651"/>
                  </a:lnTo>
                  <a:lnTo>
                    <a:pt x="26786" y="54542"/>
                  </a:lnTo>
                  <a:lnTo>
                    <a:pt x="15950" y="64158"/>
                  </a:lnTo>
                  <a:lnTo>
                    <a:pt x="6755" y="78183"/>
                  </a:lnTo>
                  <a:lnTo>
                    <a:pt x="0" y="97302"/>
                  </a:lnTo>
                </a:path>
              </a:pathLst>
            </a:custGeom>
            <a:noFill/>
            <a:ln w="15175" cap="flat" cmpd="sng">
              <a:solidFill>
                <a:srgbClr val="FF4C4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37" name="Google Shape;937;p49"/>
          <p:cNvSpPr txBox="1"/>
          <p:nvPr/>
        </p:nvSpPr>
        <p:spPr>
          <a:xfrm>
            <a:off x="1061636" y="1977325"/>
            <a:ext cx="1477010" cy="567055"/>
          </a:xfrm>
          <a:prstGeom prst="rect">
            <a:avLst/>
          </a:prstGeom>
          <a:noFill/>
          <a:ln>
            <a:noFill/>
          </a:ln>
        </p:spPr>
        <p:txBody>
          <a:bodyPr spcFirstLastPara="1" wrap="square" lIns="0" tIns="16500" rIns="0" bIns="0" anchor="t" anchorCtr="0">
            <a:spAutoFit/>
          </a:bodyPr>
          <a:lstStyle/>
          <a:p>
            <a:pPr marL="401320" lvl="0" indent="0" algn="l" rtl="0">
              <a:lnSpc>
                <a:spcPct val="100000"/>
              </a:lnSpc>
              <a:spcBef>
                <a:spcPts val="0"/>
              </a:spcBef>
              <a:spcAft>
                <a:spcPts val="0"/>
              </a:spcAft>
              <a:buNone/>
            </a:pPr>
            <a:r>
              <a:rPr lang="en-US" sz="950" b="1">
                <a:solidFill>
                  <a:srgbClr val="1B1472"/>
                </a:solidFill>
                <a:latin typeface="Arial"/>
                <a:ea typeface="Arial"/>
                <a:cs typeface="Arial"/>
                <a:sym typeface="Arial"/>
              </a:rPr>
              <a:t>4. Learning</a:t>
            </a:r>
            <a:endParaRPr sz="950">
              <a:latin typeface="Arial"/>
              <a:ea typeface="Arial"/>
              <a:cs typeface="Arial"/>
              <a:sym typeface="Arial"/>
            </a:endParaRPr>
          </a:p>
          <a:p>
            <a:pPr marL="0" lvl="0" indent="0" algn="l" rtl="0">
              <a:lnSpc>
                <a:spcPct val="100000"/>
              </a:lnSpc>
              <a:spcBef>
                <a:spcPts val="400"/>
              </a:spcBef>
              <a:spcAft>
                <a:spcPts val="0"/>
              </a:spcAft>
              <a:buNone/>
            </a:pPr>
            <a:endParaRPr sz="950">
              <a:latin typeface="Arial"/>
              <a:ea typeface="Arial"/>
              <a:cs typeface="Arial"/>
              <a:sym typeface="Arial"/>
            </a:endParaRPr>
          </a:p>
          <a:p>
            <a:pPr marL="0" marR="41910" lvl="0" indent="0" algn="ctr" rtl="0">
              <a:lnSpc>
                <a:spcPct val="107500"/>
              </a:lnSpc>
              <a:spcBef>
                <a:spcPts val="0"/>
              </a:spcBef>
              <a:spcAft>
                <a:spcPts val="0"/>
              </a:spcAft>
              <a:buNone/>
            </a:pPr>
            <a:r>
              <a:rPr lang="en-US" sz="800">
                <a:solidFill>
                  <a:srgbClr val="FF4C4C"/>
                </a:solidFill>
                <a:latin typeface="Lucida Sans"/>
                <a:ea typeface="Lucida Sans"/>
                <a:cs typeface="Lucida Sans"/>
                <a:sym typeface="Lucida Sans"/>
              </a:rPr>
              <a:t>—</a:t>
            </a:r>
            <a:r>
              <a:rPr lang="en-US" sz="800" i="1">
                <a:solidFill>
                  <a:srgbClr val="FF4C4C"/>
                </a:solidFill>
                <a:latin typeface="Verdana"/>
                <a:ea typeface="Verdana"/>
                <a:cs typeface="Verdana"/>
                <a:sym typeface="Verdana"/>
              </a:rPr>
              <a:t>η</a:t>
            </a:r>
            <a:r>
              <a:rPr lang="en-US" sz="800">
                <a:solidFill>
                  <a:srgbClr val="FF4C4C"/>
                </a:solidFill>
                <a:latin typeface="Lucida Sans"/>
                <a:ea typeface="Lucida Sans"/>
                <a:cs typeface="Lucida Sans"/>
                <a:sym typeface="Lucida Sans"/>
              </a:rPr>
              <a:t>∇</a:t>
            </a:r>
            <a:r>
              <a:rPr lang="en-US" sz="700" i="1">
                <a:solidFill>
                  <a:srgbClr val="FF4C4C"/>
                </a:solidFill>
                <a:latin typeface="Arial"/>
                <a:ea typeface="Arial"/>
                <a:cs typeface="Arial"/>
                <a:sym typeface="Arial"/>
              </a:rPr>
              <a:t>J</a:t>
            </a:r>
            <a:endParaRPr sz="700">
              <a:latin typeface="Arial"/>
              <a:ea typeface="Arial"/>
              <a:cs typeface="Arial"/>
              <a:sym typeface="Arial"/>
            </a:endParaRPr>
          </a:p>
          <a:p>
            <a:pPr marL="259715" lvl="0" indent="0" algn="l" rtl="0">
              <a:lnSpc>
                <a:spcPct val="70476"/>
              </a:lnSpc>
              <a:spcBef>
                <a:spcPts val="0"/>
              </a:spcBef>
              <a:spcAft>
                <a:spcPts val="0"/>
              </a:spcAft>
              <a:buNone/>
            </a:pPr>
            <a:r>
              <a:rPr lang="en-US" sz="1050" b="1" baseline="-25000">
                <a:latin typeface="Arial"/>
                <a:ea typeface="Arial"/>
                <a:cs typeface="Arial"/>
                <a:sym typeface="Arial"/>
              </a:rPr>
              <a:t>w</a:t>
            </a:r>
            <a:r>
              <a:rPr lang="en-US" sz="600">
                <a:latin typeface="Tahoma"/>
                <a:ea typeface="Tahoma"/>
                <a:cs typeface="Tahoma"/>
                <a:sym typeface="Tahoma"/>
              </a:rPr>
              <a:t>(</a:t>
            </a:r>
            <a:r>
              <a:rPr lang="en-US" sz="500" i="1">
                <a:latin typeface="Arial"/>
                <a:ea typeface="Arial"/>
                <a:cs typeface="Arial"/>
                <a:sym typeface="Arial"/>
              </a:rPr>
              <a:t>t </a:t>
            </a:r>
            <a:r>
              <a:rPr lang="en-US" sz="600">
                <a:latin typeface="Tahoma"/>
                <a:ea typeface="Tahoma"/>
                <a:cs typeface="Tahoma"/>
                <a:sym typeface="Tahoma"/>
              </a:rPr>
              <a:t>)	</a:t>
            </a:r>
            <a:r>
              <a:rPr lang="en-US" sz="1050" b="1" baseline="-25000">
                <a:latin typeface="Arial"/>
                <a:ea typeface="Arial"/>
                <a:cs typeface="Arial"/>
                <a:sym typeface="Arial"/>
              </a:rPr>
              <a:t>w</a:t>
            </a:r>
            <a:r>
              <a:rPr lang="en-US" sz="600">
                <a:latin typeface="Tahoma"/>
                <a:ea typeface="Tahoma"/>
                <a:cs typeface="Tahoma"/>
                <a:sym typeface="Tahoma"/>
              </a:rPr>
              <a:t>(</a:t>
            </a:r>
            <a:r>
              <a:rPr lang="en-US" sz="500" i="1">
                <a:latin typeface="Arial"/>
                <a:ea typeface="Arial"/>
                <a:cs typeface="Arial"/>
                <a:sym typeface="Arial"/>
              </a:rPr>
              <a:t>t </a:t>
            </a:r>
            <a:r>
              <a:rPr lang="en-US" sz="600">
                <a:latin typeface="Tahoma"/>
                <a:ea typeface="Tahoma"/>
                <a:cs typeface="Tahoma"/>
                <a:sym typeface="Tahoma"/>
              </a:rPr>
              <a:t>+</a:t>
            </a:r>
            <a:r>
              <a:rPr lang="en-US" sz="500">
                <a:latin typeface="Arial"/>
                <a:ea typeface="Arial"/>
                <a:cs typeface="Arial"/>
                <a:sym typeface="Arial"/>
              </a:rPr>
              <a:t>1</a:t>
            </a:r>
            <a:r>
              <a:rPr lang="en-US" sz="600">
                <a:latin typeface="Tahoma"/>
                <a:ea typeface="Tahoma"/>
                <a:cs typeface="Tahoma"/>
                <a:sym typeface="Tahoma"/>
              </a:rPr>
              <a:t>)</a:t>
            </a:r>
            <a:endParaRPr sz="600">
              <a:latin typeface="Tahoma"/>
              <a:ea typeface="Tahoma"/>
              <a:cs typeface="Tahoma"/>
              <a:sym typeface="Tahoma"/>
            </a:endParaRPr>
          </a:p>
        </p:txBody>
      </p:sp>
      <p:grpSp>
        <p:nvGrpSpPr>
          <p:cNvPr id="938" name="Google Shape;938;p49"/>
          <p:cNvGrpSpPr/>
          <p:nvPr/>
        </p:nvGrpSpPr>
        <p:grpSpPr>
          <a:xfrm>
            <a:off x="2525066" y="922336"/>
            <a:ext cx="710510" cy="65405"/>
            <a:chOff x="2525066" y="922336"/>
            <a:chExt cx="710510" cy="65405"/>
          </a:xfrm>
        </p:grpSpPr>
        <p:sp>
          <p:nvSpPr>
            <p:cNvPr id="939" name="Google Shape;939;p49"/>
            <p:cNvSpPr/>
            <p:nvPr/>
          </p:nvSpPr>
          <p:spPr>
            <a:xfrm>
              <a:off x="2525066" y="954727"/>
              <a:ext cx="669925" cy="0"/>
            </a:xfrm>
            <a:custGeom>
              <a:avLst/>
              <a:gdLst/>
              <a:ahLst/>
              <a:cxnLst/>
              <a:rect l="l" t="t" r="r" b="b"/>
              <a:pathLst>
                <a:path w="669925" h="120000" extrusionOk="0">
                  <a:moveTo>
                    <a:pt x="0" y="0"/>
                  </a:moveTo>
                  <a:lnTo>
                    <a:pt x="669397"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0" name="Google Shape;940;p49"/>
            <p:cNvSpPr/>
            <p:nvPr/>
          </p:nvSpPr>
          <p:spPr>
            <a:xfrm>
              <a:off x="3170171" y="922336"/>
              <a:ext cx="65405" cy="65405"/>
            </a:xfrm>
            <a:custGeom>
              <a:avLst/>
              <a:gdLst/>
              <a:ahLst/>
              <a:cxnLst/>
              <a:rect l="l" t="t" r="r" b="b"/>
              <a:pathLst>
                <a:path w="65405" h="65405" extrusionOk="0">
                  <a:moveTo>
                    <a:pt x="0" y="0"/>
                  </a:moveTo>
                  <a:lnTo>
                    <a:pt x="24293" y="32390"/>
                  </a:lnTo>
                  <a:lnTo>
                    <a:pt x="0" y="64781"/>
                  </a:lnTo>
                  <a:lnTo>
                    <a:pt x="64781" y="32390"/>
                  </a:lnTo>
                  <a:lnTo>
                    <a:pt x="0"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1" name="Google Shape;941;p49"/>
          <p:cNvSpPr txBox="1"/>
          <p:nvPr/>
        </p:nvSpPr>
        <p:spPr>
          <a:xfrm>
            <a:off x="2717495" y="796301"/>
            <a:ext cx="32512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forward</a:t>
            </a:r>
            <a:endParaRPr sz="700">
              <a:latin typeface="Arial"/>
              <a:ea typeface="Arial"/>
              <a:cs typeface="Arial"/>
              <a:sym typeface="Arial"/>
            </a:endParaRPr>
          </a:p>
        </p:txBody>
      </p:sp>
      <p:grpSp>
        <p:nvGrpSpPr>
          <p:cNvPr id="942" name="Google Shape;942;p49"/>
          <p:cNvGrpSpPr/>
          <p:nvPr/>
        </p:nvGrpSpPr>
        <p:grpSpPr>
          <a:xfrm>
            <a:off x="3927632" y="1409794"/>
            <a:ext cx="65405" cy="530507"/>
            <a:chOff x="3927632" y="1409794"/>
            <a:chExt cx="65405" cy="530507"/>
          </a:xfrm>
        </p:grpSpPr>
        <p:sp>
          <p:nvSpPr>
            <p:cNvPr id="943" name="Google Shape;943;p49"/>
            <p:cNvSpPr/>
            <p:nvPr/>
          </p:nvSpPr>
          <p:spPr>
            <a:xfrm>
              <a:off x="3960023" y="1409794"/>
              <a:ext cx="0" cy="489584"/>
            </a:xfrm>
            <a:custGeom>
              <a:avLst/>
              <a:gdLst/>
              <a:ahLst/>
              <a:cxnLst/>
              <a:rect l="l" t="t" r="r" b="b"/>
              <a:pathLst>
                <a:path w="120000" h="489585" extrusionOk="0">
                  <a:moveTo>
                    <a:pt x="0" y="0"/>
                  </a:moveTo>
                  <a:lnTo>
                    <a:pt x="0" y="489395"/>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4" name="Google Shape;944;p49"/>
            <p:cNvSpPr/>
            <p:nvPr/>
          </p:nvSpPr>
          <p:spPr>
            <a:xfrm>
              <a:off x="3927632" y="1874896"/>
              <a:ext cx="65405" cy="65405"/>
            </a:xfrm>
            <a:custGeom>
              <a:avLst/>
              <a:gdLst/>
              <a:ahLst/>
              <a:cxnLst/>
              <a:rect l="l" t="t" r="r" b="b"/>
              <a:pathLst>
                <a:path w="65404" h="65405" extrusionOk="0">
                  <a:moveTo>
                    <a:pt x="64781" y="0"/>
                  </a:moveTo>
                  <a:lnTo>
                    <a:pt x="32390" y="24293"/>
                  </a:lnTo>
                  <a:lnTo>
                    <a:pt x="0" y="0"/>
                  </a:lnTo>
                  <a:lnTo>
                    <a:pt x="32390" y="64781"/>
                  </a:lnTo>
                  <a:lnTo>
                    <a:pt x="64781"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5" name="Google Shape;945;p49"/>
          <p:cNvSpPr txBox="1"/>
          <p:nvPr/>
        </p:nvSpPr>
        <p:spPr>
          <a:xfrm>
            <a:off x="4000436" y="1591905"/>
            <a:ext cx="375285"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compute</a:t>
            </a:r>
            <a:endParaRPr sz="700">
              <a:latin typeface="Arial"/>
              <a:ea typeface="Arial"/>
              <a:cs typeface="Arial"/>
              <a:sym typeface="Arial"/>
            </a:endParaRPr>
          </a:p>
        </p:txBody>
      </p:sp>
      <p:grpSp>
        <p:nvGrpSpPr>
          <p:cNvPr id="946" name="Google Shape;946;p49"/>
          <p:cNvGrpSpPr/>
          <p:nvPr/>
        </p:nvGrpSpPr>
        <p:grpSpPr>
          <a:xfrm>
            <a:off x="2525066" y="2362354"/>
            <a:ext cx="710414" cy="65405"/>
            <a:chOff x="2525066" y="2362354"/>
            <a:chExt cx="710414" cy="65405"/>
          </a:xfrm>
        </p:grpSpPr>
        <p:sp>
          <p:nvSpPr>
            <p:cNvPr id="947" name="Google Shape;947;p49"/>
            <p:cNvSpPr/>
            <p:nvPr/>
          </p:nvSpPr>
          <p:spPr>
            <a:xfrm>
              <a:off x="2565555" y="2394745"/>
              <a:ext cx="669925" cy="0"/>
            </a:xfrm>
            <a:custGeom>
              <a:avLst/>
              <a:gdLst/>
              <a:ahLst/>
              <a:cxnLst/>
              <a:rect l="l" t="t" r="r" b="b"/>
              <a:pathLst>
                <a:path w="669925" h="120000" extrusionOk="0">
                  <a:moveTo>
                    <a:pt x="669397" y="0"/>
                  </a:moveTo>
                  <a:lnTo>
                    <a:pt x="0"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8" name="Google Shape;948;p49"/>
            <p:cNvSpPr/>
            <p:nvPr/>
          </p:nvSpPr>
          <p:spPr>
            <a:xfrm>
              <a:off x="2525066" y="2362354"/>
              <a:ext cx="65405" cy="65405"/>
            </a:xfrm>
            <a:custGeom>
              <a:avLst/>
              <a:gdLst/>
              <a:ahLst/>
              <a:cxnLst/>
              <a:rect l="l" t="t" r="r" b="b"/>
              <a:pathLst>
                <a:path w="65405" h="65405" extrusionOk="0">
                  <a:moveTo>
                    <a:pt x="64781" y="64781"/>
                  </a:moveTo>
                  <a:lnTo>
                    <a:pt x="40488" y="32390"/>
                  </a:lnTo>
                  <a:lnTo>
                    <a:pt x="64781" y="0"/>
                  </a:lnTo>
                  <a:lnTo>
                    <a:pt x="0" y="32390"/>
                  </a:lnTo>
                  <a:lnTo>
                    <a:pt x="64781" y="64781"/>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9" name="Google Shape;949;p49"/>
          <p:cNvSpPr txBox="1"/>
          <p:nvPr/>
        </p:nvSpPr>
        <p:spPr>
          <a:xfrm>
            <a:off x="2703639" y="2409887"/>
            <a:ext cx="35306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gradient</a:t>
            </a:r>
            <a:endParaRPr sz="700">
              <a:latin typeface="Arial"/>
              <a:ea typeface="Arial"/>
              <a:cs typeface="Arial"/>
              <a:sym typeface="Arial"/>
            </a:endParaRPr>
          </a:p>
        </p:txBody>
      </p:sp>
      <p:grpSp>
        <p:nvGrpSpPr>
          <p:cNvPr id="950" name="Google Shape;950;p49"/>
          <p:cNvGrpSpPr/>
          <p:nvPr/>
        </p:nvGrpSpPr>
        <p:grpSpPr>
          <a:xfrm>
            <a:off x="1767605" y="1409794"/>
            <a:ext cx="65405" cy="530072"/>
            <a:chOff x="1767605" y="1409794"/>
            <a:chExt cx="65405" cy="530072"/>
          </a:xfrm>
        </p:grpSpPr>
        <p:sp>
          <p:nvSpPr>
            <p:cNvPr id="951" name="Google Shape;951;p49"/>
            <p:cNvSpPr/>
            <p:nvPr/>
          </p:nvSpPr>
          <p:spPr>
            <a:xfrm>
              <a:off x="1799996" y="1450282"/>
              <a:ext cx="0" cy="489584"/>
            </a:xfrm>
            <a:custGeom>
              <a:avLst/>
              <a:gdLst/>
              <a:ahLst/>
              <a:cxnLst/>
              <a:rect l="l" t="t" r="r" b="b"/>
              <a:pathLst>
                <a:path w="120000" h="489585" extrusionOk="0">
                  <a:moveTo>
                    <a:pt x="0" y="489395"/>
                  </a:moveTo>
                  <a:lnTo>
                    <a:pt x="0"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2" name="Google Shape;952;p49"/>
            <p:cNvSpPr/>
            <p:nvPr/>
          </p:nvSpPr>
          <p:spPr>
            <a:xfrm>
              <a:off x="1767605" y="1409794"/>
              <a:ext cx="65405" cy="65405"/>
            </a:xfrm>
            <a:custGeom>
              <a:avLst/>
              <a:gdLst/>
              <a:ahLst/>
              <a:cxnLst/>
              <a:rect l="l" t="t" r="r" b="b"/>
              <a:pathLst>
                <a:path w="65405" h="65405" extrusionOk="0">
                  <a:moveTo>
                    <a:pt x="0" y="64781"/>
                  </a:moveTo>
                  <a:lnTo>
                    <a:pt x="32390" y="40488"/>
                  </a:lnTo>
                  <a:lnTo>
                    <a:pt x="64781" y="64781"/>
                  </a:lnTo>
                  <a:lnTo>
                    <a:pt x="32390" y="0"/>
                  </a:lnTo>
                  <a:lnTo>
                    <a:pt x="0" y="64781"/>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3" name="Google Shape;953;p49"/>
          <p:cNvSpPr txBox="1"/>
          <p:nvPr/>
        </p:nvSpPr>
        <p:spPr>
          <a:xfrm>
            <a:off x="1481924" y="1603094"/>
            <a:ext cx="27813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iterate</a:t>
            </a:r>
            <a:endParaRPr sz="700">
              <a:latin typeface="Arial"/>
              <a:ea typeface="Arial"/>
              <a:cs typeface="Arial"/>
              <a:sym typeface="Arial"/>
            </a:endParaRPr>
          </a:p>
        </p:txBody>
      </p:sp>
      <p:sp>
        <p:nvSpPr>
          <p:cNvPr id="954" name="Google Shape;954;p49"/>
          <p:cNvSpPr txBox="1"/>
          <p:nvPr/>
        </p:nvSpPr>
        <p:spPr>
          <a:xfrm>
            <a:off x="601776" y="2884473"/>
            <a:ext cx="454914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i="1">
                <a:latin typeface="Arial"/>
                <a:ea typeface="Arial"/>
                <a:cs typeface="Arial"/>
                <a:sym typeface="Arial"/>
              </a:rPr>
              <a:t>This framework extends to more complex models: neural networks, deep learning!</a:t>
            </a:r>
            <a:endParaRPr sz="950">
              <a:latin typeface="Arial"/>
              <a:ea typeface="Arial"/>
              <a:cs typeface="Arial"/>
              <a:sym typeface="Arial"/>
            </a:endParaRPr>
          </a:p>
        </p:txBody>
      </p:sp>
      <p:grpSp>
        <p:nvGrpSpPr>
          <p:cNvPr id="955" name="Google Shape;955;p49"/>
          <p:cNvGrpSpPr/>
          <p:nvPr/>
        </p:nvGrpSpPr>
        <p:grpSpPr>
          <a:xfrm>
            <a:off x="0" y="3109250"/>
            <a:ext cx="5760261" cy="92075"/>
            <a:chOff x="0" y="3109250"/>
            <a:chExt cx="5760261" cy="92075"/>
          </a:xfrm>
        </p:grpSpPr>
        <p:sp>
          <p:nvSpPr>
            <p:cNvPr id="956" name="Google Shape;956;p4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7" name="Google Shape;957;p4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8" name="Google Shape;958;p4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9" name="Google Shape;959;p4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60" name="Google Shape;960;p4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961" name="Google Shape;961;p4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43</a:t>
            </a:fld>
            <a:r>
              <a:rPr lang="en-US"/>
              <a:t> / 46</a:t>
            </a:r>
            <a:endParaRPr/>
          </a:p>
        </p:txBody>
      </p:sp>
    </p:spTree>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5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K</a:t>
            </a:r>
            <a:r>
              <a:rPr lang="en-US" cap="small">
                <a:solidFill>
                  <a:srgbClr val="FFFFFF"/>
                </a:solidFill>
              </a:rPr>
              <a:t>ey</a:t>
            </a:r>
            <a:r>
              <a:rPr lang="en-US">
                <a:solidFill>
                  <a:srgbClr val="FFFFFF"/>
                </a:solidFill>
              </a:rPr>
              <a:t> T</a:t>
            </a:r>
            <a:r>
              <a:rPr lang="en-US" cap="small">
                <a:solidFill>
                  <a:srgbClr val="FFFFFF"/>
                </a:solidFill>
              </a:rPr>
              <a:t>akeaways</a:t>
            </a:r>
            <a:endParaRPr/>
          </a:p>
        </p:txBody>
      </p:sp>
      <p:grpSp>
        <p:nvGrpSpPr>
          <p:cNvPr id="967" name="Google Shape;967;p50"/>
          <p:cNvGrpSpPr/>
          <p:nvPr/>
        </p:nvGrpSpPr>
        <p:grpSpPr>
          <a:xfrm>
            <a:off x="0" y="3109250"/>
            <a:ext cx="5760261" cy="92075"/>
            <a:chOff x="0" y="3109250"/>
            <a:chExt cx="5760261" cy="92075"/>
          </a:xfrm>
        </p:grpSpPr>
        <p:sp>
          <p:nvSpPr>
            <p:cNvPr id="968" name="Google Shape;968;p5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9" name="Google Shape;969;p5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70" name="Google Shape;970;p5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71" name="Google Shape;971;p5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72" name="Google Shape;972;p5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973" name="Google Shape;973;p5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44</a:t>
            </a:fld>
            <a:r>
              <a:rPr lang="en-US"/>
              <a:t> / 46</a:t>
            </a:r>
            <a:endParaRPr/>
          </a:p>
        </p:txBody>
      </p:sp>
      <p:pic>
        <p:nvPicPr>
          <p:cNvPr id="974" name="Google Shape;974;p50"/>
          <p:cNvPicPr preferRelativeResize="0"/>
          <p:nvPr/>
        </p:nvPicPr>
        <p:blipFill>
          <a:blip r:embed="rId4">
            <a:alphaModFix/>
          </a:blip>
          <a:stretch>
            <a:fillRect/>
          </a:stretch>
        </p:blipFill>
        <p:spPr>
          <a:xfrm>
            <a:off x="152400" y="550235"/>
            <a:ext cx="5461002" cy="2285195"/>
          </a:xfrm>
          <a:prstGeom prst="rect">
            <a:avLst/>
          </a:prstGeom>
          <a:noFill/>
          <a:ln>
            <a:noFill/>
          </a:ln>
        </p:spPr>
      </p:pic>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5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R</a:t>
            </a:r>
            <a:r>
              <a:rPr lang="en-US" cap="small">
                <a:solidFill>
                  <a:srgbClr val="FFFFFF"/>
                </a:solidFill>
              </a:rPr>
              <a:t>egression</a:t>
            </a:r>
            <a:endParaRPr/>
          </a:p>
        </p:txBody>
      </p:sp>
      <p:grpSp>
        <p:nvGrpSpPr>
          <p:cNvPr id="980" name="Google Shape;980;p51"/>
          <p:cNvGrpSpPr/>
          <p:nvPr/>
        </p:nvGrpSpPr>
        <p:grpSpPr>
          <a:xfrm>
            <a:off x="0" y="3109250"/>
            <a:ext cx="5760261" cy="92075"/>
            <a:chOff x="0" y="3109250"/>
            <a:chExt cx="5760261" cy="92075"/>
          </a:xfrm>
        </p:grpSpPr>
        <p:sp>
          <p:nvSpPr>
            <p:cNvPr id="981" name="Google Shape;981;p5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2" name="Google Shape;982;p5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3" name="Google Shape;983;p5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84" name="Google Shape;984;p5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85" name="Google Shape;985;p5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986" name="Google Shape;986;p5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45</a:t>
            </a:fld>
            <a:r>
              <a:rPr lang="en-US"/>
              <a:t> / 46</a:t>
            </a:r>
            <a:endParaRPr/>
          </a:p>
        </p:txBody>
      </p:sp>
      <p:pic>
        <p:nvPicPr>
          <p:cNvPr id="987" name="Google Shape;987;p51"/>
          <p:cNvPicPr preferRelativeResize="0"/>
          <p:nvPr/>
        </p:nvPicPr>
        <p:blipFill>
          <a:blip r:embed="rId4">
            <a:alphaModFix/>
          </a:blip>
          <a:stretch>
            <a:fillRect/>
          </a:stretch>
        </p:blipFill>
        <p:spPr>
          <a:xfrm>
            <a:off x="152400" y="550235"/>
            <a:ext cx="5210092" cy="2406615"/>
          </a:xfrm>
          <a:prstGeom prst="rect">
            <a:avLst/>
          </a:prstGeom>
          <a:noFill/>
          <a:ln>
            <a:noFill/>
          </a:ln>
        </p:spPr>
      </p:pic>
    </p:spTree>
  </p:cSld>
  <p:clrMapOvr>
    <a:masterClrMapping/>
  </p:clrMapOvr>
  <p:transition>
    <p:fade thruBlk="1"/>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991"/>
        <p:cNvGrpSpPr/>
        <p:nvPr/>
      </p:nvGrpSpPr>
      <p:grpSpPr>
        <a:xfrm>
          <a:off x="0" y="0"/>
          <a:ext cx="0" cy="0"/>
          <a:chOff x="0" y="0"/>
          <a:chExt cx="0" cy="0"/>
        </a:xfrm>
      </p:grpSpPr>
      <p:pic>
        <p:nvPicPr>
          <p:cNvPr id="992" name="Google Shape;992;p52"/>
          <p:cNvPicPr preferRelativeResize="0"/>
          <p:nvPr/>
        </p:nvPicPr>
        <p:blipFill rotWithShape="1">
          <a:blip r:embed="rId3">
            <a:alphaModFix/>
          </a:blip>
          <a:srcRect/>
          <a:stretch/>
        </p:blipFill>
        <p:spPr>
          <a:xfrm>
            <a:off x="0" y="7"/>
            <a:ext cx="5759865" cy="3239902"/>
          </a:xfrm>
          <a:prstGeom prst="rect">
            <a:avLst/>
          </a:prstGeom>
          <a:noFill/>
          <a:ln>
            <a:noFill/>
          </a:ln>
        </p:spPr>
      </p:pic>
      <p:sp>
        <p:nvSpPr>
          <p:cNvPr id="993" name="Google Shape;993;p5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94" name="Google Shape;994;p5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995" name="Google Shape;995;p5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46</a:t>
            </a:fld>
            <a:r>
              <a:rPr lang="en-US"/>
              <a:t> / 46</a:t>
            </a:r>
            <a:endParaRPr/>
          </a:p>
        </p:txBody>
      </p:sp>
      <p:pic>
        <p:nvPicPr>
          <p:cNvPr id="996" name="Google Shape;996;p52"/>
          <p:cNvPicPr preferRelativeResize="0"/>
          <p:nvPr/>
        </p:nvPicPr>
        <p:blipFill>
          <a:blip r:embed="rId5">
            <a:alphaModFix/>
          </a:blip>
          <a:stretch>
            <a:fillRect/>
          </a:stretch>
        </p:blipFill>
        <p:spPr>
          <a:xfrm>
            <a:off x="0" y="39089"/>
            <a:ext cx="5765801" cy="3003960"/>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3078</Words>
  <Application>Microsoft Office PowerPoint</Application>
  <PresentationFormat>Custom</PresentationFormat>
  <Paragraphs>488</Paragraphs>
  <Slides>46</Slides>
  <Notes>46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Cambria</vt:lpstr>
      <vt:lpstr>Verdana</vt:lpstr>
      <vt:lpstr>Tahoma</vt:lpstr>
      <vt:lpstr>Times New Roman</vt:lpstr>
      <vt:lpstr>Calibri</vt:lpstr>
      <vt:lpstr>Lucida Sans</vt:lpstr>
      <vt:lpstr>Arial</vt:lpstr>
      <vt:lpstr>Georgia</vt:lpstr>
      <vt:lpstr>Cambria Math</vt:lpstr>
      <vt:lpstr>Office Theme</vt:lpstr>
      <vt:lpstr>PowerPoint Presentation</vt:lpstr>
      <vt:lpstr>PowerPoint Presentation</vt:lpstr>
      <vt:lpstr>Table of Contents</vt:lpstr>
      <vt:lpstr>What is Regression?</vt:lpstr>
      <vt:lpstr>Examples of Regression Problems</vt:lpstr>
      <vt:lpstr>Table of Contents</vt:lpstr>
      <vt:lpstr>What is Linear Regression?</vt:lpstr>
      <vt:lpstr>Examples of Linear Regression</vt:lpstr>
      <vt:lpstr>PowerPoint Presentation</vt:lpstr>
      <vt:lpstr>Table of Contents</vt:lpstr>
      <vt:lpstr>The Four Components</vt:lpstr>
      <vt:lpstr>Matrix Form of Data</vt:lpstr>
      <vt:lpstr>Linear Model as a Single Neuron</vt:lpstr>
      <vt:lpstr>Linear Model Prediction</vt:lpstr>
      <vt:lpstr>PowerPoint Presentation</vt:lpstr>
      <vt:lpstr>Identity Activation Function</vt:lpstr>
      <vt:lpstr>Objective Function: Squared Error Loss</vt:lpstr>
      <vt:lpstr>Why Squared Error?</vt:lpstr>
      <vt:lpstr>PowerPoint Presentation</vt:lpstr>
      <vt:lpstr>Gradient Descent Algorithm</vt:lpstr>
      <vt:lpstr>Batch Gradient Descent Algorithm</vt:lpstr>
      <vt:lpstr>Computing the Gradient</vt:lpstr>
      <vt:lpstr>Gradient Descent Update Rule</vt:lpstr>
      <vt:lpstr>Visualizing Gradient Descent</vt:lpstr>
      <vt:lpstr>Table of Contents</vt:lpstr>
      <vt:lpstr>Numerical Example: Setup</vt:lpstr>
      <vt:lpstr>Numerical Example: Initialization</vt:lpstr>
      <vt:lpstr>Numerical Example: Computing Gradient</vt:lpstr>
      <vt:lpstr>Numerical Example: Weight Update</vt:lpstr>
      <vt:lpstr>Numerical Example: New Loss</vt:lpstr>
      <vt:lpstr>Computational Graph for One Gradient</vt:lpstr>
      <vt:lpstr>Table of Contents</vt:lpstr>
      <vt:lpstr>Model Evaluation: Training vs Test Error</vt:lpstr>
      <vt:lpstr>Evaluation Metrics</vt:lpstr>
      <vt:lpstr>R2 Score (Coefficient of Determination)</vt:lpstr>
      <vt:lpstr>Table of Contents</vt:lpstr>
      <vt:lpstr>Perceptron Demo Python Code</vt:lpstr>
      <vt:lpstr>Table of Contents</vt:lpstr>
      <vt:lpstr>Tips for Implementation</vt:lpstr>
      <vt:lpstr>More Practical Tips</vt:lpstr>
      <vt:lpstr>Debugging Checklist</vt:lpstr>
      <vt:lpstr>Table of Contents</vt:lpstr>
      <vt:lpstr>Summary: Putting It All Together</vt:lpstr>
      <vt:lpstr>Key Takeaways</vt:lpstr>
      <vt:lpstr>Linear Regression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vishali sivalenka</cp:lastModifiedBy>
  <cp:revision>6</cp:revision>
  <dcterms:modified xsi:type="dcterms:W3CDTF">2025-11-16T05:06:03Z</dcterms:modified>
</cp:coreProperties>
</file>